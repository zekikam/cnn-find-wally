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8" r:id="rId3"/>
    <p:sldId id="259" r:id="rId4"/>
    <p:sldId id="260" r:id="rId5"/>
    <p:sldId id="261" r:id="rId6"/>
    <p:sldId id="262" r:id="rId7"/>
    <p:sldId id="263" r:id="rId8"/>
    <p:sldId id="264"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EB250C5-81D0-4889-C444-4BE9C81DB9D9}">
          <p14:sldIdLst>
            <p14:sldId id="256"/>
          </p14:sldIdLst>
        </p14:section>
        <p14:section name="How the notebook works" id="{5DCF20E8-FD37-CD1B-06BB-C9A2C180C779}">
          <p14:sldIdLst>
            <p14:sldId id="258"/>
            <p14:sldId id="259"/>
            <p14:sldId id="260"/>
            <p14:sldId id="261"/>
            <p14:sldId id="262"/>
            <p14:sldId id="263"/>
          </p14:sldIdLst>
        </p14:section>
        <p14:section name="CNN recap" id="{8A5F2039-521F-FDFF-2BBB-9B863E51FC12}">
          <p14:sldIdLst>
            <p14:sldId id="264"/>
            <p14:sldId id="266"/>
            <p14:sldId id="267"/>
            <p14:sldId id="268"/>
            <p14:sldId id="269"/>
            <p14:sldId id="270"/>
            <p14:sldId id="271"/>
            <p14:sldId id="272"/>
            <p14:sldId id="273"/>
          </p14:sldIdLst>
        </p14:section>
        <p14:section name="What's new today" id="{F7A4CD52-3019-7DB2-779E-5E41E65E9118}">
          <p14:sldIdLst>
            <p14:sldId id="274"/>
            <p14:sldId id="275"/>
            <p14:sldId id="276"/>
            <p14:sldId id="277"/>
            <p14:sldId id="278"/>
          </p14:sldIdLst>
        </p14:section>
        <p14:section name="Before you start" id="{79313A53-751F-FD35-C7CA-D7253A2A93D3}">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1155"/>
    <p:restoredTop sz="94610"/>
  </p:normalViewPr>
  <p:slideViewPr>
    <p:cSldViewPr snapToGrid="0" snapToObjects="1">
      <p:cViewPr>
        <p:scale>
          <a:sx n="84" d="100"/>
          <a:sy n="84" d="100"/>
        </p:scale>
        <p:origin x="1352" y="7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005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Welcome. Last workshop: a CNN that says WHAT is in a picture. Today: WHERE something is. By the end of the notebook your model will look at a busy Where's Wally scene and draw a box around him, trained from scratch in about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seconds] Part 1: the big picture of the notebook.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whole task in one line: a picture goes in, four numbers come out. Those four numbers are the corners of a box. We'll always draw the true box in green and the model's guess in red. This is called object LOCALISATION: we're not asking "is there a Wally?", we're asking "where is he?".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Walk through the 7 steps quickly. Steps 1-2 are about DATA, step 3 is the MODEL, steps 4-5 are TRAINING, steps 6-7 are CHECKING how good it is. Every code cell does one small job and has an explanation above it, plus Think questions to discuss with your neighbour.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This is called SYNTHETIC data. Labelling thousands of real pictures by hand would take days, so we cheat: we paste Wally ourselves and write down where. Three ideas: (1) the alpha (transparency) mask, so only Wally's pixels get pasted; (2) augmentation: every pasted Wally is slightly rotated, brighter/darker, a bit more red/green/blue, so the model learns "Wally" not "these 5 exact images"; (3) the test set: 1000 pictures the model never trains on, so we can check it really learned.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 common trip-up: in images y goes DOWN. A box is (x1, y1, x2, y2): top-left and bottom-right corners. That's the format torchvision's box_iou wants. Inside the model we divide by the image size (256), so the true boxes and the model's predictions are all between 0 and 1. Small numbers make training steadier. To draw a box we multiply back by 256.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PyTorch only understands tensors, which are like NumPy arrays that can live on a GPU. Each picture becomes (3, 256, 256): 3 colour channels first, then height and width, values scaled to 0-1. The DataLoader stacks 32 at a time. Vocabulary: a BATCH is 32 pictures looked at together, one weight update per batch. An EPOCH is one pass through all 1000 training pictures. 10 epochs = 320 updates.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seconds] Part 2: a recap of CNNs, with Wally as the example for everything.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Use the shirt example. White = 1, red = 0 (very simplified!). The filter has 1s on top, 0s in the middle, -1s at the bottom. Put it on the top-left patch: top row 1+1+1 = 3, middle row times 0, bottom row minus (0+0+0). Answer 3. Slide along: the output is big and positive where white is ABOVE red, big and negative where red is above white. So this filter is a detector for "a horizontal stripe edge here". Ask: what would the output be on a plain white wall? (0, because the top and bottom cancel.)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These are real results: I ran the two filters over one of our Wally images. The horizontal filter (1s on top, -1s on the bottom) lights up on the horizontal stripes of his shirt and hat. Turn the filter 90 degrees (1s on the left, -1s on the right) and it lights up on vertical edges instead: the sides of his raised arm and his face. Key point: in our CNN the filters start random and are LEARNED. The first layer usually ends up with edge and colour detectors like these.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Every pixel IS covered as the filter slides, but the output has one number per position where the filter can be CENTRED. Without padding, the filter can't be centred on an edge pixel because it would stick out. So the grid shrinks by 1 on each side, and if Wally is right at the edge he barely gets looked at. padding=1 adds a ring of zeros so the filter can be centred on every real pixel: same size in, same size out. In our notebook only MaxPool changes the size.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One filter finds one pattern. So we use lots of them. Conv2d(3, 16) means: 3 colour channels come in, 16 filters run over them, 16 feature maps come out. These four maps are simplified examples I made, but they're the kind of thing a first layer learns: where is it red, where are horizontal edges, vertical edges, dark bits like hair and glasses. The next layer takes these maps as its input and combines them, e.g. "red AND horizontal edges" = striped shirt. That's why our channels grow 16 → 32 → 64.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ReLU: after each convolution, negatives become zero. It's what lets the network learn curvy, complicated rules instead of straight lines. Max pooling: from every 2x2 square keep only the biggest number. The stripe detector said 9 in the top-left corner, so after pooling we still know "strong stripes, top-left", just less precisely. Each pool halves the size, so later layers see a bigger chunk of the picture: big enough to see a whole Wally.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This is exactly block 1 of our model. Input: a 256x256 picture with 3 colours. 16 filters, each 3x3x3 plus a bias. Output: 16 feature maps, same size thanks to padding. ReLU zeroes the negatives. MaxPool halves it to 128x128x16. Count the weights: 28 per filter, 448 for the whole layer. Walk through one number: a "white above red" filter on Wally's shirt gives 3, the bias shifts it to 2.5, ReLU keeps it, pooling keeps it if it's the strongest nearby. On a plain wall the same filter gives -0.5, which ReLU turns into 0: "nothing here". (Numbers simplified.)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Our model repeats that block 4 times. Each time the grid halves and the number of channels grows. By the end we no longer have a picture: we have a 16x16 map where every square has 64 numbers describing it, like "strong stripes, some hat, no glasses". Each square effectively sees a 46-pixel patch, big enough for a whole Wally. Next question: how do we turn that map into an answer?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conv blocks (the "body") are the same for both jobs. Only the HEAD at the end changes. Classification: "is this Wally, yes or no?", a probability per class, trained with cross-entropy. That was last workshop. Localisation: four numbers for the box, trained with mean squared error. Important: today's notebook does ONLY localisation. It always assumes exactly one Wally is in the picture and always draws one box. A Think question at the end asks what it does with zero or two Wallys. Real detectors like YOLO do both at once.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seconds] Part 3: three ideas you'll meet in the notebook that weren't in the last workshop.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This is the one idea that's genuinely new. Instead of asking the network to output 4 numbers directly, we ask every square of the 16x16 grid the same question: "how Wally-like are you?". Softmax turns that into probabilities that add up to 1: the heatmap. The centre is the weighted average of the square positions. In the example, column 3 has 0.2 and column 4 has 0.8, so x = 0.2 × 0.625 + 0.8 × 0.875 ≈ 0.83. Why a weighted average and not just "pick the biggest"? Picking can't be trained (no gradient); the average moves smoothly. Size comes from the strongest response of each channel. Why bother: the simpler flatten-then-Linear head never learned and always guessed the middle of the picture (IoU 0.03). You can try that yourself in "What's next".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Five lines that every PyTorch training loop has. Guess, measure how wrong with the loss (mean squared error), clear the old gradients (PyTorch adds them up otherwise), backward works out which way to nudge every weight, step nudges them. Learning rate is the size of the nudge. The learning curve from my run: flat for about 4 epochs while it hunts for Wally, then it drops sharply. Train and test stay close together, so it's learning Wally, not memorising the pictures.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loss says "it's improving" but MSE = 0.0002 is hard to picture. IoU asks: how much do the two boxes overlap? Overlap area divided by the total area covered by both. Worked example: a 10x10 box and the same box shifted 5 pixels: overlap 50, total 150, IoU 0.33. So IoU is harsh on small objects like Wally. The rule of thumb: above 0.5 counts as a correct detection. The histogram is from my run on the 1000 test pictures.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These are the numbers from a full run of the notebook. Mean IoU around 0.6 and roughly 4 in 5 Wallys found, after about 2 minutes of training. Your numbers will be close to this because of the seed. In Step 7 you'll also draw the heatmap: the yellow squares are where the model thinks Wally is. Then look at the WORST pictures and discuss why it failed.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Practical tips. GPU on. Run in order. The data generation cell takes about a minute, only run it once. When you get an error, print the shapes. And please actually discuss the Think questions: they're where the learning happens. If you finish early, the last section has experiments to try.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Questions, then start. You have 45 minutes.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6949440" cy="1737360"/>
          </a:xfrm>
          <a:prstGeom prst="rect">
            <a:avLst/>
          </a:prstGeom>
          <a:noFill/>
          <a:ln/>
        </p:spPr>
        <p:txBody>
          <a:bodyPr wrap="square" rtlCol="0"/>
          <a:lstStyle>
            <a:lvl1pPr marL="0" indent="0" algn="l">
              <a:buNone/>
              <a:defRPr lang="en-US" sz="48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800" dirty="0"/>
          </a:p>
        </p:txBody>
      </p:sp>
      <p:sp>
        <p:nvSpPr>
          <p:cNvPr id="3" name="Text 0"/>
          <p:cNvSpPr>
            <a:spLocks noGrp="1"/>
          </p:cNvSpPr>
          <p:nvPr>
            <p:ph type="body" idx="101" hasCustomPrompt="1"/>
          </p:nvPr>
        </p:nvSpPr>
        <p:spPr>
          <a:xfrm>
            <a:off x="731520" y="3886200"/>
            <a:ext cx="6766560" cy="109728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2103120"/>
            <a:ext cx="10698480" cy="548640"/>
          </a:xfrm>
          <a:prstGeom prst="rect">
            <a:avLst/>
          </a:prstGeom>
          <a:noFill/>
          <a:ln/>
        </p:spPr>
        <p:txBody>
          <a:bodyPr wrap="square" rtlCol="0"/>
          <a:lstStyle>
            <a:lvl1pPr marL="0" indent="0" algn="l">
              <a:buNone/>
              <a:defRPr lang="en-US" sz="2000" b="1" dirty="0">
                <a:solidFill>
                  <a:schemeClr val="bg2"/>
                </a:solidFill>
              </a:defRPr>
            </a:lvl1pPr>
          </a:lstStyle>
          <a:p>
            <a:pPr marL="0" indent="0" algn="l">
              <a:buNone/>
            </a:pPr>
            <a:endParaRPr lang="en-US" sz="2000" dirty="0"/>
          </a:p>
        </p:txBody>
      </p:sp>
      <p:sp>
        <p:nvSpPr>
          <p:cNvPr id="3" name="Text 0"/>
          <p:cNvSpPr>
            <a:spLocks noGrp="1"/>
          </p:cNvSpPr>
          <p:nvPr>
            <p:ph type="title" idx="101" hasCustomPrompt="1"/>
          </p:nvPr>
        </p:nvSpPr>
        <p:spPr>
          <a:xfrm>
            <a:off x="731520" y="2651760"/>
            <a:ext cx="10698480" cy="118872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4" name="Text 0"/>
          <p:cNvSpPr>
            <a:spLocks noGrp="1"/>
          </p:cNvSpPr>
          <p:nvPr>
            <p:ph type="body" idx="102" hasCustomPrompt="1"/>
          </p:nvPr>
        </p:nvSpPr>
        <p:spPr>
          <a:xfrm>
            <a:off x="731520" y="3931920"/>
            <a:ext cx="9601200" cy="822960"/>
          </a:xfrm>
          <a:prstGeom prst="rect">
            <a:avLst/>
          </a:prstGeom>
          <a:noFill/>
          <a:ln/>
        </p:spPr>
        <p:txBody>
          <a:bodyPr wrap="square" rtlCol="0"/>
          <a:lstStyle>
            <a:lvl1pPr marL="0" indent="0" algn="l">
              <a:buNone/>
              <a:defRPr lang="en-US" sz="2000" dirty="0">
                <a:solidFill>
                  <a:schemeClr val="bg1"/>
                </a:solidFill>
              </a:defRPr>
            </a:lvl1pPr>
          </a:lstStyle>
          <a:p>
            <a:pPr marL="0" indent="0" algn="l">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3" name="Text 0"/>
          <p:cNvSpPr/>
          <p:nvPr/>
        </p:nvSpPr>
        <p:spPr>
          <a:xfrm>
            <a:off x="548640" y="6400800"/>
            <a:ext cx="5486400" cy="274320"/>
          </a:xfrm>
          <a:prstGeom prst="rect">
            <a:avLst/>
          </a:prstGeom>
          <a:noFill/>
          <a:ln/>
        </p:spPr>
        <p:txBody>
          <a:bodyPr wrap="square" rtlCol="0" anchor="ctr"/>
          <a:lstStyle/>
          <a:p>
            <a:pPr marL="0" indent="0" algn="l">
              <a:buNone/>
            </a:pPr>
            <a:r>
              <a:rPr lang="en-US" sz="1000" dirty="0">
                <a:solidFill>
                  <a:schemeClr val="accent5"/>
                </a:solidFill>
              </a:rPr>
              <a:t>Can you find Wally? · CNN workshop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5.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3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6949440" cy="1737360"/>
          </a:xfrm>
          <a:prstGeom prst="rect">
            <a:avLst/>
          </a:prstGeom>
          <a:noFill/>
          <a:ln/>
        </p:spPr>
        <p:txBody>
          <a:bodyPr wrap="square" rtlCol="0" anchor="b"/>
          <a:lstStyle/>
          <a:p>
            <a:pPr marL="0" indent="0" algn="l">
              <a:buNone/>
            </a:pPr>
            <a:br>
              <a:rPr lang="en-US" sz="4800" b="1" dirty="0">
                <a:solidFill>
                  <a:schemeClr val="bg1"/>
                </a:solidFill>
                <a:latin typeface="Cambria" pitchFamily="34" charset="0"/>
                <a:ea typeface="Cambria" pitchFamily="34" charset="-122"/>
                <a:cs typeface="Cambria" pitchFamily="34" charset="-120"/>
              </a:rPr>
            </a:br>
            <a:r>
              <a:rPr lang="en-US" sz="4800" b="1" dirty="0">
                <a:solidFill>
                  <a:schemeClr val="bg1"/>
                </a:solidFill>
                <a:latin typeface="Cambria" pitchFamily="34" charset="0"/>
                <a:ea typeface="Cambria" pitchFamily="34" charset="-122"/>
                <a:cs typeface="Cambria" pitchFamily="34" charset="-120"/>
              </a:rPr>
              <a:t>Can you find Wally?</a:t>
            </a:r>
            <a:br>
              <a:rPr lang="en-US" sz="4800" b="1" dirty="0">
                <a:solidFill>
                  <a:schemeClr val="bg1"/>
                </a:solidFill>
                <a:latin typeface="Cambria" pitchFamily="34" charset="0"/>
                <a:ea typeface="Cambria" pitchFamily="34" charset="-122"/>
                <a:cs typeface="Cambria" pitchFamily="34" charset="-120"/>
              </a:rPr>
            </a:br>
            <a:r>
              <a:rPr lang="en-US" sz="4800" b="1" dirty="0">
                <a:solidFill>
                  <a:schemeClr val="bg1"/>
                </a:solidFill>
                <a:latin typeface="Cambria" pitchFamily="34" charset="0"/>
                <a:ea typeface="Cambria" pitchFamily="34" charset="-122"/>
                <a:cs typeface="Cambria" pitchFamily="34" charset="-120"/>
              </a:rPr>
              <a:t>Sem 1 Workshop 5</a:t>
            </a:r>
            <a:endParaRPr lang="en-US" sz="4800" dirty="0"/>
          </a:p>
        </p:txBody>
      </p:sp>
      <p:sp>
        <p:nvSpPr>
          <p:cNvPr id="3" name="Text 0"/>
          <p:cNvSpPr>
            <a:spLocks noGrp="1"/>
          </p:cNvSpPr>
          <p:nvPr>
            <p:ph type="body" idx="101" hasCustomPrompt="1"/>
          </p:nvPr>
        </p:nvSpPr>
        <p:spPr>
          <a:xfrm>
            <a:off x="731520" y="3886200"/>
            <a:ext cx="6766560" cy="1097280"/>
          </a:xfrm>
          <a:prstGeom prst="rect">
            <a:avLst/>
          </a:prstGeom>
          <a:noFill/>
          <a:ln/>
        </p:spPr>
        <p:txBody>
          <a:bodyPr wrap="square" rtlCol="0" anchor="t"/>
          <a:lstStyle/>
          <a:p>
            <a:pPr marL="0" indent="0" algn="l">
              <a:buNone/>
            </a:pPr>
            <a:r>
              <a:rPr lang="en-US" sz="2000" dirty="0">
                <a:solidFill>
                  <a:schemeClr val="bg2"/>
                </a:solidFill>
              </a:rPr>
              <a:t>Teaching a CNN to draw a box around him</a:t>
            </a:r>
            <a:endParaRPr lang="en-US" sz="2000" dirty="0"/>
          </a:p>
        </p:txBody>
      </p:sp>
      <p:pic>
        <p:nvPicPr>
          <p:cNvPr id="4" name="image-1" descr="A generated picture with a green box around Wally"/>
          <p:cNvPicPr>
            <a:picLocks noChangeAspect="1"/>
          </p:cNvPicPr>
          <p:nvPr/>
        </p:nvPicPr>
        <p:blipFill>
          <a:blip r:embed="rId3"/>
          <a:stretch>
            <a:fillRect/>
          </a:stretch>
        </p:blipFill>
        <p:spPr>
          <a:xfrm>
            <a:off x="8138160" y="1286643"/>
            <a:ext cx="3474720" cy="3461755"/>
          </a:xfrm>
          <a:prstGeom prst="rect">
            <a:avLst/>
          </a:prstGeom>
        </p:spPr>
      </p:pic>
      <p:sp>
        <p:nvSpPr>
          <p:cNvPr id="5" name="text-2"/>
          <p:cNvSpPr txBox="1"/>
          <p:nvPr/>
        </p:nvSpPr>
        <p:spPr>
          <a:xfrm>
            <a:off x="8138160" y="4892040"/>
            <a:ext cx="3474720" cy="548640"/>
          </a:xfrm>
          <a:prstGeom prst="rect">
            <a:avLst/>
          </a:prstGeom>
          <a:noFill/>
          <a:ln/>
        </p:spPr>
        <p:txBody>
          <a:bodyPr wrap="square" lIns="0" tIns="0" rIns="0" bIns="0" rtlCol="0" anchor="t"/>
          <a:lstStyle/>
          <a:p>
            <a:pPr marL="0" indent="0">
              <a:buNone/>
            </a:pPr>
            <a:r>
              <a:rPr lang="en-US" sz="1200" i="1" dirty="0">
                <a:solidFill>
                  <a:schemeClr val="bg2"/>
                </a:solidFill>
              </a:rPr>
              <a:t>One of our generated training pictures. The green box is where we pasted Wally.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2103120"/>
            <a:ext cx="10698480" cy="548640"/>
          </a:xfrm>
          <a:prstGeom prst="rect">
            <a:avLst/>
          </a:prstGeom>
          <a:noFill/>
          <a:ln/>
        </p:spPr>
        <p:txBody>
          <a:bodyPr wrap="square" rtlCol="0"/>
          <a:lstStyle/>
          <a:p>
            <a:pPr marL="0" indent="0" algn="l">
              <a:buNone/>
            </a:pPr>
            <a:r>
              <a:rPr lang="en-US" sz="2000" b="1" dirty="0">
                <a:solidFill>
                  <a:schemeClr val="bg2"/>
                </a:solidFill>
              </a:rPr>
              <a:t>PART 1</a:t>
            </a:r>
            <a:endParaRPr lang="en-US" sz="2000" dirty="0"/>
          </a:p>
        </p:txBody>
      </p:sp>
      <p:sp>
        <p:nvSpPr>
          <p:cNvPr id="3" name="Text 0"/>
          <p:cNvSpPr>
            <a:spLocks noGrp="1"/>
          </p:cNvSpPr>
          <p:nvPr>
            <p:ph type="title" idx="101" hasCustomPrompt="1"/>
          </p:nvPr>
        </p:nvSpPr>
        <p:spPr>
          <a:xfrm>
            <a:off x="731520" y="2651760"/>
            <a:ext cx="10698480" cy="1188720"/>
          </a:xfrm>
          <a:prstGeom prst="rect">
            <a:avLst/>
          </a:prstGeom>
          <a:noFill/>
          <a:ln/>
        </p:spPr>
        <p:txBody>
          <a:bodyPr wrap="square" rtlCol="0" anchor="t"/>
          <a:lstStyle/>
          <a:p>
            <a:pPr marL="0" indent="0" algn="l">
              <a:buNone/>
            </a:pPr>
            <a:r>
              <a:rPr lang="en-US" sz="4400" dirty="0"/>
              <a:t>A Quick Intr</a:t>
            </a:r>
            <a:r>
              <a:rPr lang="en-US" dirty="0"/>
              <a:t>o to Today’s Activity</a:t>
            </a:r>
            <a:endParaRPr lang="en-US" sz="4400" dirty="0"/>
          </a:p>
        </p:txBody>
      </p:sp>
      <p:sp>
        <p:nvSpPr>
          <p:cNvPr id="4" name="Text 0"/>
          <p:cNvSpPr>
            <a:spLocks noGrp="1"/>
          </p:cNvSpPr>
          <p:nvPr>
            <p:ph type="body" idx="102" hasCustomPrompt="1"/>
          </p:nvPr>
        </p:nvSpPr>
        <p:spPr>
          <a:xfrm>
            <a:off x="731520" y="3931920"/>
            <a:ext cx="9601200" cy="822960"/>
          </a:xfrm>
          <a:prstGeom prst="rect">
            <a:avLst/>
          </a:prstGeom>
          <a:noFill/>
          <a:ln/>
        </p:spPr>
        <p:txBody>
          <a:bodyPr wrap="square" rtlCol="0" anchor="t"/>
          <a:lstStyle/>
          <a:p>
            <a:pPr marL="0" indent="0" algn="l">
              <a:buNone/>
            </a:pPr>
            <a:r>
              <a:rPr lang="en-US" sz="2000" dirty="0">
                <a:solidFill>
                  <a:schemeClr val="bg1"/>
                </a:solidFill>
              </a:rPr>
              <a:t>A quick tour, so you know where each step is going</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The goal: one picture in, one box out</a:t>
            </a:r>
            <a:endParaRPr lang="en-US" sz="3400" dirty="0"/>
          </a:p>
        </p:txBody>
      </p:sp>
      <p:pic>
        <p:nvPicPr>
          <p:cNvPr id="3" name="image-27" descr="A busy Where's Wally background"/>
          <p:cNvPicPr>
            <a:picLocks noChangeAspect="1"/>
          </p:cNvPicPr>
          <p:nvPr/>
        </p:nvPicPr>
        <p:blipFill>
          <a:blip r:embed="rId3"/>
          <a:stretch>
            <a:fillRect/>
          </a:stretch>
        </p:blipFill>
        <p:spPr>
          <a:xfrm>
            <a:off x="548640" y="1743160"/>
            <a:ext cx="3108960" cy="3097359"/>
          </a:xfrm>
          <a:prstGeom prst="rect">
            <a:avLst/>
          </a:prstGeom>
        </p:spPr>
      </p:pic>
      <p:sp>
        <p:nvSpPr>
          <p:cNvPr id="4" name="text-28"/>
          <p:cNvSpPr txBox="1"/>
          <p:nvPr/>
        </p:nvSpPr>
        <p:spPr>
          <a:xfrm>
            <a:off x="548640" y="4983480"/>
            <a:ext cx="3108960" cy="365760"/>
          </a:xfrm>
          <a:prstGeom prst="rect">
            <a:avLst/>
          </a:prstGeom>
          <a:noFill/>
          <a:ln/>
        </p:spPr>
        <p:txBody>
          <a:bodyPr wrap="square" lIns="0" tIns="0" rIns="0" bIns="0" rtlCol="0" anchor="t"/>
          <a:lstStyle/>
          <a:p>
            <a:pPr marL="0" indent="0" algn="ctr">
              <a:buNone/>
            </a:pPr>
            <a:r>
              <a:rPr lang="en-US" sz="1500" dirty="0">
                <a:solidFill>
                  <a:schemeClr val="accent5"/>
                </a:solidFill>
              </a:rPr>
              <a:t>a 256 × 256 picture</a:t>
            </a:r>
            <a:endParaRPr lang="en-US" sz="1500" dirty="0"/>
          </a:p>
        </p:txBody>
      </p:sp>
      <p:sp>
        <p:nvSpPr>
          <p:cNvPr id="5" name="arrow-29"/>
          <p:cNvSpPr/>
          <p:nvPr/>
        </p:nvSpPr>
        <p:spPr>
          <a:xfrm>
            <a:off x="3886200" y="3017520"/>
            <a:ext cx="731520" cy="548640"/>
          </a:xfrm>
          <a:prstGeom prst="rightArrow">
            <a:avLst/>
          </a:prstGeom>
          <a:solidFill>
            <a:schemeClr val="accent5"/>
          </a:solidFill>
          <a:ln w="12700">
            <a:solidFill>
              <a:schemeClr val="accent5"/>
            </a:solidFill>
            <a:prstDash val="solid"/>
          </a:ln>
        </p:spPr>
        <p:txBody>
          <a:bodyPr/>
          <a:lstStyle/>
          <a:p>
            <a:endParaRPr lang="en-GB"/>
          </a:p>
        </p:txBody>
      </p:sp>
      <p:sp>
        <p:nvSpPr>
          <p:cNvPr id="6" name="card-30"/>
          <p:cNvSpPr/>
          <p:nvPr/>
        </p:nvSpPr>
        <p:spPr>
          <a:xfrm>
            <a:off x="4846320" y="2148840"/>
            <a:ext cx="2468880" cy="2286000"/>
          </a:xfrm>
          <a:prstGeom prst="roundRect">
            <a:avLst>
              <a:gd name="adj" fmla="val 4800"/>
            </a:avLst>
          </a:prstGeom>
          <a:solidFill>
            <a:schemeClr val="tx1"/>
          </a:solidFill>
          <a:ln w="12700">
            <a:solidFill>
              <a:schemeClr val="tx1"/>
            </a:solidFill>
            <a:prstDash val="solid"/>
          </a:ln>
        </p:spPr>
        <p:txBody>
          <a:bodyPr/>
          <a:lstStyle/>
          <a:p>
            <a:endParaRPr lang="en-GB"/>
          </a:p>
        </p:txBody>
      </p:sp>
      <p:sp>
        <p:nvSpPr>
          <p:cNvPr id="7" name="icon-circle-31"/>
          <p:cNvSpPr/>
          <p:nvPr/>
        </p:nvSpPr>
        <p:spPr>
          <a:xfrm>
            <a:off x="5669280" y="2377440"/>
            <a:ext cx="822960" cy="822960"/>
          </a:xfrm>
          <a:prstGeom prst="ellipse">
            <a:avLst/>
          </a:prstGeom>
          <a:solidFill>
            <a:schemeClr val="accent1"/>
          </a:solidFill>
          <a:ln w="12700">
            <a:solidFill>
              <a:schemeClr val="accent1"/>
            </a:solidFill>
            <a:prstDash val="solid"/>
          </a:ln>
        </p:spPr>
        <p:txBody>
          <a:bodyPr/>
          <a:lstStyle/>
          <a:p>
            <a:endParaRPr lang="en-GB"/>
          </a:p>
        </p:txBody>
      </p:sp>
      <p:pic>
        <p:nvPicPr>
          <p:cNvPr id="8" name="icon-32" descr="Brain icon"/>
          <p:cNvPicPr>
            <a:picLocks noChangeAspect="1"/>
          </p:cNvPicPr>
          <p:nvPr/>
        </p:nvPicPr>
        <p:blipFill>
          <a:blip r:embed="rId4"/>
          <a:stretch>
            <a:fillRect/>
          </a:stretch>
        </p:blipFill>
        <p:spPr>
          <a:xfrm>
            <a:off x="5891479" y="2599639"/>
            <a:ext cx="378562" cy="378562"/>
          </a:xfrm>
          <a:prstGeom prst="rect">
            <a:avLst/>
          </a:prstGeom>
        </p:spPr>
      </p:pic>
      <p:sp>
        <p:nvSpPr>
          <p:cNvPr id="9" name="text-33"/>
          <p:cNvSpPr txBox="1"/>
          <p:nvPr/>
        </p:nvSpPr>
        <p:spPr>
          <a:xfrm>
            <a:off x="4846320" y="3337560"/>
            <a:ext cx="2468880" cy="822960"/>
          </a:xfrm>
          <a:prstGeom prst="rect">
            <a:avLst/>
          </a:prstGeom>
          <a:noFill/>
          <a:ln/>
        </p:spPr>
        <p:txBody>
          <a:bodyPr wrap="square" lIns="0" tIns="0" rIns="0" bIns="0" rtlCol="0" anchor="t"/>
          <a:lstStyle/>
          <a:p>
            <a:pPr marL="0" indent="0" algn="ctr">
              <a:buNone/>
            </a:pPr>
            <a:r>
              <a:rPr lang="en-US" sz="1800" b="1" dirty="0">
                <a:solidFill>
                  <a:schemeClr val="bg1"/>
                </a:solidFill>
              </a:rPr>
              <a:t>our CNN</a:t>
            </a:r>
            <a:endParaRPr lang="en-US" sz="1800" dirty="0"/>
          </a:p>
          <a:p>
            <a:pPr marL="0" indent="0" algn="ctr">
              <a:buNone/>
            </a:pPr>
            <a:r>
              <a:rPr lang="en-US" sz="1800" b="1" dirty="0">
                <a:solidFill>
                  <a:schemeClr val="bg1"/>
                </a:solidFill>
              </a:rPr>
              <a:t>(WaldoFinder)</a:t>
            </a:r>
            <a:endParaRPr lang="en-US" sz="1800" dirty="0"/>
          </a:p>
        </p:txBody>
      </p:sp>
      <p:sp>
        <p:nvSpPr>
          <p:cNvPr id="10" name="arrow-34"/>
          <p:cNvSpPr/>
          <p:nvPr/>
        </p:nvSpPr>
        <p:spPr>
          <a:xfrm>
            <a:off x="7543800" y="3017520"/>
            <a:ext cx="731520" cy="548640"/>
          </a:xfrm>
          <a:prstGeom prst="rightArrow">
            <a:avLst/>
          </a:prstGeom>
          <a:solidFill>
            <a:schemeClr val="accent5"/>
          </a:solidFill>
          <a:ln w="12700">
            <a:solidFill>
              <a:schemeClr val="accent5"/>
            </a:solidFill>
            <a:prstDash val="solid"/>
          </a:ln>
        </p:spPr>
        <p:txBody>
          <a:bodyPr/>
          <a:lstStyle/>
          <a:p>
            <a:endParaRPr lang="en-GB"/>
          </a:p>
        </p:txBody>
      </p:sp>
      <p:sp>
        <p:nvSpPr>
          <p:cNvPr id="11" name="card-35"/>
          <p:cNvSpPr/>
          <p:nvPr/>
        </p:nvSpPr>
        <p:spPr>
          <a:xfrm>
            <a:off x="8503920" y="1920240"/>
            <a:ext cx="3108960" cy="2743200"/>
          </a:xfrm>
          <a:prstGeom prst="roundRect">
            <a:avLst>
              <a:gd name="adj" fmla="val 4000"/>
            </a:avLst>
          </a:prstGeom>
          <a:solidFill>
            <a:schemeClr val="bg2"/>
          </a:solidFill>
          <a:ln w="12700">
            <a:solidFill>
              <a:schemeClr val="bg2"/>
            </a:solidFill>
            <a:prstDash val="solid"/>
          </a:ln>
        </p:spPr>
        <p:txBody>
          <a:bodyPr/>
          <a:lstStyle/>
          <a:p>
            <a:endParaRPr lang="en-GB"/>
          </a:p>
        </p:txBody>
      </p:sp>
      <p:sp>
        <p:nvSpPr>
          <p:cNvPr id="12" name="text-36"/>
          <p:cNvSpPr txBox="1"/>
          <p:nvPr/>
        </p:nvSpPr>
        <p:spPr>
          <a:xfrm>
            <a:off x="8732520" y="2103120"/>
            <a:ext cx="2651760" cy="457200"/>
          </a:xfrm>
          <a:prstGeom prst="rect">
            <a:avLst/>
          </a:prstGeom>
          <a:noFill/>
          <a:ln/>
        </p:spPr>
        <p:txBody>
          <a:bodyPr wrap="square" lIns="0" tIns="0" rIns="0" bIns="0" rtlCol="0" anchor="t"/>
          <a:lstStyle/>
          <a:p>
            <a:pPr marL="0" indent="0">
              <a:buNone/>
            </a:pPr>
            <a:r>
              <a:rPr lang="en-US" sz="2200" b="1" dirty="0">
                <a:solidFill>
                  <a:schemeClr val="tx1"/>
                </a:solidFill>
                <a:latin typeface="Cambria" pitchFamily="34" charset="0"/>
                <a:ea typeface="Cambria" pitchFamily="34" charset="-122"/>
                <a:cs typeface="Cambria" pitchFamily="34" charset="-120"/>
              </a:rPr>
              <a:t>4 numbers</a:t>
            </a:r>
            <a:endParaRPr lang="en-US" sz="2200" dirty="0"/>
          </a:p>
        </p:txBody>
      </p:sp>
      <p:sp>
        <p:nvSpPr>
          <p:cNvPr id="13" name="text-37"/>
          <p:cNvSpPr txBox="1"/>
          <p:nvPr/>
        </p:nvSpPr>
        <p:spPr>
          <a:xfrm>
            <a:off x="8732520" y="2606040"/>
            <a:ext cx="2651760" cy="457200"/>
          </a:xfrm>
          <a:prstGeom prst="rect">
            <a:avLst/>
          </a:prstGeom>
          <a:noFill/>
          <a:ln/>
        </p:spPr>
        <p:txBody>
          <a:bodyPr wrap="square" lIns="0" tIns="0" rIns="0" bIns="0" rtlCol="0" anchor="t"/>
          <a:lstStyle/>
          <a:p>
            <a:pPr marL="0" indent="0">
              <a:buNone/>
            </a:pPr>
            <a:r>
              <a:rPr lang="en-US" sz="2200" b="1" dirty="0">
                <a:solidFill>
                  <a:schemeClr val="accent1"/>
                </a:solidFill>
              </a:rPr>
              <a:t>(x1, y1, x2, y2)</a:t>
            </a:r>
            <a:endParaRPr lang="en-US" sz="2200" dirty="0"/>
          </a:p>
        </p:txBody>
      </p:sp>
      <p:sp>
        <p:nvSpPr>
          <p:cNvPr id="14" name="text-38"/>
          <p:cNvSpPr txBox="1"/>
          <p:nvPr/>
        </p:nvSpPr>
        <p:spPr>
          <a:xfrm>
            <a:off x="8732520" y="3200400"/>
            <a:ext cx="2651760" cy="1188720"/>
          </a:xfrm>
          <a:prstGeom prst="rect">
            <a:avLst/>
          </a:prstGeom>
          <a:noFill/>
          <a:ln/>
        </p:spPr>
        <p:txBody>
          <a:bodyPr wrap="square" lIns="0" tIns="0" rIns="0" bIns="0" rtlCol="0" anchor="t"/>
          <a:lstStyle/>
          <a:p>
            <a:pPr marL="0" indent="0">
              <a:buNone/>
            </a:pPr>
            <a:r>
              <a:rPr lang="en-US" sz="1600" dirty="0">
                <a:solidFill>
                  <a:schemeClr val="tx1"/>
                </a:solidFill>
              </a:rPr>
              <a:t>the top-left and bottom-right corners of a box around Wally</a:t>
            </a:r>
            <a:endParaRPr lang="en-US" sz="1600" dirty="0"/>
          </a:p>
        </p:txBody>
      </p:sp>
      <p:sp>
        <p:nvSpPr>
          <p:cNvPr id="15" name="text-39"/>
          <p:cNvSpPr txBox="1"/>
          <p:nvPr/>
        </p:nvSpPr>
        <p:spPr>
          <a:xfrm>
            <a:off x="548640" y="5623560"/>
            <a:ext cx="11064240" cy="457200"/>
          </a:xfrm>
          <a:prstGeom prst="rect">
            <a:avLst/>
          </a:prstGeom>
          <a:noFill/>
          <a:ln/>
        </p:spPr>
        <p:txBody>
          <a:bodyPr wrap="square" lIns="0" tIns="0" rIns="0" bIns="0" rtlCol="0" anchor="t"/>
          <a:lstStyle/>
          <a:p>
            <a:pPr marL="0" indent="0">
              <a:buNone/>
            </a:pPr>
            <a:r>
              <a:rPr lang="en-US" sz="1700" i="1" dirty="0">
                <a:solidFill>
                  <a:schemeClr val="tx1"/>
                </a:solidFill>
              </a:rPr>
              <a:t>Green box = where Wally really is. Red box = where the model thinks he is.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The notebook in 7 steps</a:t>
            </a:r>
            <a:endParaRPr lang="en-US" sz="3400" dirty="0"/>
          </a:p>
        </p:txBody>
      </p:sp>
      <p:sp>
        <p:nvSpPr>
          <p:cNvPr id="3" name="card-40"/>
          <p:cNvSpPr/>
          <p:nvPr/>
        </p:nvSpPr>
        <p:spPr>
          <a:xfrm>
            <a:off x="548640" y="1417320"/>
            <a:ext cx="2606040" cy="2194560"/>
          </a:xfrm>
          <a:prstGeom prst="roundRect">
            <a:avLst>
              <a:gd name="adj" fmla="val 5000"/>
            </a:avLst>
          </a:prstGeom>
          <a:solidFill>
            <a:schemeClr val="bg2"/>
          </a:solidFill>
          <a:ln w="12700">
            <a:solidFill>
              <a:schemeClr val="bg2"/>
            </a:solidFill>
            <a:prstDash val="solid"/>
          </a:ln>
        </p:spPr>
        <p:txBody>
          <a:bodyPr/>
          <a:lstStyle/>
          <a:p>
            <a:endParaRPr lang="en-GB"/>
          </a:p>
        </p:txBody>
      </p:sp>
      <p:sp>
        <p:nvSpPr>
          <p:cNvPr id="4" name="icon-circle-41"/>
          <p:cNvSpPr/>
          <p:nvPr/>
        </p:nvSpPr>
        <p:spPr>
          <a:xfrm>
            <a:off x="777240" y="1645920"/>
            <a:ext cx="640080" cy="640080"/>
          </a:xfrm>
          <a:prstGeom prst="ellipse">
            <a:avLst/>
          </a:prstGeom>
          <a:solidFill>
            <a:schemeClr val="accent1"/>
          </a:solidFill>
          <a:ln w="12700">
            <a:solidFill>
              <a:schemeClr val="accent1"/>
            </a:solidFill>
            <a:prstDash val="solid"/>
          </a:ln>
        </p:spPr>
        <p:txBody>
          <a:bodyPr/>
          <a:lstStyle/>
          <a:p>
            <a:endParaRPr lang="en-GB"/>
          </a:p>
        </p:txBody>
      </p:sp>
      <p:pic>
        <p:nvPicPr>
          <p:cNvPr id="5" name="icon-42" descr="PaintBrush icon"/>
          <p:cNvPicPr>
            <a:picLocks noChangeAspect="1"/>
          </p:cNvPicPr>
          <p:nvPr/>
        </p:nvPicPr>
        <p:blipFill>
          <a:blip r:embed="rId3"/>
          <a:stretch>
            <a:fillRect/>
          </a:stretch>
        </p:blipFill>
        <p:spPr>
          <a:xfrm>
            <a:off x="950062" y="1818742"/>
            <a:ext cx="294437" cy="294437"/>
          </a:xfrm>
          <a:prstGeom prst="rect">
            <a:avLst/>
          </a:prstGeom>
        </p:spPr>
      </p:pic>
      <p:sp>
        <p:nvSpPr>
          <p:cNvPr id="6" name="text-43"/>
          <p:cNvSpPr txBox="1"/>
          <p:nvPr/>
        </p:nvSpPr>
        <p:spPr>
          <a:xfrm>
            <a:off x="1554480" y="1783080"/>
            <a:ext cx="1463040" cy="365760"/>
          </a:xfrm>
          <a:prstGeom prst="rect">
            <a:avLst/>
          </a:prstGeom>
          <a:noFill/>
          <a:ln/>
        </p:spPr>
        <p:txBody>
          <a:bodyPr wrap="square" lIns="0" tIns="0" rIns="0" bIns="0" rtlCol="0" anchor="t"/>
          <a:lstStyle/>
          <a:p>
            <a:pPr marL="0" indent="0">
              <a:buNone/>
            </a:pPr>
            <a:r>
              <a:rPr lang="en-US" sz="1500" b="1" dirty="0">
                <a:solidFill>
                  <a:schemeClr val="accent1"/>
                </a:solidFill>
              </a:rPr>
              <a:t>Step 1</a:t>
            </a:r>
            <a:endParaRPr lang="en-US" sz="1500" dirty="0"/>
          </a:p>
        </p:txBody>
      </p:sp>
      <p:sp>
        <p:nvSpPr>
          <p:cNvPr id="7" name="text-44"/>
          <p:cNvSpPr txBox="1"/>
          <p:nvPr/>
        </p:nvSpPr>
        <p:spPr>
          <a:xfrm>
            <a:off x="777240" y="2377440"/>
            <a:ext cx="2194560" cy="411480"/>
          </a:xfrm>
          <a:prstGeom prst="rect">
            <a:avLst/>
          </a:prstGeom>
          <a:noFill/>
          <a:ln/>
        </p:spPr>
        <p:txBody>
          <a:bodyPr wrap="square" lIns="0" tIns="0" rIns="0" bIns="0" rtlCol="0" anchor="t"/>
          <a:lstStyle/>
          <a:p>
            <a:pPr marL="0" indent="0">
              <a:buNone/>
            </a:pPr>
            <a:r>
              <a:rPr lang="en-US" sz="1800" b="1" dirty="0">
                <a:solidFill>
                  <a:schemeClr val="tx1"/>
                </a:solidFill>
              </a:rPr>
              <a:t>Make our own pictures</a:t>
            </a:r>
            <a:endParaRPr lang="en-US" sz="1800" dirty="0"/>
          </a:p>
        </p:txBody>
      </p:sp>
      <p:sp>
        <p:nvSpPr>
          <p:cNvPr id="8" name="text-45"/>
          <p:cNvSpPr txBox="1"/>
          <p:nvPr/>
        </p:nvSpPr>
        <p:spPr>
          <a:xfrm>
            <a:off x="777240" y="2788920"/>
            <a:ext cx="2194560" cy="731520"/>
          </a:xfrm>
          <a:prstGeom prst="rect">
            <a:avLst/>
          </a:prstGeom>
          <a:noFill/>
          <a:ln/>
        </p:spPr>
        <p:txBody>
          <a:bodyPr wrap="square" lIns="0" tIns="0" rIns="0" bIns="0" rtlCol="0" anchor="t"/>
          <a:lstStyle/>
          <a:p>
            <a:pPr marL="0" indent="0">
              <a:buNone/>
            </a:pPr>
            <a:r>
              <a:rPr lang="en-US" sz="1400" dirty="0">
                <a:solidFill>
                  <a:schemeClr val="tx1"/>
                </a:solidFill>
              </a:rPr>
              <a:t>paste Wally on 286 backgrounds, write down the box</a:t>
            </a:r>
            <a:endParaRPr lang="en-US" sz="1400" dirty="0"/>
          </a:p>
        </p:txBody>
      </p:sp>
      <p:sp>
        <p:nvSpPr>
          <p:cNvPr id="9" name="card-46"/>
          <p:cNvSpPr/>
          <p:nvPr/>
        </p:nvSpPr>
        <p:spPr>
          <a:xfrm>
            <a:off x="3364992" y="1417320"/>
            <a:ext cx="2606040" cy="2194560"/>
          </a:xfrm>
          <a:prstGeom prst="roundRect">
            <a:avLst>
              <a:gd name="adj" fmla="val 5000"/>
            </a:avLst>
          </a:prstGeom>
          <a:solidFill>
            <a:schemeClr val="bg2"/>
          </a:solidFill>
          <a:ln w="12700">
            <a:solidFill>
              <a:schemeClr val="bg2"/>
            </a:solidFill>
            <a:prstDash val="solid"/>
          </a:ln>
        </p:spPr>
        <p:txBody>
          <a:bodyPr/>
          <a:lstStyle/>
          <a:p>
            <a:endParaRPr lang="en-GB"/>
          </a:p>
        </p:txBody>
      </p:sp>
      <p:sp>
        <p:nvSpPr>
          <p:cNvPr id="10" name="icon-circle-47"/>
          <p:cNvSpPr/>
          <p:nvPr/>
        </p:nvSpPr>
        <p:spPr>
          <a:xfrm>
            <a:off x="3593592" y="1645920"/>
            <a:ext cx="640080" cy="640080"/>
          </a:xfrm>
          <a:prstGeom prst="ellipse">
            <a:avLst/>
          </a:prstGeom>
          <a:solidFill>
            <a:schemeClr val="accent2"/>
          </a:solidFill>
          <a:ln w="12700">
            <a:solidFill>
              <a:schemeClr val="accent2"/>
            </a:solidFill>
            <a:prstDash val="solid"/>
          </a:ln>
        </p:spPr>
        <p:txBody>
          <a:bodyPr/>
          <a:lstStyle/>
          <a:p>
            <a:endParaRPr lang="en-GB"/>
          </a:p>
        </p:txBody>
      </p:sp>
      <p:pic>
        <p:nvPicPr>
          <p:cNvPr id="11" name="icon-48" descr="Utensils icon"/>
          <p:cNvPicPr>
            <a:picLocks noChangeAspect="1"/>
          </p:cNvPicPr>
          <p:nvPr/>
        </p:nvPicPr>
        <p:blipFill>
          <a:blip r:embed="rId4"/>
          <a:stretch>
            <a:fillRect/>
          </a:stretch>
        </p:blipFill>
        <p:spPr>
          <a:xfrm>
            <a:off x="3766414" y="1818742"/>
            <a:ext cx="294437" cy="294437"/>
          </a:xfrm>
          <a:prstGeom prst="rect">
            <a:avLst/>
          </a:prstGeom>
        </p:spPr>
      </p:pic>
      <p:sp>
        <p:nvSpPr>
          <p:cNvPr id="12" name="text-49"/>
          <p:cNvSpPr txBox="1"/>
          <p:nvPr/>
        </p:nvSpPr>
        <p:spPr>
          <a:xfrm>
            <a:off x="4370832" y="1783080"/>
            <a:ext cx="1463040" cy="365760"/>
          </a:xfrm>
          <a:prstGeom prst="rect">
            <a:avLst/>
          </a:prstGeom>
          <a:noFill/>
          <a:ln/>
        </p:spPr>
        <p:txBody>
          <a:bodyPr wrap="square" lIns="0" tIns="0" rIns="0" bIns="0" rtlCol="0" anchor="t"/>
          <a:lstStyle/>
          <a:p>
            <a:pPr marL="0" indent="0">
              <a:buNone/>
            </a:pPr>
            <a:r>
              <a:rPr lang="en-US" sz="1500" b="1" dirty="0">
                <a:solidFill>
                  <a:schemeClr val="accent2"/>
                </a:solidFill>
              </a:rPr>
              <a:t>Step 2</a:t>
            </a:r>
            <a:endParaRPr lang="en-US" sz="1500" dirty="0"/>
          </a:p>
        </p:txBody>
      </p:sp>
      <p:sp>
        <p:nvSpPr>
          <p:cNvPr id="13" name="text-50"/>
          <p:cNvSpPr txBox="1"/>
          <p:nvPr/>
        </p:nvSpPr>
        <p:spPr>
          <a:xfrm>
            <a:off x="3593592" y="2377440"/>
            <a:ext cx="2194560" cy="411480"/>
          </a:xfrm>
          <a:prstGeom prst="rect">
            <a:avLst/>
          </a:prstGeom>
          <a:noFill/>
          <a:ln/>
        </p:spPr>
        <p:txBody>
          <a:bodyPr wrap="square" lIns="0" tIns="0" rIns="0" bIns="0" rtlCol="0" anchor="t"/>
          <a:lstStyle/>
          <a:p>
            <a:pPr marL="0" indent="0">
              <a:buNone/>
            </a:pPr>
            <a:r>
              <a:rPr lang="en-US" sz="1800" b="1" dirty="0">
                <a:solidFill>
                  <a:schemeClr val="tx1"/>
                </a:solidFill>
              </a:rPr>
              <a:t>Feed them to PyTorch</a:t>
            </a:r>
            <a:endParaRPr lang="en-US" sz="1800" dirty="0"/>
          </a:p>
        </p:txBody>
      </p:sp>
      <p:sp>
        <p:nvSpPr>
          <p:cNvPr id="14" name="text-51"/>
          <p:cNvSpPr txBox="1"/>
          <p:nvPr/>
        </p:nvSpPr>
        <p:spPr>
          <a:xfrm>
            <a:off x="3593592" y="2788920"/>
            <a:ext cx="2194560" cy="731520"/>
          </a:xfrm>
          <a:prstGeom prst="rect">
            <a:avLst/>
          </a:prstGeom>
          <a:noFill/>
          <a:ln/>
        </p:spPr>
        <p:txBody>
          <a:bodyPr wrap="square" lIns="0" tIns="0" rIns="0" bIns="0" rtlCol="0" anchor="t"/>
          <a:lstStyle/>
          <a:p>
            <a:pPr marL="0" indent="0">
              <a:buNone/>
            </a:pPr>
            <a:r>
              <a:rPr lang="en-US" sz="1400" dirty="0">
                <a:solidFill>
                  <a:schemeClr val="tx1"/>
                </a:solidFill>
              </a:rPr>
              <a:t>Dataset + DataLoader serve batches of 32</a:t>
            </a:r>
            <a:endParaRPr lang="en-US" sz="1400" dirty="0"/>
          </a:p>
        </p:txBody>
      </p:sp>
      <p:sp>
        <p:nvSpPr>
          <p:cNvPr id="15" name="card-52"/>
          <p:cNvSpPr/>
          <p:nvPr/>
        </p:nvSpPr>
        <p:spPr>
          <a:xfrm>
            <a:off x="6181344" y="1417320"/>
            <a:ext cx="2606040" cy="2194560"/>
          </a:xfrm>
          <a:prstGeom prst="roundRect">
            <a:avLst>
              <a:gd name="adj" fmla="val 5000"/>
            </a:avLst>
          </a:prstGeom>
          <a:solidFill>
            <a:schemeClr val="bg2"/>
          </a:solidFill>
          <a:ln w="12700">
            <a:solidFill>
              <a:schemeClr val="bg2"/>
            </a:solidFill>
            <a:prstDash val="solid"/>
          </a:ln>
        </p:spPr>
        <p:txBody>
          <a:bodyPr/>
          <a:lstStyle/>
          <a:p>
            <a:endParaRPr lang="en-GB"/>
          </a:p>
        </p:txBody>
      </p:sp>
      <p:sp>
        <p:nvSpPr>
          <p:cNvPr id="16" name="icon-circle-53"/>
          <p:cNvSpPr/>
          <p:nvPr/>
        </p:nvSpPr>
        <p:spPr>
          <a:xfrm>
            <a:off x="6409944" y="1645920"/>
            <a:ext cx="640080" cy="640080"/>
          </a:xfrm>
          <a:prstGeom prst="ellipse">
            <a:avLst/>
          </a:prstGeom>
          <a:solidFill>
            <a:schemeClr val="accent1"/>
          </a:solidFill>
          <a:ln w="12700">
            <a:solidFill>
              <a:schemeClr val="accent1"/>
            </a:solidFill>
            <a:prstDash val="solid"/>
          </a:ln>
        </p:spPr>
        <p:txBody>
          <a:bodyPr/>
          <a:lstStyle/>
          <a:p>
            <a:endParaRPr lang="en-GB"/>
          </a:p>
        </p:txBody>
      </p:sp>
      <p:pic>
        <p:nvPicPr>
          <p:cNvPr id="17" name="icon-54" descr="Brain icon"/>
          <p:cNvPicPr>
            <a:picLocks noChangeAspect="1"/>
          </p:cNvPicPr>
          <p:nvPr/>
        </p:nvPicPr>
        <p:blipFill>
          <a:blip r:embed="rId5"/>
          <a:stretch>
            <a:fillRect/>
          </a:stretch>
        </p:blipFill>
        <p:spPr>
          <a:xfrm>
            <a:off x="6582766" y="1818742"/>
            <a:ext cx="294437" cy="294437"/>
          </a:xfrm>
          <a:prstGeom prst="rect">
            <a:avLst/>
          </a:prstGeom>
        </p:spPr>
      </p:pic>
      <p:sp>
        <p:nvSpPr>
          <p:cNvPr id="18" name="text-55"/>
          <p:cNvSpPr txBox="1"/>
          <p:nvPr/>
        </p:nvSpPr>
        <p:spPr>
          <a:xfrm>
            <a:off x="7187184" y="1783080"/>
            <a:ext cx="1463040" cy="365760"/>
          </a:xfrm>
          <a:prstGeom prst="rect">
            <a:avLst/>
          </a:prstGeom>
          <a:noFill/>
          <a:ln/>
        </p:spPr>
        <p:txBody>
          <a:bodyPr wrap="square" lIns="0" tIns="0" rIns="0" bIns="0" rtlCol="0" anchor="t"/>
          <a:lstStyle/>
          <a:p>
            <a:pPr marL="0" indent="0">
              <a:buNone/>
            </a:pPr>
            <a:r>
              <a:rPr lang="en-US" sz="1500" b="1" dirty="0">
                <a:solidFill>
                  <a:schemeClr val="accent1"/>
                </a:solidFill>
              </a:rPr>
              <a:t>Step 3</a:t>
            </a:r>
            <a:endParaRPr lang="en-US" sz="1500" dirty="0"/>
          </a:p>
        </p:txBody>
      </p:sp>
      <p:sp>
        <p:nvSpPr>
          <p:cNvPr id="19" name="text-56"/>
          <p:cNvSpPr txBox="1"/>
          <p:nvPr/>
        </p:nvSpPr>
        <p:spPr>
          <a:xfrm>
            <a:off x="6409944" y="2377440"/>
            <a:ext cx="2194560" cy="411480"/>
          </a:xfrm>
          <a:prstGeom prst="rect">
            <a:avLst/>
          </a:prstGeom>
          <a:noFill/>
          <a:ln/>
        </p:spPr>
        <p:txBody>
          <a:bodyPr wrap="square" lIns="0" tIns="0" rIns="0" bIns="0" rtlCol="0" anchor="t"/>
          <a:lstStyle/>
          <a:p>
            <a:pPr marL="0" indent="0">
              <a:buNone/>
            </a:pPr>
            <a:r>
              <a:rPr lang="en-US" sz="1800" b="1" dirty="0">
                <a:solidFill>
                  <a:schemeClr val="tx1"/>
                </a:solidFill>
              </a:rPr>
              <a:t>Build the CNN</a:t>
            </a:r>
            <a:endParaRPr lang="en-US" sz="1800" dirty="0"/>
          </a:p>
        </p:txBody>
      </p:sp>
      <p:sp>
        <p:nvSpPr>
          <p:cNvPr id="20" name="text-57"/>
          <p:cNvSpPr txBox="1"/>
          <p:nvPr/>
        </p:nvSpPr>
        <p:spPr>
          <a:xfrm>
            <a:off x="6409944" y="2788920"/>
            <a:ext cx="2194560" cy="731520"/>
          </a:xfrm>
          <a:prstGeom prst="rect">
            <a:avLst/>
          </a:prstGeom>
          <a:noFill/>
          <a:ln/>
        </p:spPr>
        <p:txBody>
          <a:bodyPr wrap="square" lIns="0" tIns="0" rIns="0" bIns="0" rtlCol="0" anchor="t"/>
          <a:lstStyle/>
          <a:p>
            <a:pPr marL="0" indent="0">
              <a:buNone/>
            </a:pPr>
            <a:r>
              <a:rPr lang="en-US" sz="1400" dirty="0">
                <a:solidFill>
                  <a:schemeClr val="tx1"/>
                </a:solidFill>
              </a:rPr>
              <a:t>4 conv blocks + a heatmap head</a:t>
            </a:r>
            <a:endParaRPr lang="en-US" sz="1400" dirty="0"/>
          </a:p>
        </p:txBody>
      </p:sp>
      <p:sp>
        <p:nvSpPr>
          <p:cNvPr id="21" name="card-58"/>
          <p:cNvSpPr/>
          <p:nvPr/>
        </p:nvSpPr>
        <p:spPr>
          <a:xfrm>
            <a:off x="8997696" y="1417320"/>
            <a:ext cx="2606040" cy="2194560"/>
          </a:xfrm>
          <a:prstGeom prst="roundRect">
            <a:avLst>
              <a:gd name="adj" fmla="val 5000"/>
            </a:avLst>
          </a:prstGeom>
          <a:solidFill>
            <a:schemeClr val="bg2"/>
          </a:solidFill>
          <a:ln w="12700">
            <a:solidFill>
              <a:schemeClr val="bg2"/>
            </a:solidFill>
            <a:prstDash val="solid"/>
          </a:ln>
        </p:spPr>
        <p:txBody>
          <a:bodyPr/>
          <a:lstStyle/>
          <a:p>
            <a:endParaRPr lang="en-GB"/>
          </a:p>
        </p:txBody>
      </p:sp>
      <p:sp>
        <p:nvSpPr>
          <p:cNvPr id="22" name="icon-circle-59"/>
          <p:cNvSpPr/>
          <p:nvPr/>
        </p:nvSpPr>
        <p:spPr>
          <a:xfrm>
            <a:off x="9226296" y="1645920"/>
            <a:ext cx="640080" cy="640080"/>
          </a:xfrm>
          <a:prstGeom prst="ellipse">
            <a:avLst/>
          </a:prstGeom>
          <a:solidFill>
            <a:schemeClr val="accent2"/>
          </a:solidFill>
          <a:ln w="12700">
            <a:solidFill>
              <a:schemeClr val="accent2"/>
            </a:solidFill>
            <a:prstDash val="solid"/>
          </a:ln>
        </p:spPr>
        <p:txBody>
          <a:bodyPr/>
          <a:lstStyle/>
          <a:p>
            <a:endParaRPr lang="en-GB"/>
          </a:p>
        </p:txBody>
      </p:sp>
      <p:pic>
        <p:nvPicPr>
          <p:cNvPr id="23" name="icon-60" descr="RulerCombined icon"/>
          <p:cNvPicPr>
            <a:picLocks noChangeAspect="1"/>
          </p:cNvPicPr>
          <p:nvPr/>
        </p:nvPicPr>
        <p:blipFill>
          <a:blip r:embed="rId6"/>
          <a:stretch>
            <a:fillRect/>
          </a:stretch>
        </p:blipFill>
        <p:spPr>
          <a:xfrm>
            <a:off x="9399118" y="1818742"/>
            <a:ext cx="294437" cy="294437"/>
          </a:xfrm>
          <a:prstGeom prst="rect">
            <a:avLst/>
          </a:prstGeom>
        </p:spPr>
      </p:pic>
      <p:sp>
        <p:nvSpPr>
          <p:cNvPr id="24" name="text-61"/>
          <p:cNvSpPr txBox="1"/>
          <p:nvPr/>
        </p:nvSpPr>
        <p:spPr>
          <a:xfrm>
            <a:off x="10003536" y="1783080"/>
            <a:ext cx="1463040" cy="365760"/>
          </a:xfrm>
          <a:prstGeom prst="rect">
            <a:avLst/>
          </a:prstGeom>
          <a:noFill/>
          <a:ln/>
        </p:spPr>
        <p:txBody>
          <a:bodyPr wrap="square" lIns="0" tIns="0" rIns="0" bIns="0" rtlCol="0" anchor="t"/>
          <a:lstStyle/>
          <a:p>
            <a:pPr marL="0" indent="0">
              <a:buNone/>
            </a:pPr>
            <a:r>
              <a:rPr lang="en-US" sz="1500" b="1" dirty="0">
                <a:solidFill>
                  <a:schemeClr val="accent2"/>
                </a:solidFill>
              </a:rPr>
              <a:t>Step 4</a:t>
            </a:r>
            <a:endParaRPr lang="en-US" sz="1500" dirty="0"/>
          </a:p>
        </p:txBody>
      </p:sp>
      <p:sp>
        <p:nvSpPr>
          <p:cNvPr id="25" name="text-62"/>
          <p:cNvSpPr txBox="1"/>
          <p:nvPr/>
        </p:nvSpPr>
        <p:spPr>
          <a:xfrm>
            <a:off x="9226296" y="2377440"/>
            <a:ext cx="2194560" cy="411480"/>
          </a:xfrm>
          <a:prstGeom prst="rect">
            <a:avLst/>
          </a:prstGeom>
          <a:noFill/>
          <a:ln/>
        </p:spPr>
        <p:txBody>
          <a:bodyPr wrap="square" lIns="0" tIns="0" rIns="0" bIns="0" rtlCol="0" anchor="t"/>
          <a:lstStyle/>
          <a:p>
            <a:pPr marL="0" indent="0">
              <a:buNone/>
            </a:pPr>
            <a:r>
              <a:rPr lang="en-US" sz="1800" b="1" dirty="0">
                <a:solidFill>
                  <a:schemeClr val="tx1"/>
                </a:solidFill>
              </a:rPr>
              <a:t>Loss + optimiser</a:t>
            </a:r>
            <a:endParaRPr lang="en-US" sz="1800" dirty="0"/>
          </a:p>
        </p:txBody>
      </p:sp>
      <p:sp>
        <p:nvSpPr>
          <p:cNvPr id="26" name="text-63"/>
          <p:cNvSpPr txBox="1"/>
          <p:nvPr/>
        </p:nvSpPr>
        <p:spPr>
          <a:xfrm>
            <a:off x="9226296" y="2788920"/>
            <a:ext cx="2194560" cy="731520"/>
          </a:xfrm>
          <a:prstGeom prst="rect">
            <a:avLst/>
          </a:prstGeom>
          <a:noFill/>
          <a:ln/>
        </p:spPr>
        <p:txBody>
          <a:bodyPr wrap="square" lIns="0" tIns="0" rIns="0" bIns="0" rtlCol="0" anchor="t"/>
          <a:lstStyle/>
          <a:p>
            <a:pPr marL="0" indent="0">
              <a:buNone/>
            </a:pPr>
            <a:r>
              <a:rPr lang="en-US" sz="1400" dirty="0">
                <a:solidFill>
                  <a:schemeClr val="tx1"/>
                </a:solidFill>
              </a:rPr>
              <a:t>MSE says how wrong, Adam fixes it</a:t>
            </a:r>
            <a:endParaRPr lang="en-US" sz="1400" dirty="0"/>
          </a:p>
        </p:txBody>
      </p:sp>
      <p:sp>
        <p:nvSpPr>
          <p:cNvPr id="27" name="card-64"/>
          <p:cNvSpPr/>
          <p:nvPr/>
        </p:nvSpPr>
        <p:spPr>
          <a:xfrm>
            <a:off x="1956816" y="3886200"/>
            <a:ext cx="2606040" cy="2194560"/>
          </a:xfrm>
          <a:prstGeom prst="roundRect">
            <a:avLst>
              <a:gd name="adj" fmla="val 5000"/>
            </a:avLst>
          </a:prstGeom>
          <a:solidFill>
            <a:schemeClr val="bg2"/>
          </a:solidFill>
          <a:ln w="12700">
            <a:solidFill>
              <a:schemeClr val="bg2"/>
            </a:solidFill>
            <a:prstDash val="solid"/>
          </a:ln>
        </p:spPr>
        <p:txBody>
          <a:bodyPr/>
          <a:lstStyle/>
          <a:p>
            <a:endParaRPr lang="en-GB"/>
          </a:p>
        </p:txBody>
      </p:sp>
      <p:sp>
        <p:nvSpPr>
          <p:cNvPr id="28" name="icon-circle-65"/>
          <p:cNvSpPr/>
          <p:nvPr/>
        </p:nvSpPr>
        <p:spPr>
          <a:xfrm>
            <a:off x="2185416" y="4114800"/>
            <a:ext cx="640080" cy="640080"/>
          </a:xfrm>
          <a:prstGeom prst="ellipse">
            <a:avLst/>
          </a:prstGeom>
          <a:solidFill>
            <a:schemeClr val="accent1"/>
          </a:solidFill>
          <a:ln w="12700">
            <a:solidFill>
              <a:schemeClr val="accent1"/>
            </a:solidFill>
            <a:prstDash val="solid"/>
          </a:ln>
        </p:spPr>
        <p:txBody>
          <a:bodyPr/>
          <a:lstStyle/>
          <a:p>
            <a:endParaRPr lang="en-GB"/>
          </a:p>
        </p:txBody>
      </p:sp>
      <p:pic>
        <p:nvPicPr>
          <p:cNvPr id="29" name="icon-66" descr="Redo icon"/>
          <p:cNvPicPr>
            <a:picLocks noChangeAspect="1"/>
          </p:cNvPicPr>
          <p:nvPr/>
        </p:nvPicPr>
        <p:blipFill>
          <a:blip r:embed="rId7"/>
          <a:stretch>
            <a:fillRect/>
          </a:stretch>
        </p:blipFill>
        <p:spPr>
          <a:xfrm>
            <a:off x="2358238" y="4287622"/>
            <a:ext cx="294437" cy="294437"/>
          </a:xfrm>
          <a:prstGeom prst="rect">
            <a:avLst/>
          </a:prstGeom>
        </p:spPr>
      </p:pic>
      <p:sp>
        <p:nvSpPr>
          <p:cNvPr id="30" name="text-67"/>
          <p:cNvSpPr txBox="1"/>
          <p:nvPr/>
        </p:nvSpPr>
        <p:spPr>
          <a:xfrm>
            <a:off x="2962656" y="4251960"/>
            <a:ext cx="1463040" cy="365760"/>
          </a:xfrm>
          <a:prstGeom prst="rect">
            <a:avLst/>
          </a:prstGeom>
          <a:noFill/>
          <a:ln/>
        </p:spPr>
        <p:txBody>
          <a:bodyPr wrap="square" lIns="0" tIns="0" rIns="0" bIns="0" rtlCol="0" anchor="t"/>
          <a:lstStyle/>
          <a:p>
            <a:pPr marL="0" indent="0">
              <a:buNone/>
            </a:pPr>
            <a:r>
              <a:rPr lang="en-US" sz="1500" b="1" dirty="0">
                <a:solidFill>
                  <a:schemeClr val="accent1"/>
                </a:solidFill>
              </a:rPr>
              <a:t>Step 5</a:t>
            </a:r>
            <a:endParaRPr lang="en-US" sz="1500" dirty="0"/>
          </a:p>
        </p:txBody>
      </p:sp>
      <p:sp>
        <p:nvSpPr>
          <p:cNvPr id="31" name="text-68"/>
          <p:cNvSpPr txBox="1"/>
          <p:nvPr/>
        </p:nvSpPr>
        <p:spPr>
          <a:xfrm>
            <a:off x="2185416" y="4846320"/>
            <a:ext cx="2194560" cy="411480"/>
          </a:xfrm>
          <a:prstGeom prst="rect">
            <a:avLst/>
          </a:prstGeom>
          <a:noFill/>
          <a:ln/>
        </p:spPr>
        <p:txBody>
          <a:bodyPr wrap="square" lIns="0" tIns="0" rIns="0" bIns="0" rtlCol="0" anchor="t"/>
          <a:lstStyle/>
          <a:p>
            <a:pPr marL="0" indent="0">
              <a:buNone/>
            </a:pPr>
            <a:r>
              <a:rPr lang="en-US" sz="1800" b="1" dirty="0">
                <a:solidFill>
                  <a:schemeClr val="tx1"/>
                </a:solidFill>
              </a:rPr>
              <a:t>Train</a:t>
            </a:r>
            <a:endParaRPr lang="en-US" sz="1800" dirty="0"/>
          </a:p>
        </p:txBody>
      </p:sp>
      <p:sp>
        <p:nvSpPr>
          <p:cNvPr id="32" name="text-69"/>
          <p:cNvSpPr txBox="1"/>
          <p:nvPr/>
        </p:nvSpPr>
        <p:spPr>
          <a:xfrm>
            <a:off x="2185416" y="5257800"/>
            <a:ext cx="2194560" cy="731520"/>
          </a:xfrm>
          <a:prstGeom prst="rect">
            <a:avLst/>
          </a:prstGeom>
          <a:noFill/>
          <a:ln/>
        </p:spPr>
        <p:txBody>
          <a:bodyPr wrap="square" lIns="0" tIns="0" rIns="0" bIns="0" rtlCol="0" anchor="t"/>
          <a:lstStyle/>
          <a:p>
            <a:pPr marL="0" indent="0">
              <a:buNone/>
            </a:pPr>
            <a:r>
              <a:rPr lang="en-US" sz="1400" dirty="0">
                <a:solidFill>
                  <a:schemeClr val="tx1"/>
                </a:solidFill>
              </a:rPr>
              <a:t>10 epochs × 32 batches, about 2 min on GPU</a:t>
            </a:r>
            <a:endParaRPr lang="en-US" sz="1400" dirty="0"/>
          </a:p>
        </p:txBody>
      </p:sp>
      <p:sp>
        <p:nvSpPr>
          <p:cNvPr id="33" name="card-70"/>
          <p:cNvSpPr/>
          <p:nvPr/>
        </p:nvSpPr>
        <p:spPr>
          <a:xfrm>
            <a:off x="4773168" y="3886200"/>
            <a:ext cx="2606040" cy="2194560"/>
          </a:xfrm>
          <a:prstGeom prst="roundRect">
            <a:avLst>
              <a:gd name="adj" fmla="val 5000"/>
            </a:avLst>
          </a:prstGeom>
          <a:solidFill>
            <a:schemeClr val="bg2"/>
          </a:solidFill>
          <a:ln w="12700">
            <a:solidFill>
              <a:schemeClr val="bg2"/>
            </a:solidFill>
            <a:prstDash val="solid"/>
          </a:ln>
        </p:spPr>
        <p:txBody>
          <a:bodyPr/>
          <a:lstStyle/>
          <a:p>
            <a:endParaRPr lang="en-GB"/>
          </a:p>
        </p:txBody>
      </p:sp>
      <p:sp>
        <p:nvSpPr>
          <p:cNvPr id="34" name="icon-circle-71"/>
          <p:cNvSpPr/>
          <p:nvPr/>
        </p:nvSpPr>
        <p:spPr>
          <a:xfrm>
            <a:off x="5001768" y="4114800"/>
            <a:ext cx="640080" cy="640080"/>
          </a:xfrm>
          <a:prstGeom prst="ellipse">
            <a:avLst/>
          </a:prstGeom>
          <a:solidFill>
            <a:schemeClr val="accent2"/>
          </a:solidFill>
          <a:ln w="12700">
            <a:solidFill>
              <a:schemeClr val="accent2"/>
            </a:solidFill>
            <a:prstDash val="solid"/>
          </a:ln>
        </p:spPr>
        <p:txBody>
          <a:bodyPr/>
          <a:lstStyle/>
          <a:p>
            <a:endParaRPr lang="en-GB"/>
          </a:p>
        </p:txBody>
      </p:sp>
      <p:pic>
        <p:nvPicPr>
          <p:cNvPr id="35" name="icon-72" descr="Bullseye icon"/>
          <p:cNvPicPr>
            <a:picLocks noChangeAspect="1"/>
          </p:cNvPicPr>
          <p:nvPr/>
        </p:nvPicPr>
        <p:blipFill>
          <a:blip r:embed="rId8"/>
          <a:stretch>
            <a:fillRect/>
          </a:stretch>
        </p:blipFill>
        <p:spPr>
          <a:xfrm>
            <a:off x="5174590" y="4287622"/>
            <a:ext cx="294437" cy="294437"/>
          </a:xfrm>
          <a:prstGeom prst="rect">
            <a:avLst/>
          </a:prstGeom>
        </p:spPr>
      </p:pic>
      <p:sp>
        <p:nvSpPr>
          <p:cNvPr id="36" name="text-73"/>
          <p:cNvSpPr txBox="1"/>
          <p:nvPr/>
        </p:nvSpPr>
        <p:spPr>
          <a:xfrm>
            <a:off x="5779008" y="4251960"/>
            <a:ext cx="1463040" cy="365760"/>
          </a:xfrm>
          <a:prstGeom prst="rect">
            <a:avLst/>
          </a:prstGeom>
          <a:noFill/>
          <a:ln/>
        </p:spPr>
        <p:txBody>
          <a:bodyPr wrap="square" lIns="0" tIns="0" rIns="0" bIns="0" rtlCol="0" anchor="t"/>
          <a:lstStyle/>
          <a:p>
            <a:pPr marL="0" indent="0">
              <a:buNone/>
            </a:pPr>
            <a:r>
              <a:rPr lang="en-US" sz="1500" b="1" dirty="0">
                <a:solidFill>
                  <a:schemeClr val="accent2"/>
                </a:solidFill>
              </a:rPr>
              <a:t>Step 6</a:t>
            </a:r>
            <a:endParaRPr lang="en-US" sz="1500" dirty="0"/>
          </a:p>
        </p:txBody>
      </p:sp>
      <p:sp>
        <p:nvSpPr>
          <p:cNvPr id="37" name="text-74"/>
          <p:cNvSpPr txBox="1"/>
          <p:nvPr/>
        </p:nvSpPr>
        <p:spPr>
          <a:xfrm>
            <a:off x="5001768" y="4846320"/>
            <a:ext cx="2194560" cy="411480"/>
          </a:xfrm>
          <a:prstGeom prst="rect">
            <a:avLst/>
          </a:prstGeom>
          <a:noFill/>
          <a:ln/>
        </p:spPr>
        <p:txBody>
          <a:bodyPr wrap="square" lIns="0" tIns="0" rIns="0" bIns="0" rtlCol="0" anchor="t"/>
          <a:lstStyle/>
          <a:p>
            <a:pPr marL="0" indent="0">
              <a:buNone/>
            </a:pPr>
            <a:r>
              <a:rPr lang="en-US" sz="1800" b="1" dirty="0">
                <a:solidFill>
                  <a:schemeClr val="tx1"/>
                </a:solidFill>
              </a:rPr>
              <a:t>Score the boxes</a:t>
            </a:r>
            <a:endParaRPr lang="en-US" sz="1800" dirty="0"/>
          </a:p>
        </p:txBody>
      </p:sp>
      <p:sp>
        <p:nvSpPr>
          <p:cNvPr id="38" name="text-75"/>
          <p:cNvSpPr txBox="1"/>
          <p:nvPr/>
        </p:nvSpPr>
        <p:spPr>
          <a:xfrm>
            <a:off x="5001768" y="5257800"/>
            <a:ext cx="2194560" cy="731520"/>
          </a:xfrm>
          <a:prstGeom prst="rect">
            <a:avLst/>
          </a:prstGeom>
          <a:noFill/>
          <a:ln/>
        </p:spPr>
        <p:txBody>
          <a:bodyPr wrap="square" lIns="0" tIns="0" rIns="0" bIns="0" rtlCol="0" anchor="t"/>
          <a:lstStyle/>
          <a:p>
            <a:pPr marL="0" indent="0">
              <a:buNone/>
            </a:pPr>
            <a:r>
              <a:rPr lang="en-US" sz="1400" dirty="0">
                <a:solidFill>
                  <a:schemeClr val="tx1"/>
                </a:solidFill>
              </a:rPr>
              <a:t>IoU: how much the boxes overlap</a:t>
            </a:r>
            <a:endParaRPr lang="en-US" sz="1400" dirty="0"/>
          </a:p>
        </p:txBody>
      </p:sp>
      <p:sp>
        <p:nvSpPr>
          <p:cNvPr id="39" name="card-76"/>
          <p:cNvSpPr/>
          <p:nvPr/>
        </p:nvSpPr>
        <p:spPr>
          <a:xfrm>
            <a:off x="7589520" y="3886200"/>
            <a:ext cx="2606040" cy="2194560"/>
          </a:xfrm>
          <a:prstGeom prst="roundRect">
            <a:avLst>
              <a:gd name="adj" fmla="val 5000"/>
            </a:avLst>
          </a:prstGeom>
          <a:solidFill>
            <a:schemeClr val="bg2"/>
          </a:solidFill>
          <a:ln w="12700">
            <a:solidFill>
              <a:schemeClr val="bg2"/>
            </a:solidFill>
            <a:prstDash val="solid"/>
          </a:ln>
        </p:spPr>
        <p:txBody>
          <a:bodyPr/>
          <a:lstStyle/>
          <a:p>
            <a:endParaRPr lang="en-GB"/>
          </a:p>
        </p:txBody>
      </p:sp>
      <p:sp>
        <p:nvSpPr>
          <p:cNvPr id="40" name="icon-circle-77"/>
          <p:cNvSpPr/>
          <p:nvPr/>
        </p:nvSpPr>
        <p:spPr>
          <a:xfrm>
            <a:off x="7818120" y="4114800"/>
            <a:ext cx="640080" cy="640080"/>
          </a:xfrm>
          <a:prstGeom prst="ellipse">
            <a:avLst/>
          </a:prstGeom>
          <a:solidFill>
            <a:schemeClr val="accent3"/>
          </a:solidFill>
          <a:ln w="12700">
            <a:solidFill>
              <a:schemeClr val="accent3"/>
            </a:solidFill>
            <a:prstDash val="solid"/>
          </a:ln>
        </p:spPr>
        <p:txBody>
          <a:bodyPr/>
          <a:lstStyle/>
          <a:p>
            <a:endParaRPr lang="en-GB"/>
          </a:p>
        </p:txBody>
      </p:sp>
      <p:pic>
        <p:nvPicPr>
          <p:cNvPr id="41" name="icon-78" descr="Eye icon"/>
          <p:cNvPicPr>
            <a:picLocks noChangeAspect="1"/>
          </p:cNvPicPr>
          <p:nvPr/>
        </p:nvPicPr>
        <p:blipFill>
          <a:blip r:embed="rId9"/>
          <a:stretch>
            <a:fillRect/>
          </a:stretch>
        </p:blipFill>
        <p:spPr>
          <a:xfrm>
            <a:off x="7990942" y="4287622"/>
            <a:ext cx="294437" cy="294437"/>
          </a:xfrm>
          <a:prstGeom prst="rect">
            <a:avLst/>
          </a:prstGeom>
        </p:spPr>
      </p:pic>
      <p:sp>
        <p:nvSpPr>
          <p:cNvPr id="42" name="text-79"/>
          <p:cNvSpPr txBox="1"/>
          <p:nvPr/>
        </p:nvSpPr>
        <p:spPr>
          <a:xfrm>
            <a:off x="8595360" y="4251960"/>
            <a:ext cx="1463040" cy="365760"/>
          </a:xfrm>
          <a:prstGeom prst="rect">
            <a:avLst/>
          </a:prstGeom>
          <a:noFill/>
          <a:ln/>
        </p:spPr>
        <p:txBody>
          <a:bodyPr wrap="square" lIns="0" tIns="0" rIns="0" bIns="0" rtlCol="0" anchor="t"/>
          <a:lstStyle/>
          <a:p>
            <a:pPr marL="0" indent="0">
              <a:buNone/>
            </a:pPr>
            <a:r>
              <a:rPr lang="en-US" sz="1500" b="1" dirty="0">
                <a:solidFill>
                  <a:schemeClr val="accent3"/>
                </a:solidFill>
              </a:rPr>
              <a:t>Step 7</a:t>
            </a:r>
            <a:endParaRPr lang="en-US" sz="1500" dirty="0"/>
          </a:p>
        </p:txBody>
      </p:sp>
      <p:sp>
        <p:nvSpPr>
          <p:cNvPr id="43" name="text-80"/>
          <p:cNvSpPr txBox="1"/>
          <p:nvPr/>
        </p:nvSpPr>
        <p:spPr>
          <a:xfrm>
            <a:off x="7818120" y="4846320"/>
            <a:ext cx="2194560" cy="411480"/>
          </a:xfrm>
          <a:prstGeom prst="rect">
            <a:avLst/>
          </a:prstGeom>
          <a:noFill/>
          <a:ln/>
        </p:spPr>
        <p:txBody>
          <a:bodyPr wrap="square" lIns="0" tIns="0" rIns="0" bIns="0" rtlCol="0" anchor="t"/>
          <a:lstStyle/>
          <a:p>
            <a:pPr marL="0" indent="0">
              <a:buNone/>
            </a:pPr>
            <a:r>
              <a:rPr lang="en-US" sz="1800" b="1" dirty="0">
                <a:solidFill>
                  <a:schemeClr val="tx1"/>
                </a:solidFill>
              </a:rPr>
              <a:t>Test on new pictures</a:t>
            </a:r>
            <a:endParaRPr lang="en-US" sz="1800" dirty="0"/>
          </a:p>
        </p:txBody>
      </p:sp>
      <p:sp>
        <p:nvSpPr>
          <p:cNvPr id="44" name="text-81"/>
          <p:cNvSpPr txBox="1"/>
          <p:nvPr/>
        </p:nvSpPr>
        <p:spPr>
          <a:xfrm>
            <a:off x="7818120" y="5257800"/>
            <a:ext cx="2194560" cy="731520"/>
          </a:xfrm>
          <a:prstGeom prst="rect">
            <a:avLst/>
          </a:prstGeom>
          <a:noFill/>
          <a:ln/>
        </p:spPr>
        <p:txBody>
          <a:bodyPr wrap="square" lIns="0" tIns="0" rIns="0" bIns="0" rtlCol="0" anchor="t"/>
          <a:lstStyle/>
          <a:p>
            <a:pPr marL="0" indent="0">
              <a:buNone/>
            </a:pPr>
            <a:r>
              <a:rPr lang="en-US" sz="1400" dirty="0">
                <a:solidFill>
                  <a:schemeClr val="tx1"/>
                </a:solidFill>
              </a:rPr>
              <a:t>green vs red boxes, heatmaps, worst cases</a:t>
            </a:r>
            <a:endParaRPr lang="en-US" sz="1400" dirty="0"/>
          </a:p>
        </p:txBody>
      </p:sp>
      <p:sp>
        <p:nvSpPr>
          <p:cNvPr id="4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Step 1: we make our own training pictures</a:t>
            </a:r>
            <a:endParaRPr lang="en-US" sz="3400" dirty="0"/>
          </a:p>
        </p:txBody>
      </p:sp>
      <p:pic>
        <p:nvPicPr>
          <p:cNvPr id="3" name="image-82" descr="Background 1"/>
          <p:cNvPicPr>
            <a:picLocks noChangeAspect="1"/>
          </p:cNvPicPr>
          <p:nvPr/>
        </p:nvPicPr>
        <p:blipFill>
          <a:blip r:embed="rId3"/>
          <a:stretch>
            <a:fillRect/>
          </a:stretch>
        </p:blipFill>
        <p:spPr>
          <a:xfrm>
            <a:off x="548640" y="1374756"/>
            <a:ext cx="1691640" cy="1685328"/>
          </a:xfrm>
          <a:prstGeom prst="rect">
            <a:avLst/>
          </a:prstGeom>
        </p:spPr>
      </p:pic>
      <p:pic>
        <p:nvPicPr>
          <p:cNvPr id="4" name="image-83" descr="Background 2"/>
          <p:cNvPicPr>
            <a:picLocks noChangeAspect="1"/>
          </p:cNvPicPr>
          <p:nvPr/>
        </p:nvPicPr>
        <p:blipFill>
          <a:blip r:embed="rId4"/>
          <a:stretch>
            <a:fillRect/>
          </a:stretch>
        </p:blipFill>
        <p:spPr>
          <a:xfrm>
            <a:off x="2331720" y="1374756"/>
            <a:ext cx="1691640" cy="1685328"/>
          </a:xfrm>
          <a:prstGeom prst="rect">
            <a:avLst/>
          </a:prstGeom>
        </p:spPr>
      </p:pic>
      <p:pic>
        <p:nvPicPr>
          <p:cNvPr id="5" name="image-84" descr="Background 3"/>
          <p:cNvPicPr>
            <a:picLocks noChangeAspect="1"/>
          </p:cNvPicPr>
          <p:nvPr/>
        </p:nvPicPr>
        <p:blipFill>
          <a:blip r:embed="rId5"/>
          <a:stretch>
            <a:fillRect/>
          </a:stretch>
        </p:blipFill>
        <p:spPr>
          <a:xfrm>
            <a:off x="4114800" y="1374756"/>
            <a:ext cx="1691640" cy="1685328"/>
          </a:xfrm>
          <a:prstGeom prst="rect">
            <a:avLst/>
          </a:prstGeom>
        </p:spPr>
      </p:pic>
      <p:sp>
        <p:nvSpPr>
          <p:cNvPr id="6" name="text-85"/>
          <p:cNvSpPr txBox="1"/>
          <p:nvPr/>
        </p:nvSpPr>
        <p:spPr>
          <a:xfrm>
            <a:off x="548640" y="3108960"/>
            <a:ext cx="5257800" cy="320040"/>
          </a:xfrm>
          <a:prstGeom prst="rect">
            <a:avLst/>
          </a:prstGeom>
          <a:noFill/>
          <a:ln/>
        </p:spPr>
        <p:txBody>
          <a:bodyPr wrap="square" lIns="0" tIns="0" rIns="0" bIns="0" rtlCol="0" anchor="t"/>
          <a:lstStyle/>
          <a:p>
            <a:pPr marL="0" indent="0" algn="ctr">
              <a:buNone/>
            </a:pPr>
            <a:r>
              <a:rPr lang="en-US" sz="1400" dirty="0">
                <a:solidFill>
                  <a:schemeClr val="accent5"/>
                </a:solidFill>
              </a:rPr>
              <a:t>286 backgrounds</a:t>
            </a:r>
            <a:endParaRPr lang="en-US" sz="1400" dirty="0"/>
          </a:p>
        </p:txBody>
      </p:sp>
      <p:pic>
        <p:nvPicPr>
          <p:cNvPr id="7" name="image-86" descr="One Wally augmented six different ways"/>
          <p:cNvPicPr>
            <a:picLocks noChangeAspect="1"/>
          </p:cNvPicPr>
          <p:nvPr/>
        </p:nvPicPr>
        <p:blipFill>
          <a:blip r:embed="rId6"/>
          <a:stretch>
            <a:fillRect/>
          </a:stretch>
        </p:blipFill>
        <p:spPr>
          <a:xfrm>
            <a:off x="548640" y="3612035"/>
            <a:ext cx="5257800" cy="1462730"/>
          </a:xfrm>
          <a:prstGeom prst="rect">
            <a:avLst/>
          </a:prstGeom>
        </p:spPr>
      </p:pic>
      <p:sp>
        <p:nvSpPr>
          <p:cNvPr id="8" name="text-87"/>
          <p:cNvSpPr txBox="1"/>
          <p:nvPr/>
        </p:nvSpPr>
        <p:spPr>
          <a:xfrm>
            <a:off x="548640" y="5120640"/>
            <a:ext cx="5257800" cy="320040"/>
          </a:xfrm>
          <a:prstGeom prst="rect">
            <a:avLst/>
          </a:prstGeom>
          <a:noFill/>
          <a:ln/>
        </p:spPr>
        <p:txBody>
          <a:bodyPr wrap="square" lIns="0" tIns="0" rIns="0" bIns="0" rtlCol="0" anchor="t"/>
          <a:lstStyle/>
          <a:p>
            <a:pPr marL="0" indent="0" algn="ctr">
              <a:buNone/>
            </a:pPr>
            <a:r>
              <a:rPr lang="en-US" sz="1400" dirty="0">
                <a:solidFill>
                  <a:schemeClr val="accent5"/>
                </a:solidFill>
              </a:rPr>
              <a:t>5 Wallys, each tweaked every time (augmentation)</a:t>
            </a:r>
            <a:endParaRPr lang="en-US" sz="1400" dirty="0"/>
          </a:p>
        </p:txBody>
      </p:sp>
      <p:sp>
        <p:nvSpPr>
          <p:cNvPr id="9" name="icon-circle-88"/>
          <p:cNvSpPr/>
          <p:nvPr/>
        </p:nvSpPr>
        <p:spPr>
          <a:xfrm>
            <a:off x="6309360" y="1463040"/>
            <a:ext cx="685800" cy="685800"/>
          </a:xfrm>
          <a:prstGeom prst="ellipse">
            <a:avLst/>
          </a:prstGeom>
          <a:solidFill>
            <a:schemeClr val="accent1"/>
          </a:solidFill>
          <a:ln w="12700">
            <a:solidFill>
              <a:schemeClr val="accent1"/>
            </a:solidFill>
            <a:prstDash val="solid"/>
          </a:ln>
        </p:spPr>
        <p:txBody>
          <a:bodyPr/>
          <a:lstStyle/>
          <a:p>
            <a:endParaRPr lang="en-GB"/>
          </a:p>
        </p:txBody>
      </p:sp>
      <p:pic>
        <p:nvPicPr>
          <p:cNvPr id="10" name="icon-89" descr="Cut icon"/>
          <p:cNvPicPr>
            <a:picLocks noChangeAspect="1"/>
          </p:cNvPicPr>
          <p:nvPr/>
        </p:nvPicPr>
        <p:blipFill>
          <a:blip r:embed="rId7"/>
          <a:stretch>
            <a:fillRect/>
          </a:stretch>
        </p:blipFill>
        <p:spPr>
          <a:xfrm>
            <a:off x="6494526" y="1648206"/>
            <a:ext cx="315468" cy="315468"/>
          </a:xfrm>
          <a:prstGeom prst="rect">
            <a:avLst/>
          </a:prstGeom>
        </p:spPr>
      </p:pic>
      <p:sp>
        <p:nvSpPr>
          <p:cNvPr id="11" name="text-90"/>
          <p:cNvSpPr txBox="1"/>
          <p:nvPr/>
        </p:nvSpPr>
        <p:spPr>
          <a:xfrm>
            <a:off x="7178040" y="1371600"/>
            <a:ext cx="4434840" cy="411480"/>
          </a:xfrm>
          <a:prstGeom prst="rect">
            <a:avLst/>
          </a:prstGeom>
          <a:noFill/>
          <a:ln/>
        </p:spPr>
        <p:txBody>
          <a:bodyPr wrap="square" lIns="0" tIns="0" rIns="0" bIns="0" rtlCol="0" anchor="t"/>
          <a:lstStyle/>
          <a:p>
            <a:pPr marL="0" indent="0">
              <a:buNone/>
            </a:pPr>
            <a:r>
              <a:rPr lang="en-US" sz="1900" b="1" dirty="0">
                <a:solidFill>
                  <a:schemeClr val="tx1"/>
                </a:solidFill>
              </a:rPr>
              <a:t>Paste with the alpha mask</a:t>
            </a:r>
            <a:endParaRPr lang="en-US" sz="1900" dirty="0"/>
          </a:p>
        </p:txBody>
      </p:sp>
      <p:sp>
        <p:nvSpPr>
          <p:cNvPr id="12" name="text-91"/>
          <p:cNvSpPr txBox="1"/>
          <p:nvPr/>
        </p:nvSpPr>
        <p:spPr>
          <a:xfrm>
            <a:off x="7178040" y="1783080"/>
            <a:ext cx="4434840" cy="822960"/>
          </a:xfrm>
          <a:prstGeom prst="rect">
            <a:avLst/>
          </a:prstGeom>
          <a:noFill/>
          <a:ln/>
        </p:spPr>
        <p:txBody>
          <a:bodyPr wrap="square" lIns="0" tIns="0" rIns="0" bIns="0" rtlCol="0" anchor="t"/>
          <a:lstStyle/>
          <a:p>
            <a:pPr marL="0" indent="0">
              <a:buNone/>
            </a:pPr>
            <a:r>
              <a:rPr lang="en-US" sz="1500" dirty="0">
                <a:solidFill>
                  <a:schemeClr val="tx1"/>
                </a:solidFill>
              </a:rPr>
              <a:t>Only Wally's own pixels are copied, not the white rectangle around him.</a:t>
            </a:r>
            <a:endParaRPr lang="en-US" sz="1500" dirty="0"/>
          </a:p>
        </p:txBody>
      </p:sp>
      <p:sp>
        <p:nvSpPr>
          <p:cNvPr id="13" name="icon-circle-92"/>
          <p:cNvSpPr/>
          <p:nvPr/>
        </p:nvSpPr>
        <p:spPr>
          <a:xfrm>
            <a:off x="6309360" y="2834640"/>
            <a:ext cx="685800" cy="685800"/>
          </a:xfrm>
          <a:prstGeom prst="ellipse">
            <a:avLst/>
          </a:prstGeom>
          <a:solidFill>
            <a:schemeClr val="accent1"/>
          </a:solidFill>
          <a:ln w="12700">
            <a:solidFill>
              <a:schemeClr val="accent1"/>
            </a:solidFill>
            <a:prstDash val="solid"/>
          </a:ln>
        </p:spPr>
        <p:txBody>
          <a:bodyPr/>
          <a:lstStyle/>
          <a:p>
            <a:endParaRPr lang="en-GB"/>
          </a:p>
        </p:txBody>
      </p:sp>
      <p:pic>
        <p:nvPicPr>
          <p:cNvPr id="14" name="icon-93" descr="PaintBrush icon"/>
          <p:cNvPicPr>
            <a:picLocks noChangeAspect="1"/>
          </p:cNvPicPr>
          <p:nvPr/>
        </p:nvPicPr>
        <p:blipFill>
          <a:blip r:embed="rId8"/>
          <a:stretch>
            <a:fillRect/>
          </a:stretch>
        </p:blipFill>
        <p:spPr>
          <a:xfrm>
            <a:off x="6494526" y="3019806"/>
            <a:ext cx="315468" cy="315468"/>
          </a:xfrm>
          <a:prstGeom prst="rect">
            <a:avLst/>
          </a:prstGeom>
        </p:spPr>
      </p:pic>
      <p:sp>
        <p:nvSpPr>
          <p:cNvPr id="15" name="text-94"/>
          <p:cNvSpPr txBox="1"/>
          <p:nvPr/>
        </p:nvSpPr>
        <p:spPr>
          <a:xfrm>
            <a:off x="7178040" y="2743200"/>
            <a:ext cx="4434840" cy="411480"/>
          </a:xfrm>
          <a:prstGeom prst="rect">
            <a:avLst/>
          </a:prstGeom>
          <a:noFill/>
          <a:ln/>
        </p:spPr>
        <p:txBody>
          <a:bodyPr wrap="square" lIns="0" tIns="0" rIns="0" bIns="0" rtlCol="0" anchor="t"/>
          <a:lstStyle/>
          <a:p>
            <a:pPr marL="0" indent="0">
              <a:buNone/>
            </a:pPr>
            <a:r>
              <a:rPr lang="en-US" sz="1900" b="1" dirty="0">
                <a:solidFill>
                  <a:schemeClr val="tx1"/>
                </a:solidFill>
              </a:rPr>
              <a:t>Tweak him every time</a:t>
            </a:r>
            <a:endParaRPr lang="en-US" sz="1900" dirty="0"/>
          </a:p>
        </p:txBody>
      </p:sp>
      <p:sp>
        <p:nvSpPr>
          <p:cNvPr id="16" name="text-95"/>
          <p:cNvSpPr txBox="1"/>
          <p:nvPr/>
        </p:nvSpPr>
        <p:spPr>
          <a:xfrm>
            <a:off x="7178040" y="3154680"/>
            <a:ext cx="4434840" cy="822960"/>
          </a:xfrm>
          <a:prstGeom prst="rect">
            <a:avLst/>
          </a:prstGeom>
          <a:noFill/>
          <a:ln/>
        </p:spPr>
        <p:txBody>
          <a:bodyPr wrap="square" lIns="0" tIns="0" rIns="0" bIns="0" rtlCol="0" anchor="t"/>
          <a:lstStyle/>
          <a:p>
            <a:pPr marL="0" indent="0">
              <a:buNone/>
            </a:pPr>
            <a:r>
              <a:rPr lang="en-US" sz="1500" dirty="0">
                <a:solidFill>
                  <a:schemeClr val="tx1"/>
                </a:solidFill>
              </a:rPr>
              <a:t>Small rotation, brightness and colour changes, so the model can't just memorise 5 pictures.</a:t>
            </a:r>
            <a:endParaRPr lang="en-US" sz="1500" dirty="0"/>
          </a:p>
        </p:txBody>
      </p:sp>
      <p:sp>
        <p:nvSpPr>
          <p:cNvPr id="17" name="icon-circle-96"/>
          <p:cNvSpPr/>
          <p:nvPr/>
        </p:nvSpPr>
        <p:spPr>
          <a:xfrm>
            <a:off x="6309360" y="4206240"/>
            <a:ext cx="685800" cy="685800"/>
          </a:xfrm>
          <a:prstGeom prst="ellipse">
            <a:avLst/>
          </a:prstGeom>
          <a:solidFill>
            <a:schemeClr val="accent1"/>
          </a:solidFill>
          <a:ln w="12700">
            <a:solidFill>
              <a:schemeClr val="accent1"/>
            </a:solidFill>
            <a:prstDash val="solid"/>
          </a:ln>
        </p:spPr>
        <p:txBody>
          <a:bodyPr/>
          <a:lstStyle/>
          <a:p>
            <a:endParaRPr lang="en-GB"/>
          </a:p>
        </p:txBody>
      </p:sp>
      <p:pic>
        <p:nvPicPr>
          <p:cNvPr id="18" name="icon-97" descr="Tag icon"/>
          <p:cNvPicPr>
            <a:picLocks noChangeAspect="1"/>
          </p:cNvPicPr>
          <p:nvPr/>
        </p:nvPicPr>
        <p:blipFill>
          <a:blip r:embed="rId9"/>
          <a:stretch>
            <a:fillRect/>
          </a:stretch>
        </p:blipFill>
        <p:spPr>
          <a:xfrm>
            <a:off x="6494526" y="4391406"/>
            <a:ext cx="315468" cy="315468"/>
          </a:xfrm>
          <a:prstGeom prst="rect">
            <a:avLst/>
          </a:prstGeom>
        </p:spPr>
      </p:pic>
      <p:sp>
        <p:nvSpPr>
          <p:cNvPr id="19" name="text-98"/>
          <p:cNvSpPr txBox="1"/>
          <p:nvPr/>
        </p:nvSpPr>
        <p:spPr>
          <a:xfrm>
            <a:off x="7178040" y="4114800"/>
            <a:ext cx="4434840" cy="411480"/>
          </a:xfrm>
          <a:prstGeom prst="rect">
            <a:avLst/>
          </a:prstGeom>
          <a:noFill/>
          <a:ln/>
        </p:spPr>
        <p:txBody>
          <a:bodyPr wrap="square" lIns="0" tIns="0" rIns="0" bIns="0" rtlCol="0" anchor="t"/>
          <a:lstStyle/>
          <a:p>
            <a:pPr marL="0" indent="0">
              <a:buNone/>
            </a:pPr>
            <a:r>
              <a:rPr lang="en-US" sz="1900" b="1" dirty="0">
                <a:solidFill>
                  <a:schemeClr val="tx1"/>
                </a:solidFill>
              </a:rPr>
              <a:t>Labels for free</a:t>
            </a:r>
            <a:endParaRPr lang="en-US" sz="1900" dirty="0"/>
          </a:p>
        </p:txBody>
      </p:sp>
      <p:sp>
        <p:nvSpPr>
          <p:cNvPr id="20" name="text-99"/>
          <p:cNvSpPr txBox="1"/>
          <p:nvPr/>
        </p:nvSpPr>
        <p:spPr>
          <a:xfrm>
            <a:off x="7178040" y="4526280"/>
            <a:ext cx="4434840" cy="822960"/>
          </a:xfrm>
          <a:prstGeom prst="rect">
            <a:avLst/>
          </a:prstGeom>
          <a:noFill/>
          <a:ln/>
        </p:spPr>
        <p:txBody>
          <a:bodyPr wrap="square" lIns="0" tIns="0" rIns="0" bIns="0" rtlCol="0" anchor="t"/>
          <a:lstStyle/>
          <a:p>
            <a:pPr marL="0" indent="0">
              <a:buNone/>
            </a:pPr>
            <a:r>
              <a:rPr lang="en-US" sz="1500" dirty="0">
                <a:solidFill>
                  <a:schemeClr val="tx1"/>
                </a:solidFill>
              </a:rPr>
              <a:t>We placed him, so we already know the true box. No hand-labelling 5000 pictures!</a:t>
            </a:r>
            <a:endParaRPr lang="en-US" sz="1500" dirty="0"/>
          </a:p>
        </p:txBody>
      </p:sp>
      <p:sp>
        <p:nvSpPr>
          <p:cNvPr id="21" name="text-100"/>
          <p:cNvSpPr txBox="1"/>
          <p:nvPr/>
        </p:nvSpPr>
        <p:spPr>
          <a:xfrm>
            <a:off x="6309360" y="5486400"/>
            <a:ext cx="5303520" cy="457200"/>
          </a:xfrm>
          <a:prstGeom prst="rect">
            <a:avLst/>
          </a:prstGeom>
          <a:noFill/>
          <a:ln/>
        </p:spPr>
        <p:txBody>
          <a:bodyPr wrap="square" lIns="0" tIns="0" rIns="0" bIns="0" rtlCol="0" anchor="t"/>
          <a:lstStyle/>
          <a:p>
            <a:pPr marL="0" indent="0">
              <a:buNone/>
            </a:pPr>
            <a:r>
              <a:rPr lang="en-US" sz="1600" b="1" dirty="0">
                <a:solidFill>
                  <a:schemeClr val="accent2"/>
                </a:solidFill>
              </a:rPr>
              <a:t>5000 pictures → 4000 for training, 1000 kept hidden for testing</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Boxes and image coordinates</a:t>
            </a:r>
            <a:endParaRPr lang="en-US" sz="3400" dirty="0"/>
          </a:p>
        </p:txBody>
      </p:sp>
      <p:pic>
        <p:nvPicPr>
          <p:cNvPr id="3" name="image-101" descr="Image coordinates: origin top-left, y grows down, box corners labelled"/>
          <p:cNvPicPr>
            <a:picLocks noChangeAspect="1"/>
          </p:cNvPicPr>
          <p:nvPr/>
        </p:nvPicPr>
        <p:blipFill>
          <a:blip r:embed="rId3"/>
          <a:stretch>
            <a:fillRect/>
          </a:stretch>
        </p:blipFill>
        <p:spPr>
          <a:xfrm>
            <a:off x="621640" y="1280160"/>
            <a:ext cx="4883199" cy="4937760"/>
          </a:xfrm>
          <a:prstGeom prst="rect">
            <a:avLst/>
          </a:prstGeom>
        </p:spPr>
      </p:pic>
      <p:sp>
        <p:nvSpPr>
          <p:cNvPr id="4" name="card-102"/>
          <p:cNvSpPr/>
          <p:nvPr/>
        </p:nvSpPr>
        <p:spPr>
          <a:xfrm>
            <a:off x="6035040" y="1463040"/>
            <a:ext cx="5577840" cy="4480560"/>
          </a:xfrm>
          <a:prstGeom prst="roundRect">
            <a:avLst>
              <a:gd name="adj" fmla="val 2449"/>
            </a:avLst>
          </a:prstGeom>
          <a:solidFill>
            <a:schemeClr val="bg2"/>
          </a:solidFill>
          <a:ln w="12700">
            <a:solidFill>
              <a:schemeClr val="bg2"/>
            </a:solidFill>
            <a:prstDash val="solid"/>
          </a:ln>
        </p:spPr>
        <p:txBody>
          <a:bodyPr/>
          <a:lstStyle/>
          <a:p>
            <a:endParaRPr lang="en-GB"/>
          </a:p>
        </p:txBody>
      </p:sp>
      <p:sp>
        <p:nvSpPr>
          <p:cNvPr id="5" name="text-103"/>
          <p:cNvSpPr txBox="1"/>
          <p:nvPr/>
        </p:nvSpPr>
        <p:spPr>
          <a:xfrm>
            <a:off x="6309360" y="1737360"/>
            <a:ext cx="5029200" cy="4023360"/>
          </a:xfrm>
          <a:prstGeom prst="rect">
            <a:avLst/>
          </a:prstGeom>
          <a:noFill/>
          <a:ln/>
        </p:spPr>
        <p:txBody>
          <a:bodyPr wrap="square" lIns="0" tIns="0" rIns="0" bIns="0" rtlCol="0" anchor="t"/>
          <a:lstStyle/>
          <a:p>
            <a:pPr marL="342900" indent="-342900">
              <a:buSzPct val="100000"/>
              <a:buChar char="•"/>
            </a:pPr>
            <a:r>
              <a:rPr lang="en-US" sz="1800" b="1" dirty="0">
                <a:solidFill>
                  <a:schemeClr val="tx1"/>
                </a:solidFill>
              </a:rPr>
              <a:t>(0, 0) is the top-left corner, </a:t>
            </a:r>
            <a:r>
              <a:rPr lang="en-US" sz="1800" dirty="0">
                <a:solidFill>
                  <a:schemeClr val="tx1"/>
                </a:solidFill>
              </a:rPr>
              <a:t>not the bottom-left like in maths</a:t>
            </a:r>
            <a:endParaRPr lang="en-US" sz="1800" dirty="0"/>
          </a:p>
          <a:p>
            <a:pPr marL="342900" indent="-342900">
              <a:buSzPct val="100000"/>
              <a:buChar char="•"/>
            </a:pPr>
            <a:r>
              <a:rPr lang="en-US" sz="1800" b="1" dirty="0">
                <a:solidFill>
                  <a:schemeClr val="tx1"/>
                </a:solidFill>
              </a:rPr>
              <a:t>x </a:t>
            </a:r>
            <a:r>
              <a:rPr lang="en-US" sz="1800" dirty="0">
                <a:solidFill>
                  <a:schemeClr val="tx1"/>
                </a:solidFill>
              </a:rPr>
              <a:t>counts pixels to the right, </a:t>
            </a:r>
            <a:r>
              <a:rPr lang="en-US" sz="1800" b="1" dirty="0">
                <a:solidFill>
                  <a:schemeClr val="tx1"/>
                </a:solidFill>
              </a:rPr>
              <a:t>y </a:t>
            </a:r>
            <a:r>
              <a:rPr lang="en-US" sz="1800" dirty="0">
                <a:solidFill>
                  <a:schemeClr val="tx1"/>
                </a:solidFill>
              </a:rPr>
              <a:t>counts pixels DOWN</a:t>
            </a:r>
            <a:endParaRPr lang="en-US" sz="1800" dirty="0"/>
          </a:p>
          <a:p>
            <a:pPr marL="342900" indent="-342900">
              <a:buSzPct val="100000"/>
              <a:buChar char="•"/>
            </a:pPr>
            <a:r>
              <a:rPr lang="en-US" sz="1800" b="1" dirty="0">
                <a:solidFill>
                  <a:schemeClr val="tx1"/>
                </a:solidFill>
              </a:rPr>
              <a:t>A box is 4 numbers: </a:t>
            </a:r>
            <a:r>
              <a:rPr lang="en-US" sz="1800" dirty="0">
                <a:solidFill>
                  <a:schemeClr val="tx1"/>
                </a:solidFill>
              </a:rPr>
              <a:t>(x1, y1) top-left and (x2, y2) bottom-right</a:t>
            </a:r>
            <a:endParaRPr lang="en-US" sz="1800" dirty="0"/>
          </a:p>
          <a:p>
            <a:pPr marL="342900" indent="-342900">
              <a:buSzPct val="100000"/>
              <a:buChar char="•"/>
            </a:pPr>
            <a:r>
              <a:rPr lang="en-US" sz="1800" b="1" dirty="0">
                <a:solidFill>
                  <a:schemeClr val="tx1"/>
                </a:solidFill>
              </a:rPr>
              <a:t>Width </a:t>
            </a:r>
            <a:r>
              <a:rPr lang="en-US" sz="1800" dirty="0">
                <a:solidFill>
                  <a:schemeClr val="tx1"/>
                </a:solidFill>
              </a:rPr>
              <a:t>= x2 − x1 = 31 px,  </a:t>
            </a:r>
            <a:r>
              <a:rPr lang="en-US" sz="1800" b="1" dirty="0">
                <a:solidFill>
                  <a:schemeClr val="tx1"/>
                </a:solidFill>
              </a:rPr>
              <a:t>height </a:t>
            </a:r>
            <a:r>
              <a:rPr lang="en-US" sz="1800" dirty="0">
                <a:solidFill>
                  <a:schemeClr val="tx1"/>
                </a:solidFill>
              </a:rPr>
              <a:t>= y2 − y1 = 60 px</a:t>
            </a:r>
            <a:endParaRPr lang="en-US" sz="1800" dirty="0"/>
          </a:p>
          <a:p>
            <a:pPr marL="342900" indent="-342900">
              <a:buSzPct val="100000"/>
              <a:buChar char="•"/>
            </a:pPr>
            <a:r>
              <a:rPr lang="en-US" sz="1800" b="1" dirty="0">
                <a:solidFill>
                  <a:schemeClr val="tx1"/>
                </a:solidFill>
              </a:rPr>
              <a:t>Inside the model </a:t>
            </a:r>
            <a:r>
              <a:rPr lang="en-US" sz="1800" dirty="0">
                <a:solidFill>
                  <a:schemeClr val="tx1"/>
                </a:solidFill>
              </a:rPr>
              <a:t>we divide by 256 so every number is between 0 and 1: (150, 90) becomes (0.59, 0.35)</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Step 2: pictures become tensors, served in batches</a:t>
            </a:r>
            <a:endParaRPr lang="en-US" sz="3400" dirty="0"/>
          </a:p>
        </p:txBody>
      </p:sp>
      <p:sp>
        <p:nvSpPr>
          <p:cNvPr id="3" name="card-104"/>
          <p:cNvSpPr/>
          <p:nvPr/>
        </p:nvSpPr>
        <p:spPr>
          <a:xfrm>
            <a:off x="548640" y="1417320"/>
            <a:ext cx="2468880" cy="1600200"/>
          </a:xfrm>
          <a:prstGeom prst="roundRect">
            <a:avLst>
              <a:gd name="adj" fmla="val 6857"/>
            </a:avLst>
          </a:prstGeom>
          <a:solidFill>
            <a:schemeClr val="accent5"/>
          </a:solidFill>
          <a:ln w="12700">
            <a:solidFill>
              <a:schemeClr val="accent5"/>
            </a:solidFill>
            <a:prstDash val="solid"/>
          </a:ln>
        </p:spPr>
        <p:txBody>
          <a:bodyPr/>
          <a:lstStyle/>
          <a:p>
            <a:endParaRPr lang="en-GB"/>
          </a:p>
        </p:txBody>
      </p:sp>
      <p:sp>
        <p:nvSpPr>
          <p:cNvPr id="4" name="text-105"/>
          <p:cNvSpPr txBox="1"/>
          <p:nvPr/>
        </p:nvSpPr>
        <p:spPr>
          <a:xfrm>
            <a:off x="731520" y="1554480"/>
            <a:ext cx="2103120" cy="411480"/>
          </a:xfrm>
          <a:prstGeom prst="rect">
            <a:avLst/>
          </a:prstGeom>
          <a:noFill/>
          <a:ln/>
        </p:spPr>
        <p:txBody>
          <a:bodyPr wrap="square" lIns="0" tIns="0" rIns="0" bIns="0" rtlCol="0" anchor="t"/>
          <a:lstStyle/>
          <a:p>
            <a:pPr marL="0" indent="0" algn="ctr">
              <a:buNone/>
            </a:pPr>
            <a:r>
              <a:rPr lang="en-US" sz="1800" b="1" dirty="0">
                <a:solidFill>
                  <a:schemeClr val="bg1"/>
                </a:solidFill>
              </a:rPr>
              <a:t>picture file</a:t>
            </a:r>
            <a:endParaRPr lang="en-US" sz="1800" dirty="0"/>
          </a:p>
        </p:txBody>
      </p:sp>
      <p:sp>
        <p:nvSpPr>
          <p:cNvPr id="5" name="text-106"/>
          <p:cNvSpPr txBox="1"/>
          <p:nvPr/>
        </p:nvSpPr>
        <p:spPr>
          <a:xfrm>
            <a:off x="640080" y="2011680"/>
            <a:ext cx="2286000" cy="868680"/>
          </a:xfrm>
          <a:prstGeom prst="rect">
            <a:avLst/>
          </a:prstGeom>
          <a:noFill/>
          <a:ln/>
        </p:spPr>
        <p:txBody>
          <a:bodyPr wrap="square" lIns="0" tIns="0" rIns="0" bIns="0" rtlCol="0" anchor="t"/>
          <a:lstStyle/>
          <a:p>
            <a:pPr marL="0" indent="0" algn="ctr">
              <a:buNone/>
            </a:pPr>
            <a:r>
              <a:rPr lang="en-US" sz="1800" b="1" dirty="0">
                <a:solidFill>
                  <a:schemeClr val="bg1"/>
                </a:solidFill>
                <a:latin typeface="Courier New" pitchFamily="34" charset="0"/>
                <a:ea typeface="Courier New" pitchFamily="34" charset="-122"/>
                <a:cs typeface="Courier New" pitchFamily="34" charset="-120"/>
              </a:rPr>
              <a:t>image_0042.png</a:t>
            </a:r>
            <a:endParaRPr lang="en-US" sz="1800" dirty="0"/>
          </a:p>
        </p:txBody>
      </p:sp>
      <p:sp>
        <p:nvSpPr>
          <p:cNvPr id="6" name="arrow-107"/>
          <p:cNvSpPr/>
          <p:nvPr/>
        </p:nvSpPr>
        <p:spPr>
          <a:xfrm>
            <a:off x="3063240" y="2057400"/>
            <a:ext cx="320040" cy="320040"/>
          </a:xfrm>
          <a:prstGeom prst="rightArrow">
            <a:avLst/>
          </a:prstGeom>
          <a:solidFill>
            <a:schemeClr val="accent5"/>
          </a:solidFill>
          <a:ln w="12700">
            <a:solidFill>
              <a:schemeClr val="accent5"/>
            </a:solidFill>
            <a:prstDash val="solid"/>
          </a:ln>
        </p:spPr>
        <p:txBody>
          <a:bodyPr/>
          <a:lstStyle/>
          <a:p>
            <a:endParaRPr lang="en-GB"/>
          </a:p>
        </p:txBody>
      </p:sp>
      <p:sp>
        <p:nvSpPr>
          <p:cNvPr id="7" name="card-108"/>
          <p:cNvSpPr/>
          <p:nvPr/>
        </p:nvSpPr>
        <p:spPr>
          <a:xfrm>
            <a:off x="3429000" y="1417320"/>
            <a:ext cx="2468880" cy="1600200"/>
          </a:xfrm>
          <a:prstGeom prst="roundRect">
            <a:avLst>
              <a:gd name="adj" fmla="val 6857"/>
            </a:avLst>
          </a:prstGeom>
          <a:solidFill>
            <a:schemeClr val="accent2"/>
          </a:solidFill>
          <a:ln w="12700">
            <a:solidFill>
              <a:schemeClr val="accent2"/>
            </a:solidFill>
            <a:prstDash val="solid"/>
          </a:ln>
        </p:spPr>
        <p:txBody>
          <a:bodyPr/>
          <a:lstStyle/>
          <a:p>
            <a:endParaRPr lang="en-GB"/>
          </a:p>
        </p:txBody>
      </p:sp>
      <p:sp>
        <p:nvSpPr>
          <p:cNvPr id="8" name="text-109"/>
          <p:cNvSpPr txBox="1"/>
          <p:nvPr/>
        </p:nvSpPr>
        <p:spPr>
          <a:xfrm>
            <a:off x="3611880" y="1554480"/>
            <a:ext cx="2103120" cy="411480"/>
          </a:xfrm>
          <a:prstGeom prst="rect">
            <a:avLst/>
          </a:prstGeom>
          <a:noFill/>
          <a:ln/>
        </p:spPr>
        <p:txBody>
          <a:bodyPr wrap="square" lIns="0" tIns="0" rIns="0" bIns="0" rtlCol="0" anchor="t"/>
          <a:lstStyle/>
          <a:p>
            <a:pPr marL="0" indent="0" algn="ctr">
              <a:buNone/>
            </a:pPr>
            <a:r>
              <a:rPr lang="en-US" sz="1800" b="1" dirty="0">
                <a:solidFill>
                  <a:schemeClr val="bg1"/>
                </a:solidFill>
              </a:rPr>
              <a:t>NumPy array</a:t>
            </a:r>
            <a:endParaRPr lang="en-US" sz="1800" dirty="0"/>
          </a:p>
        </p:txBody>
      </p:sp>
      <p:sp>
        <p:nvSpPr>
          <p:cNvPr id="9" name="text-110"/>
          <p:cNvSpPr txBox="1"/>
          <p:nvPr/>
        </p:nvSpPr>
        <p:spPr>
          <a:xfrm>
            <a:off x="3520440" y="2011680"/>
            <a:ext cx="2286000" cy="868680"/>
          </a:xfrm>
          <a:prstGeom prst="rect">
            <a:avLst/>
          </a:prstGeom>
          <a:noFill/>
          <a:ln/>
        </p:spPr>
        <p:txBody>
          <a:bodyPr wrap="square" lIns="0" tIns="0" rIns="0" bIns="0" rtlCol="0" anchor="t"/>
          <a:lstStyle/>
          <a:p>
            <a:pPr marL="0" indent="0" algn="ctr">
              <a:buNone/>
            </a:pPr>
            <a:r>
              <a:rPr lang="en-US" sz="1800" b="1" dirty="0">
                <a:solidFill>
                  <a:schemeClr val="bg1"/>
                </a:solidFill>
                <a:latin typeface="Courier New" pitchFamily="34" charset="0"/>
                <a:ea typeface="Courier New" pitchFamily="34" charset="-122"/>
                <a:cs typeface="Courier New" pitchFamily="34" charset="-120"/>
              </a:rPr>
              <a:t>(256, 256, 3)</a:t>
            </a:r>
            <a:endParaRPr lang="en-US" sz="1800" dirty="0"/>
          </a:p>
          <a:p>
            <a:pPr marL="0" indent="0" algn="ctr">
              <a:buNone/>
            </a:pPr>
            <a:r>
              <a:rPr lang="en-US" sz="1800" b="1" dirty="0">
                <a:solidFill>
                  <a:schemeClr val="bg1"/>
                </a:solidFill>
                <a:latin typeface="Courier New" pitchFamily="34" charset="0"/>
                <a:ea typeface="Courier New" pitchFamily="34" charset="-122"/>
                <a:cs typeface="Courier New" pitchFamily="34" charset="-120"/>
              </a:rPr>
              <a:t>values 0–255</a:t>
            </a:r>
            <a:endParaRPr lang="en-US" sz="1800" dirty="0"/>
          </a:p>
        </p:txBody>
      </p:sp>
      <p:sp>
        <p:nvSpPr>
          <p:cNvPr id="10" name="arrow-111"/>
          <p:cNvSpPr/>
          <p:nvPr/>
        </p:nvSpPr>
        <p:spPr>
          <a:xfrm>
            <a:off x="5943600" y="2057400"/>
            <a:ext cx="320040" cy="320040"/>
          </a:xfrm>
          <a:prstGeom prst="rightArrow">
            <a:avLst/>
          </a:prstGeom>
          <a:solidFill>
            <a:schemeClr val="accent5"/>
          </a:solidFill>
          <a:ln w="12700">
            <a:solidFill>
              <a:schemeClr val="accent5"/>
            </a:solidFill>
            <a:prstDash val="solid"/>
          </a:ln>
        </p:spPr>
        <p:txBody>
          <a:bodyPr/>
          <a:lstStyle/>
          <a:p>
            <a:endParaRPr lang="en-GB"/>
          </a:p>
        </p:txBody>
      </p:sp>
      <p:sp>
        <p:nvSpPr>
          <p:cNvPr id="11" name="card-112"/>
          <p:cNvSpPr/>
          <p:nvPr/>
        </p:nvSpPr>
        <p:spPr>
          <a:xfrm>
            <a:off x="6309360" y="1417320"/>
            <a:ext cx="2468880" cy="1600200"/>
          </a:xfrm>
          <a:prstGeom prst="roundRect">
            <a:avLst>
              <a:gd name="adj" fmla="val 6857"/>
            </a:avLst>
          </a:prstGeom>
          <a:solidFill>
            <a:schemeClr val="accent2"/>
          </a:solidFill>
          <a:ln w="12700">
            <a:solidFill>
              <a:schemeClr val="accent2"/>
            </a:solidFill>
            <a:prstDash val="solid"/>
          </a:ln>
        </p:spPr>
        <p:txBody>
          <a:bodyPr/>
          <a:lstStyle/>
          <a:p>
            <a:endParaRPr lang="en-GB"/>
          </a:p>
        </p:txBody>
      </p:sp>
      <p:sp>
        <p:nvSpPr>
          <p:cNvPr id="12" name="text-113"/>
          <p:cNvSpPr txBox="1"/>
          <p:nvPr/>
        </p:nvSpPr>
        <p:spPr>
          <a:xfrm>
            <a:off x="6492240" y="1554480"/>
            <a:ext cx="2103120" cy="411480"/>
          </a:xfrm>
          <a:prstGeom prst="rect">
            <a:avLst/>
          </a:prstGeom>
          <a:noFill/>
          <a:ln/>
        </p:spPr>
        <p:txBody>
          <a:bodyPr wrap="square" lIns="0" tIns="0" rIns="0" bIns="0" rtlCol="0" anchor="t"/>
          <a:lstStyle/>
          <a:p>
            <a:pPr marL="0" indent="0" algn="ctr">
              <a:buNone/>
            </a:pPr>
            <a:r>
              <a:rPr lang="en-US" sz="1800" b="1" dirty="0">
                <a:solidFill>
                  <a:schemeClr val="bg1"/>
                </a:solidFill>
              </a:rPr>
              <a:t>tensor</a:t>
            </a:r>
            <a:endParaRPr lang="en-US" sz="1800" dirty="0"/>
          </a:p>
        </p:txBody>
      </p:sp>
      <p:sp>
        <p:nvSpPr>
          <p:cNvPr id="13" name="text-114"/>
          <p:cNvSpPr txBox="1"/>
          <p:nvPr/>
        </p:nvSpPr>
        <p:spPr>
          <a:xfrm>
            <a:off x="6400800" y="2011680"/>
            <a:ext cx="2286000" cy="868680"/>
          </a:xfrm>
          <a:prstGeom prst="rect">
            <a:avLst/>
          </a:prstGeom>
          <a:noFill/>
          <a:ln/>
        </p:spPr>
        <p:txBody>
          <a:bodyPr wrap="square" lIns="0" tIns="0" rIns="0" bIns="0" rtlCol="0" anchor="t"/>
          <a:lstStyle/>
          <a:p>
            <a:pPr marL="0" indent="0" algn="ctr">
              <a:buNone/>
            </a:pPr>
            <a:r>
              <a:rPr lang="en-US" sz="1800" b="1" dirty="0">
                <a:solidFill>
                  <a:schemeClr val="bg1"/>
                </a:solidFill>
                <a:latin typeface="Courier New" pitchFamily="34" charset="0"/>
                <a:ea typeface="Courier New" pitchFamily="34" charset="-122"/>
                <a:cs typeface="Courier New" pitchFamily="34" charset="-120"/>
              </a:rPr>
              <a:t>(3, 256, 256)</a:t>
            </a:r>
            <a:endParaRPr lang="en-US" sz="1800" dirty="0"/>
          </a:p>
          <a:p>
            <a:pPr marL="0" indent="0" algn="ctr">
              <a:buNone/>
            </a:pPr>
            <a:r>
              <a:rPr lang="en-US" sz="1800" b="1" dirty="0">
                <a:solidFill>
                  <a:schemeClr val="bg1"/>
                </a:solidFill>
                <a:latin typeface="Courier New" pitchFamily="34" charset="0"/>
                <a:ea typeface="Courier New" pitchFamily="34" charset="-122"/>
                <a:cs typeface="Courier New" pitchFamily="34" charset="-120"/>
              </a:rPr>
              <a:t>values 0–1</a:t>
            </a:r>
            <a:endParaRPr lang="en-US" sz="1800" dirty="0"/>
          </a:p>
        </p:txBody>
      </p:sp>
      <p:sp>
        <p:nvSpPr>
          <p:cNvPr id="14" name="arrow-115"/>
          <p:cNvSpPr/>
          <p:nvPr/>
        </p:nvSpPr>
        <p:spPr>
          <a:xfrm>
            <a:off x="8823960" y="2057400"/>
            <a:ext cx="320040" cy="320040"/>
          </a:xfrm>
          <a:prstGeom prst="rightArrow">
            <a:avLst/>
          </a:prstGeom>
          <a:solidFill>
            <a:schemeClr val="accent5"/>
          </a:solidFill>
          <a:ln w="12700">
            <a:solidFill>
              <a:schemeClr val="accent5"/>
            </a:solidFill>
            <a:prstDash val="solid"/>
          </a:ln>
        </p:spPr>
        <p:txBody>
          <a:bodyPr/>
          <a:lstStyle/>
          <a:p>
            <a:endParaRPr lang="en-GB"/>
          </a:p>
        </p:txBody>
      </p:sp>
      <p:sp>
        <p:nvSpPr>
          <p:cNvPr id="15" name="card-116"/>
          <p:cNvSpPr/>
          <p:nvPr/>
        </p:nvSpPr>
        <p:spPr>
          <a:xfrm>
            <a:off x="9189720" y="1417320"/>
            <a:ext cx="2468880" cy="1600200"/>
          </a:xfrm>
          <a:prstGeom prst="roundRect">
            <a:avLst>
              <a:gd name="adj" fmla="val 6857"/>
            </a:avLst>
          </a:prstGeom>
          <a:solidFill>
            <a:schemeClr val="accent1"/>
          </a:solidFill>
          <a:ln w="12700">
            <a:solidFill>
              <a:schemeClr val="accent1"/>
            </a:solidFill>
            <a:prstDash val="solid"/>
          </a:ln>
        </p:spPr>
        <p:txBody>
          <a:bodyPr/>
          <a:lstStyle/>
          <a:p>
            <a:endParaRPr lang="en-GB"/>
          </a:p>
        </p:txBody>
      </p:sp>
      <p:sp>
        <p:nvSpPr>
          <p:cNvPr id="16" name="text-117"/>
          <p:cNvSpPr txBox="1"/>
          <p:nvPr/>
        </p:nvSpPr>
        <p:spPr>
          <a:xfrm>
            <a:off x="9372600" y="1554480"/>
            <a:ext cx="2103120" cy="411480"/>
          </a:xfrm>
          <a:prstGeom prst="rect">
            <a:avLst/>
          </a:prstGeom>
          <a:noFill/>
          <a:ln/>
        </p:spPr>
        <p:txBody>
          <a:bodyPr wrap="square" lIns="0" tIns="0" rIns="0" bIns="0" rtlCol="0" anchor="t"/>
          <a:lstStyle/>
          <a:p>
            <a:pPr marL="0" indent="0" algn="ctr">
              <a:buNone/>
            </a:pPr>
            <a:r>
              <a:rPr lang="en-US" sz="1800" b="1" dirty="0">
                <a:solidFill>
                  <a:schemeClr val="bg1"/>
                </a:solidFill>
              </a:rPr>
              <a:t>a batch</a:t>
            </a:r>
            <a:endParaRPr lang="en-US" sz="1800" dirty="0"/>
          </a:p>
        </p:txBody>
      </p:sp>
      <p:sp>
        <p:nvSpPr>
          <p:cNvPr id="17" name="text-118"/>
          <p:cNvSpPr txBox="1"/>
          <p:nvPr/>
        </p:nvSpPr>
        <p:spPr>
          <a:xfrm>
            <a:off x="9281160" y="2011680"/>
            <a:ext cx="2286000" cy="868680"/>
          </a:xfrm>
          <a:prstGeom prst="rect">
            <a:avLst/>
          </a:prstGeom>
          <a:noFill/>
          <a:ln/>
        </p:spPr>
        <p:txBody>
          <a:bodyPr wrap="square" lIns="0" tIns="0" rIns="0" bIns="0" rtlCol="0" anchor="t"/>
          <a:lstStyle/>
          <a:p>
            <a:pPr marL="0" indent="0" algn="ctr">
              <a:buNone/>
            </a:pPr>
            <a:r>
              <a:rPr lang="en-US" sz="1800" b="1" dirty="0">
                <a:solidFill>
                  <a:schemeClr val="bg1"/>
                </a:solidFill>
                <a:latin typeface="Courier New" pitchFamily="34" charset="0"/>
                <a:ea typeface="Courier New" pitchFamily="34" charset="-122"/>
                <a:cs typeface="Courier New" pitchFamily="34" charset="-120"/>
              </a:rPr>
              <a:t>(32, 3, 256, 256)</a:t>
            </a:r>
            <a:endParaRPr lang="en-US" sz="1800" dirty="0"/>
          </a:p>
        </p:txBody>
      </p:sp>
      <p:sp>
        <p:nvSpPr>
          <p:cNvPr id="18" name="text-119"/>
          <p:cNvSpPr txBox="1"/>
          <p:nvPr/>
        </p:nvSpPr>
        <p:spPr>
          <a:xfrm>
            <a:off x="548640" y="3154680"/>
            <a:ext cx="11064240" cy="411480"/>
          </a:xfrm>
          <a:prstGeom prst="rect">
            <a:avLst/>
          </a:prstGeom>
          <a:noFill/>
          <a:ln/>
        </p:spPr>
        <p:txBody>
          <a:bodyPr wrap="square" lIns="0" tIns="0" rIns="0" bIns="0" rtlCol="0" anchor="t"/>
          <a:lstStyle/>
          <a:p>
            <a:pPr marL="0" indent="0">
              <a:buNone/>
            </a:pPr>
            <a:r>
              <a:rPr lang="en-US" sz="1600" i="1" dirty="0">
                <a:solidFill>
                  <a:schemeClr val="tx1"/>
                </a:solidFill>
              </a:rPr>
              <a:t>(batch, channels, height, width). Most errors you'll hit today are shape errors, so print .shape when stuck!</a:t>
            </a:r>
            <a:endParaRPr lang="en-US" sz="1600" dirty="0"/>
          </a:p>
        </p:txBody>
      </p:sp>
      <p:sp>
        <p:nvSpPr>
          <p:cNvPr id="19" name="card-120"/>
          <p:cNvSpPr/>
          <p:nvPr/>
        </p:nvSpPr>
        <p:spPr>
          <a:xfrm>
            <a:off x="548640" y="3794760"/>
            <a:ext cx="3520440" cy="2240280"/>
          </a:xfrm>
          <a:prstGeom prst="roundRect">
            <a:avLst>
              <a:gd name="adj" fmla="val 4898"/>
            </a:avLst>
          </a:prstGeom>
          <a:solidFill>
            <a:schemeClr val="bg2"/>
          </a:solidFill>
          <a:ln w="12700">
            <a:solidFill>
              <a:schemeClr val="bg2"/>
            </a:solidFill>
            <a:prstDash val="solid"/>
          </a:ln>
        </p:spPr>
        <p:txBody>
          <a:bodyPr/>
          <a:lstStyle/>
          <a:p>
            <a:endParaRPr lang="en-GB"/>
          </a:p>
        </p:txBody>
      </p:sp>
      <p:sp>
        <p:nvSpPr>
          <p:cNvPr id="20" name="text-121"/>
          <p:cNvSpPr txBox="1"/>
          <p:nvPr/>
        </p:nvSpPr>
        <p:spPr>
          <a:xfrm>
            <a:off x="822960" y="3931920"/>
            <a:ext cx="3017520" cy="914400"/>
          </a:xfrm>
          <a:prstGeom prst="rect">
            <a:avLst/>
          </a:prstGeom>
          <a:noFill/>
          <a:ln/>
        </p:spPr>
        <p:txBody>
          <a:bodyPr wrap="square" lIns="0" tIns="0" rIns="0" bIns="0" rtlCol="0" anchor="t"/>
          <a:lstStyle/>
          <a:p>
            <a:pPr marL="0" indent="0">
              <a:buNone/>
            </a:pPr>
            <a:r>
              <a:rPr lang="en-US" sz="5400" b="1" dirty="0">
                <a:solidFill>
                  <a:schemeClr val="accent1"/>
                </a:solidFill>
                <a:latin typeface="Cambria" pitchFamily="34" charset="0"/>
                <a:ea typeface="Cambria" pitchFamily="34" charset="-122"/>
                <a:cs typeface="Cambria" pitchFamily="34" charset="-120"/>
              </a:rPr>
              <a:t>32</a:t>
            </a:r>
            <a:endParaRPr lang="en-US" sz="5400" dirty="0"/>
          </a:p>
        </p:txBody>
      </p:sp>
      <p:sp>
        <p:nvSpPr>
          <p:cNvPr id="21" name="text-122"/>
          <p:cNvSpPr txBox="1"/>
          <p:nvPr/>
        </p:nvSpPr>
        <p:spPr>
          <a:xfrm>
            <a:off x="822960" y="4846320"/>
            <a:ext cx="3017520" cy="365760"/>
          </a:xfrm>
          <a:prstGeom prst="rect">
            <a:avLst/>
          </a:prstGeom>
          <a:noFill/>
          <a:ln/>
        </p:spPr>
        <p:txBody>
          <a:bodyPr wrap="square" lIns="0" tIns="0" rIns="0" bIns="0" rtlCol="0" anchor="t"/>
          <a:lstStyle/>
          <a:p>
            <a:pPr marL="0" indent="0">
              <a:buNone/>
            </a:pPr>
            <a:r>
              <a:rPr lang="en-US" sz="1800" b="1" dirty="0">
                <a:solidFill>
                  <a:schemeClr val="tx1"/>
                </a:solidFill>
              </a:rPr>
              <a:t>images per batch</a:t>
            </a:r>
            <a:endParaRPr lang="en-US" sz="1800" dirty="0"/>
          </a:p>
        </p:txBody>
      </p:sp>
      <p:sp>
        <p:nvSpPr>
          <p:cNvPr id="22" name="text-123"/>
          <p:cNvSpPr txBox="1"/>
          <p:nvPr/>
        </p:nvSpPr>
        <p:spPr>
          <a:xfrm>
            <a:off x="822960" y="5212080"/>
            <a:ext cx="3017520" cy="731520"/>
          </a:xfrm>
          <a:prstGeom prst="rect">
            <a:avLst/>
          </a:prstGeom>
          <a:noFill/>
          <a:ln/>
        </p:spPr>
        <p:txBody>
          <a:bodyPr wrap="square" lIns="0" tIns="0" rIns="0" bIns="0" rtlCol="0" anchor="t"/>
          <a:lstStyle/>
          <a:p>
            <a:pPr marL="0" indent="0">
              <a:buNone/>
            </a:pPr>
            <a:r>
              <a:rPr lang="en-US" sz="1400" dirty="0">
                <a:solidFill>
                  <a:schemeClr val="tx1"/>
                </a:solidFill>
              </a:rPr>
              <a:t>the weights are updated once per batch</a:t>
            </a:r>
            <a:endParaRPr lang="en-US" sz="1400" dirty="0"/>
          </a:p>
        </p:txBody>
      </p:sp>
      <p:sp>
        <p:nvSpPr>
          <p:cNvPr id="23" name="card-124"/>
          <p:cNvSpPr/>
          <p:nvPr/>
        </p:nvSpPr>
        <p:spPr>
          <a:xfrm>
            <a:off x="4343400" y="3794760"/>
            <a:ext cx="3520440" cy="2240280"/>
          </a:xfrm>
          <a:prstGeom prst="roundRect">
            <a:avLst>
              <a:gd name="adj" fmla="val 4898"/>
            </a:avLst>
          </a:prstGeom>
          <a:solidFill>
            <a:schemeClr val="bg2"/>
          </a:solidFill>
          <a:ln w="12700">
            <a:solidFill>
              <a:schemeClr val="bg2"/>
            </a:solidFill>
            <a:prstDash val="solid"/>
          </a:ln>
        </p:spPr>
        <p:txBody>
          <a:bodyPr/>
          <a:lstStyle/>
          <a:p>
            <a:endParaRPr lang="en-GB"/>
          </a:p>
        </p:txBody>
      </p:sp>
      <p:sp>
        <p:nvSpPr>
          <p:cNvPr id="24" name="text-125"/>
          <p:cNvSpPr txBox="1"/>
          <p:nvPr/>
        </p:nvSpPr>
        <p:spPr>
          <a:xfrm>
            <a:off x="4617720" y="3931920"/>
            <a:ext cx="3017520" cy="914400"/>
          </a:xfrm>
          <a:prstGeom prst="rect">
            <a:avLst/>
          </a:prstGeom>
          <a:noFill/>
          <a:ln/>
        </p:spPr>
        <p:txBody>
          <a:bodyPr wrap="square" lIns="0" tIns="0" rIns="0" bIns="0" rtlCol="0" anchor="t"/>
          <a:lstStyle/>
          <a:p>
            <a:pPr marL="0" indent="0">
              <a:buNone/>
            </a:pPr>
            <a:r>
              <a:rPr lang="en-US" sz="5400" b="1" dirty="0">
                <a:solidFill>
                  <a:schemeClr val="accent1"/>
                </a:solidFill>
                <a:latin typeface="Cambria" pitchFamily="34" charset="0"/>
                <a:ea typeface="Cambria" pitchFamily="34" charset="-122"/>
                <a:cs typeface="Cambria" pitchFamily="34" charset="-120"/>
              </a:rPr>
              <a:t>32</a:t>
            </a:r>
            <a:endParaRPr lang="en-US" sz="5400" dirty="0"/>
          </a:p>
        </p:txBody>
      </p:sp>
      <p:sp>
        <p:nvSpPr>
          <p:cNvPr id="25" name="text-126"/>
          <p:cNvSpPr txBox="1"/>
          <p:nvPr/>
        </p:nvSpPr>
        <p:spPr>
          <a:xfrm>
            <a:off x="4617720" y="4846320"/>
            <a:ext cx="3017520" cy="365760"/>
          </a:xfrm>
          <a:prstGeom prst="rect">
            <a:avLst/>
          </a:prstGeom>
          <a:noFill/>
          <a:ln/>
        </p:spPr>
        <p:txBody>
          <a:bodyPr wrap="square" lIns="0" tIns="0" rIns="0" bIns="0" rtlCol="0" anchor="t"/>
          <a:lstStyle/>
          <a:p>
            <a:pPr marL="0" indent="0">
              <a:buNone/>
            </a:pPr>
            <a:r>
              <a:rPr lang="en-US" sz="1800" b="1" dirty="0">
                <a:solidFill>
                  <a:schemeClr val="tx1"/>
                </a:solidFill>
              </a:rPr>
              <a:t>batches per epoch</a:t>
            </a:r>
            <a:endParaRPr lang="en-US" sz="1800" dirty="0"/>
          </a:p>
        </p:txBody>
      </p:sp>
      <p:sp>
        <p:nvSpPr>
          <p:cNvPr id="26" name="text-127"/>
          <p:cNvSpPr txBox="1"/>
          <p:nvPr/>
        </p:nvSpPr>
        <p:spPr>
          <a:xfrm>
            <a:off x="4617720" y="5212080"/>
            <a:ext cx="3017520" cy="731520"/>
          </a:xfrm>
          <a:prstGeom prst="rect">
            <a:avLst/>
          </a:prstGeom>
          <a:noFill/>
          <a:ln/>
        </p:spPr>
        <p:txBody>
          <a:bodyPr wrap="square" lIns="0" tIns="0" rIns="0" bIns="0" rtlCol="0" anchor="t"/>
          <a:lstStyle/>
          <a:p>
            <a:pPr marL="0" indent="0">
              <a:buNone/>
            </a:pPr>
            <a:r>
              <a:rPr lang="en-US" sz="1400" dirty="0">
                <a:solidFill>
                  <a:schemeClr val="tx1"/>
                </a:solidFill>
              </a:rPr>
              <a:t>1000 images ÷ 32, rounded up (the last batch has 8)</a:t>
            </a:r>
            <a:endParaRPr lang="en-US" sz="1400" dirty="0"/>
          </a:p>
        </p:txBody>
      </p:sp>
      <p:sp>
        <p:nvSpPr>
          <p:cNvPr id="27" name="card-128"/>
          <p:cNvSpPr/>
          <p:nvPr/>
        </p:nvSpPr>
        <p:spPr>
          <a:xfrm>
            <a:off x="8138160" y="3794760"/>
            <a:ext cx="3520440" cy="2240280"/>
          </a:xfrm>
          <a:prstGeom prst="roundRect">
            <a:avLst>
              <a:gd name="adj" fmla="val 4898"/>
            </a:avLst>
          </a:prstGeom>
          <a:solidFill>
            <a:schemeClr val="bg2"/>
          </a:solidFill>
          <a:ln w="12700">
            <a:solidFill>
              <a:schemeClr val="bg2"/>
            </a:solidFill>
            <a:prstDash val="solid"/>
          </a:ln>
        </p:spPr>
        <p:txBody>
          <a:bodyPr/>
          <a:lstStyle/>
          <a:p>
            <a:endParaRPr lang="en-GB"/>
          </a:p>
        </p:txBody>
      </p:sp>
      <p:sp>
        <p:nvSpPr>
          <p:cNvPr id="28" name="text-129"/>
          <p:cNvSpPr txBox="1"/>
          <p:nvPr/>
        </p:nvSpPr>
        <p:spPr>
          <a:xfrm>
            <a:off x="8412480" y="3931920"/>
            <a:ext cx="3017520" cy="914400"/>
          </a:xfrm>
          <a:prstGeom prst="rect">
            <a:avLst/>
          </a:prstGeom>
          <a:noFill/>
          <a:ln/>
        </p:spPr>
        <p:txBody>
          <a:bodyPr wrap="square" lIns="0" tIns="0" rIns="0" bIns="0" rtlCol="0" anchor="t"/>
          <a:lstStyle/>
          <a:p>
            <a:pPr marL="0" indent="0">
              <a:buNone/>
            </a:pPr>
            <a:r>
              <a:rPr lang="en-US" sz="5400" b="1" dirty="0">
                <a:solidFill>
                  <a:schemeClr val="accent1"/>
                </a:solidFill>
                <a:latin typeface="Cambria" pitchFamily="34" charset="0"/>
                <a:ea typeface="Cambria" pitchFamily="34" charset="-122"/>
                <a:cs typeface="Cambria" pitchFamily="34" charset="-120"/>
              </a:rPr>
              <a:t>320</a:t>
            </a:r>
            <a:endParaRPr lang="en-US" sz="5400" dirty="0"/>
          </a:p>
        </p:txBody>
      </p:sp>
      <p:sp>
        <p:nvSpPr>
          <p:cNvPr id="29" name="text-130"/>
          <p:cNvSpPr txBox="1"/>
          <p:nvPr/>
        </p:nvSpPr>
        <p:spPr>
          <a:xfrm>
            <a:off x="8412480" y="4846320"/>
            <a:ext cx="3017520" cy="365760"/>
          </a:xfrm>
          <a:prstGeom prst="rect">
            <a:avLst/>
          </a:prstGeom>
          <a:noFill/>
          <a:ln/>
        </p:spPr>
        <p:txBody>
          <a:bodyPr wrap="square" lIns="0" tIns="0" rIns="0" bIns="0" rtlCol="0" anchor="t"/>
          <a:lstStyle/>
          <a:p>
            <a:pPr marL="0" indent="0">
              <a:buNone/>
            </a:pPr>
            <a:r>
              <a:rPr lang="en-US" sz="1800" b="1" dirty="0">
                <a:solidFill>
                  <a:schemeClr val="tx1"/>
                </a:solidFill>
              </a:rPr>
              <a:t>updates in total</a:t>
            </a:r>
            <a:endParaRPr lang="en-US" sz="1800" dirty="0"/>
          </a:p>
        </p:txBody>
      </p:sp>
      <p:sp>
        <p:nvSpPr>
          <p:cNvPr id="30" name="text-131"/>
          <p:cNvSpPr txBox="1"/>
          <p:nvPr/>
        </p:nvSpPr>
        <p:spPr>
          <a:xfrm>
            <a:off x="8412480" y="5212080"/>
            <a:ext cx="3017520" cy="731520"/>
          </a:xfrm>
          <a:prstGeom prst="rect">
            <a:avLst/>
          </a:prstGeom>
          <a:noFill/>
          <a:ln/>
        </p:spPr>
        <p:txBody>
          <a:bodyPr wrap="square" lIns="0" tIns="0" rIns="0" bIns="0" rtlCol="0" anchor="t"/>
          <a:lstStyle/>
          <a:p>
            <a:pPr marL="0" indent="0">
              <a:buNone/>
            </a:pPr>
            <a:r>
              <a:rPr lang="en-US" sz="1400" dirty="0">
                <a:solidFill>
                  <a:schemeClr val="tx1"/>
                </a:solidFill>
              </a:rPr>
              <a:t>10 epochs × 32 batches</a:t>
            </a:r>
            <a:endParaRPr lang="en-US" sz="14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2103120"/>
            <a:ext cx="10698480" cy="548640"/>
          </a:xfrm>
          <a:prstGeom prst="rect">
            <a:avLst/>
          </a:prstGeom>
          <a:noFill/>
          <a:ln/>
        </p:spPr>
        <p:txBody>
          <a:bodyPr wrap="square" rtlCol="0"/>
          <a:lstStyle/>
          <a:p>
            <a:pPr marL="0" indent="0" algn="l">
              <a:buNone/>
            </a:pPr>
            <a:r>
              <a:rPr lang="en-US" sz="2000" b="1" dirty="0">
                <a:solidFill>
                  <a:schemeClr val="bg2"/>
                </a:solidFill>
              </a:rPr>
              <a:t>PART 2</a:t>
            </a:r>
            <a:endParaRPr lang="en-US" sz="2000" dirty="0"/>
          </a:p>
        </p:txBody>
      </p:sp>
      <p:sp>
        <p:nvSpPr>
          <p:cNvPr id="3" name="Text 0"/>
          <p:cNvSpPr>
            <a:spLocks noGrp="1"/>
          </p:cNvSpPr>
          <p:nvPr>
            <p:ph type="title" idx="101" hasCustomPrompt="1"/>
          </p:nvPr>
        </p:nvSpPr>
        <p:spPr>
          <a:xfrm>
            <a:off x="731520" y="2651760"/>
            <a:ext cx="10698480" cy="1188720"/>
          </a:xfrm>
          <a:prstGeom prst="rect">
            <a:avLst/>
          </a:prstGeom>
          <a:noFill/>
          <a:ln/>
        </p:spPr>
        <p:txBody>
          <a:bodyPr wrap="square" rtlCol="0" anchor="t"/>
          <a:lstStyle/>
          <a:p>
            <a:pPr marL="0" indent="0" algn="l">
              <a:buNone/>
            </a:pPr>
            <a:r>
              <a:rPr lang="en-US" sz="4400" b="1" dirty="0">
                <a:solidFill>
                  <a:schemeClr val="bg1"/>
                </a:solidFill>
                <a:latin typeface="Cambria" pitchFamily="34" charset="0"/>
                <a:ea typeface="Cambria" pitchFamily="34" charset="-122"/>
                <a:cs typeface="Cambria" pitchFamily="34" charset="-120"/>
              </a:rPr>
              <a:t>How does a CNN see Wally?</a:t>
            </a:r>
            <a:endParaRPr lang="en-US" sz="4400" dirty="0"/>
          </a:p>
        </p:txBody>
      </p:sp>
      <p:sp>
        <p:nvSpPr>
          <p:cNvPr id="4" name="Text 0"/>
          <p:cNvSpPr>
            <a:spLocks noGrp="1"/>
          </p:cNvSpPr>
          <p:nvPr>
            <p:ph type="body" idx="102" hasCustomPrompt="1"/>
          </p:nvPr>
        </p:nvSpPr>
        <p:spPr>
          <a:xfrm>
            <a:off x="731520" y="3931920"/>
            <a:ext cx="9601200" cy="822960"/>
          </a:xfrm>
          <a:prstGeom prst="rect">
            <a:avLst/>
          </a:prstGeom>
          <a:noFill/>
          <a:ln/>
        </p:spPr>
        <p:txBody>
          <a:bodyPr wrap="square" rtlCol="0" anchor="t"/>
          <a:lstStyle/>
          <a:p>
            <a:pPr marL="0" indent="0" algn="l">
              <a:buNone/>
            </a:pPr>
            <a:r>
              <a:rPr lang="en-US" sz="2000" dirty="0">
                <a:solidFill>
                  <a:schemeClr val="bg1"/>
                </a:solidFill>
              </a:rPr>
              <a:t>Convolution, edges, padding, pooling, and one full layer</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Convolution: slide, multiply, add</a:t>
            </a:r>
            <a:endParaRPr lang="en-US" sz="3400" dirty="0"/>
          </a:p>
        </p:txBody>
      </p:sp>
      <p:pic>
        <p:nvPicPr>
          <p:cNvPr id="3" name="image-140" descr="A 5x5 shirt patch convolved with a 3x3 filter gives a 3x3 output"/>
          <p:cNvPicPr>
            <a:picLocks noChangeAspect="1"/>
          </p:cNvPicPr>
          <p:nvPr/>
        </p:nvPicPr>
        <p:blipFill>
          <a:blip r:embed="rId3"/>
          <a:stretch>
            <a:fillRect/>
          </a:stretch>
        </p:blipFill>
        <p:spPr>
          <a:xfrm>
            <a:off x="1558209" y="1280160"/>
            <a:ext cx="9045101" cy="3291840"/>
          </a:xfrm>
          <a:prstGeom prst="rect">
            <a:avLst/>
          </a:prstGeom>
        </p:spPr>
      </p:pic>
      <p:sp>
        <p:nvSpPr>
          <p:cNvPr id="4" name="num-141"/>
          <p:cNvSpPr/>
          <p:nvPr/>
        </p:nvSpPr>
        <p:spPr>
          <a:xfrm>
            <a:off x="548640" y="4800600"/>
            <a:ext cx="548640" cy="548640"/>
          </a:xfrm>
          <a:prstGeom prst="ellipse">
            <a:avLst/>
          </a:prstGeom>
          <a:solidFill>
            <a:schemeClr val="accent1"/>
          </a:solidFill>
          <a:ln w="12700">
            <a:solidFill>
              <a:schemeClr val="accent1"/>
            </a:solidFill>
            <a:prstDash val="solid"/>
          </a:ln>
        </p:spPr>
        <p:txBody>
          <a:bodyPr/>
          <a:lstStyle/>
          <a:p>
            <a:endParaRPr lang="en-GB"/>
          </a:p>
        </p:txBody>
      </p:sp>
      <p:sp>
        <p:nvSpPr>
          <p:cNvPr id="5" name="text-142"/>
          <p:cNvSpPr txBox="1"/>
          <p:nvPr/>
        </p:nvSpPr>
        <p:spPr>
          <a:xfrm>
            <a:off x="548640" y="48006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6" name="text-143"/>
          <p:cNvSpPr txBox="1"/>
          <p:nvPr/>
        </p:nvSpPr>
        <p:spPr>
          <a:xfrm>
            <a:off x="1280160" y="4800600"/>
            <a:ext cx="2834640" cy="411480"/>
          </a:xfrm>
          <a:prstGeom prst="rect">
            <a:avLst/>
          </a:prstGeom>
          <a:noFill/>
          <a:ln/>
        </p:spPr>
        <p:txBody>
          <a:bodyPr wrap="square" lIns="0" tIns="0" rIns="0" bIns="0" rtlCol="0" anchor="t"/>
          <a:lstStyle/>
          <a:p>
            <a:pPr marL="0" indent="0">
              <a:buNone/>
            </a:pPr>
            <a:r>
              <a:rPr lang="en-US" sz="1800" b="1" dirty="0">
                <a:solidFill>
                  <a:schemeClr val="tx1"/>
                </a:solidFill>
              </a:rPr>
              <a:t>Place</a:t>
            </a:r>
            <a:endParaRPr lang="en-US" sz="1800" dirty="0"/>
          </a:p>
        </p:txBody>
      </p:sp>
      <p:sp>
        <p:nvSpPr>
          <p:cNvPr id="7" name="text-144"/>
          <p:cNvSpPr txBox="1"/>
          <p:nvPr/>
        </p:nvSpPr>
        <p:spPr>
          <a:xfrm>
            <a:off x="1280160" y="5212080"/>
            <a:ext cx="2834640" cy="1005840"/>
          </a:xfrm>
          <a:prstGeom prst="rect">
            <a:avLst/>
          </a:prstGeom>
          <a:noFill/>
          <a:ln/>
        </p:spPr>
        <p:txBody>
          <a:bodyPr wrap="square" lIns="0" tIns="0" rIns="0" bIns="0" rtlCol="0" anchor="t"/>
          <a:lstStyle/>
          <a:p>
            <a:pPr marL="0" indent="0">
              <a:buNone/>
            </a:pPr>
            <a:r>
              <a:rPr lang="en-US" sz="1400" dirty="0">
                <a:solidFill>
                  <a:schemeClr val="tx1"/>
                </a:solidFill>
              </a:rPr>
              <a:t>Put the 3×3 filter on a 3×3 patch of the picture (gold square).</a:t>
            </a:r>
            <a:endParaRPr lang="en-US" sz="1400" dirty="0"/>
          </a:p>
        </p:txBody>
      </p:sp>
      <p:sp>
        <p:nvSpPr>
          <p:cNvPr id="8" name="num-145"/>
          <p:cNvSpPr/>
          <p:nvPr/>
        </p:nvSpPr>
        <p:spPr>
          <a:xfrm>
            <a:off x="4343400" y="4800600"/>
            <a:ext cx="548640" cy="548640"/>
          </a:xfrm>
          <a:prstGeom prst="ellipse">
            <a:avLst/>
          </a:prstGeom>
          <a:solidFill>
            <a:schemeClr val="accent1"/>
          </a:solidFill>
          <a:ln w="12700">
            <a:solidFill>
              <a:schemeClr val="accent1"/>
            </a:solidFill>
            <a:prstDash val="solid"/>
          </a:ln>
        </p:spPr>
        <p:txBody>
          <a:bodyPr/>
          <a:lstStyle/>
          <a:p>
            <a:endParaRPr lang="en-GB"/>
          </a:p>
        </p:txBody>
      </p:sp>
      <p:sp>
        <p:nvSpPr>
          <p:cNvPr id="9" name="text-146"/>
          <p:cNvSpPr txBox="1"/>
          <p:nvPr/>
        </p:nvSpPr>
        <p:spPr>
          <a:xfrm>
            <a:off x="4343400" y="48006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0" name="text-147"/>
          <p:cNvSpPr txBox="1"/>
          <p:nvPr/>
        </p:nvSpPr>
        <p:spPr>
          <a:xfrm>
            <a:off x="5074920" y="4800600"/>
            <a:ext cx="2834640" cy="411480"/>
          </a:xfrm>
          <a:prstGeom prst="rect">
            <a:avLst/>
          </a:prstGeom>
          <a:noFill/>
          <a:ln/>
        </p:spPr>
        <p:txBody>
          <a:bodyPr wrap="square" lIns="0" tIns="0" rIns="0" bIns="0" rtlCol="0" anchor="t"/>
          <a:lstStyle/>
          <a:p>
            <a:pPr marL="0" indent="0">
              <a:buNone/>
            </a:pPr>
            <a:r>
              <a:rPr lang="en-US" sz="1800" b="1" dirty="0">
                <a:solidFill>
                  <a:schemeClr val="tx1"/>
                </a:solidFill>
              </a:rPr>
              <a:t>Multiply and add</a:t>
            </a:r>
            <a:endParaRPr lang="en-US" sz="1800" dirty="0"/>
          </a:p>
        </p:txBody>
      </p:sp>
      <p:sp>
        <p:nvSpPr>
          <p:cNvPr id="11" name="text-148"/>
          <p:cNvSpPr txBox="1"/>
          <p:nvPr/>
        </p:nvSpPr>
        <p:spPr>
          <a:xfrm>
            <a:off x="5074920" y="5212080"/>
            <a:ext cx="2834640" cy="1005840"/>
          </a:xfrm>
          <a:prstGeom prst="rect">
            <a:avLst/>
          </a:prstGeom>
          <a:noFill/>
          <a:ln/>
        </p:spPr>
        <p:txBody>
          <a:bodyPr wrap="square" lIns="0" tIns="0" rIns="0" bIns="0" rtlCol="0" anchor="t"/>
          <a:lstStyle/>
          <a:p>
            <a:pPr marL="0" indent="0">
              <a:buNone/>
            </a:pPr>
            <a:r>
              <a:rPr lang="en-US" sz="1400" dirty="0">
                <a:solidFill>
                  <a:schemeClr val="tx1"/>
                </a:solidFill>
              </a:rPr>
              <a:t>Multiply each pixel by the filter number on top of it, then add all 9 up. That gives ONE number.</a:t>
            </a:r>
            <a:endParaRPr lang="en-US" sz="1400" dirty="0"/>
          </a:p>
        </p:txBody>
      </p:sp>
      <p:sp>
        <p:nvSpPr>
          <p:cNvPr id="12" name="num-149"/>
          <p:cNvSpPr/>
          <p:nvPr/>
        </p:nvSpPr>
        <p:spPr>
          <a:xfrm>
            <a:off x="8138160" y="4800600"/>
            <a:ext cx="548640" cy="548640"/>
          </a:xfrm>
          <a:prstGeom prst="ellipse">
            <a:avLst/>
          </a:prstGeom>
          <a:solidFill>
            <a:schemeClr val="accent1"/>
          </a:solidFill>
          <a:ln w="12700">
            <a:solidFill>
              <a:schemeClr val="accent1"/>
            </a:solidFill>
            <a:prstDash val="solid"/>
          </a:ln>
        </p:spPr>
        <p:txBody>
          <a:bodyPr/>
          <a:lstStyle/>
          <a:p>
            <a:endParaRPr lang="en-GB"/>
          </a:p>
        </p:txBody>
      </p:sp>
      <p:sp>
        <p:nvSpPr>
          <p:cNvPr id="13" name="text-150"/>
          <p:cNvSpPr txBox="1"/>
          <p:nvPr/>
        </p:nvSpPr>
        <p:spPr>
          <a:xfrm>
            <a:off x="8138160" y="48006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4" name="text-151"/>
          <p:cNvSpPr txBox="1"/>
          <p:nvPr/>
        </p:nvSpPr>
        <p:spPr>
          <a:xfrm>
            <a:off x="8869680" y="4800600"/>
            <a:ext cx="2834640" cy="411480"/>
          </a:xfrm>
          <a:prstGeom prst="rect">
            <a:avLst/>
          </a:prstGeom>
          <a:noFill/>
          <a:ln/>
        </p:spPr>
        <p:txBody>
          <a:bodyPr wrap="square" lIns="0" tIns="0" rIns="0" bIns="0" rtlCol="0" anchor="t"/>
          <a:lstStyle/>
          <a:p>
            <a:pPr marL="0" indent="0">
              <a:buNone/>
            </a:pPr>
            <a:r>
              <a:rPr lang="en-US" sz="1800" b="1" dirty="0">
                <a:solidFill>
                  <a:schemeClr val="tx1"/>
                </a:solidFill>
              </a:rPr>
              <a:t>Slide</a:t>
            </a:r>
            <a:endParaRPr lang="en-US" sz="1800" dirty="0"/>
          </a:p>
        </p:txBody>
      </p:sp>
      <p:sp>
        <p:nvSpPr>
          <p:cNvPr id="15" name="text-152"/>
          <p:cNvSpPr txBox="1"/>
          <p:nvPr/>
        </p:nvSpPr>
        <p:spPr>
          <a:xfrm>
            <a:off x="8869680" y="5212080"/>
            <a:ext cx="2834640" cy="1005840"/>
          </a:xfrm>
          <a:prstGeom prst="rect">
            <a:avLst/>
          </a:prstGeom>
          <a:noFill/>
          <a:ln/>
        </p:spPr>
        <p:txBody>
          <a:bodyPr wrap="square" lIns="0" tIns="0" rIns="0" bIns="0" rtlCol="0" anchor="t"/>
          <a:lstStyle/>
          <a:p>
            <a:pPr marL="0" indent="0">
              <a:buNone/>
            </a:pPr>
            <a:r>
              <a:rPr lang="en-US" sz="1400" dirty="0">
                <a:solidFill>
                  <a:schemeClr val="tx1"/>
                </a:solidFill>
              </a:rPr>
              <a:t>Move one pixel along and repeat. All the numbers together make a new grid: a feature map.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Horizontal and vertical edge detectors on Wally</a:t>
            </a:r>
            <a:endParaRPr lang="en-US" sz="3400" dirty="0"/>
          </a:p>
        </p:txBody>
      </p:sp>
      <p:pic>
        <p:nvPicPr>
          <p:cNvPr id="3" name="image-153" descr="Wally waving"/>
          <p:cNvPicPr>
            <a:picLocks noChangeAspect="1"/>
          </p:cNvPicPr>
          <p:nvPr/>
        </p:nvPicPr>
        <p:blipFill>
          <a:blip r:embed="rId3"/>
          <a:stretch>
            <a:fillRect/>
          </a:stretch>
        </p:blipFill>
        <p:spPr>
          <a:xfrm>
            <a:off x="597705" y="1600200"/>
            <a:ext cx="2919389" cy="3017520"/>
          </a:xfrm>
          <a:prstGeom prst="rect">
            <a:avLst/>
          </a:prstGeom>
        </p:spPr>
      </p:pic>
      <p:sp>
        <p:nvSpPr>
          <p:cNvPr id="4" name="text-154"/>
          <p:cNvSpPr txBox="1"/>
          <p:nvPr/>
        </p:nvSpPr>
        <p:spPr>
          <a:xfrm>
            <a:off x="548640" y="4709160"/>
            <a:ext cx="3017520" cy="365760"/>
          </a:xfrm>
          <a:prstGeom prst="rect">
            <a:avLst/>
          </a:prstGeom>
          <a:noFill/>
          <a:ln/>
        </p:spPr>
        <p:txBody>
          <a:bodyPr wrap="square" lIns="0" tIns="0" rIns="0" bIns="0" rtlCol="0" anchor="t"/>
          <a:lstStyle/>
          <a:p>
            <a:pPr marL="0" indent="0" algn="ctr">
              <a:buNone/>
            </a:pPr>
            <a:r>
              <a:rPr lang="en-US" sz="1600" b="1" dirty="0">
                <a:solidFill>
                  <a:schemeClr val="tx1"/>
                </a:solidFill>
              </a:rPr>
              <a:t>input</a:t>
            </a:r>
            <a:endParaRPr lang="en-US" sz="1600" dirty="0"/>
          </a:p>
        </p:txBody>
      </p:sp>
      <p:pic>
        <p:nvPicPr>
          <p:cNvPr id="5" name="image-155" descr="Horizontal edge filter: 1s on top, -1s at bottom"/>
          <p:cNvPicPr>
            <a:picLocks noChangeAspect="1"/>
          </p:cNvPicPr>
          <p:nvPr/>
        </p:nvPicPr>
        <p:blipFill>
          <a:blip r:embed="rId4"/>
          <a:stretch>
            <a:fillRect/>
          </a:stretch>
        </p:blipFill>
        <p:spPr>
          <a:xfrm>
            <a:off x="3977640" y="2057400"/>
            <a:ext cx="1371600" cy="1371600"/>
          </a:xfrm>
          <a:prstGeom prst="rect">
            <a:avLst/>
          </a:prstGeom>
        </p:spPr>
      </p:pic>
      <p:pic>
        <p:nvPicPr>
          <p:cNvPr id="6" name="image-156" descr="Horizontal edge map: the shirt stripes light up"/>
          <p:cNvPicPr>
            <a:picLocks noChangeAspect="1"/>
          </p:cNvPicPr>
          <p:nvPr/>
        </p:nvPicPr>
        <p:blipFill>
          <a:blip r:embed="rId5"/>
          <a:stretch>
            <a:fillRect/>
          </a:stretch>
        </p:blipFill>
        <p:spPr>
          <a:xfrm>
            <a:off x="5532120" y="1729821"/>
            <a:ext cx="2651760" cy="2758279"/>
          </a:xfrm>
          <a:prstGeom prst="rect">
            <a:avLst/>
          </a:prstGeom>
        </p:spPr>
      </p:pic>
      <p:sp>
        <p:nvSpPr>
          <p:cNvPr id="7" name="text-157"/>
          <p:cNvSpPr txBox="1"/>
          <p:nvPr/>
        </p:nvSpPr>
        <p:spPr>
          <a:xfrm>
            <a:off x="3977640" y="4709160"/>
            <a:ext cx="4206240" cy="365760"/>
          </a:xfrm>
          <a:prstGeom prst="rect">
            <a:avLst/>
          </a:prstGeom>
          <a:noFill/>
          <a:ln/>
        </p:spPr>
        <p:txBody>
          <a:bodyPr wrap="square" lIns="0" tIns="0" rIns="0" bIns="0" rtlCol="0" anchor="t"/>
          <a:lstStyle/>
          <a:p>
            <a:pPr marL="0" indent="0" algn="ctr">
              <a:buNone/>
            </a:pPr>
            <a:r>
              <a:rPr lang="en-US" sz="1600" b="1" dirty="0">
                <a:solidFill>
                  <a:schemeClr val="accent2"/>
                </a:solidFill>
              </a:rPr>
              <a:t>horizontal-edge filter</a:t>
            </a:r>
            <a:endParaRPr lang="en-US" sz="1600" dirty="0"/>
          </a:p>
        </p:txBody>
      </p:sp>
      <p:sp>
        <p:nvSpPr>
          <p:cNvPr id="8" name="text-158"/>
          <p:cNvSpPr txBox="1"/>
          <p:nvPr/>
        </p:nvSpPr>
        <p:spPr>
          <a:xfrm>
            <a:off x="3977640" y="5074920"/>
            <a:ext cx="4206240" cy="365760"/>
          </a:xfrm>
          <a:prstGeom prst="rect">
            <a:avLst/>
          </a:prstGeom>
          <a:noFill/>
          <a:ln/>
        </p:spPr>
        <p:txBody>
          <a:bodyPr wrap="square" lIns="0" tIns="0" rIns="0" bIns="0" rtlCol="0" anchor="t"/>
          <a:lstStyle/>
          <a:p>
            <a:pPr marL="0" indent="0" algn="ctr">
              <a:buNone/>
            </a:pPr>
            <a:r>
              <a:rPr lang="en-US" sz="1400" dirty="0">
                <a:solidFill>
                  <a:schemeClr val="tx1"/>
                </a:solidFill>
              </a:rPr>
              <a:t>the stripes on his shirt light up</a:t>
            </a:r>
            <a:endParaRPr lang="en-US" sz="1400" dirty="0"/>
          </a:p>
        </p:txBody>
      </p:sp>
      <p:pic>
        <p:nvPicPr>
          <p:cNvPr id="9" name="image-159" descr="Vertical edge filter: 1s on the left, -1s on the right"/>
          <p:cNvPicPr>
            <a:picLocks noChangeAspect="1"/>
          </p:cNvPicPr>
          <p:nvPr/>
        </p:nvPicPr>
        <p:blipFill>
          <a:blip r:embed="rId6"/>
          <a:stretch>
            <a:fillRect/>
          </a:stretch>
        </p:blipFill>
        <p:spPr>
          <a:xfrm>
            <a:off x="8321040" y="2057400"/>
            <a:ext cx="1371600" cy="1371600"/>
          </a:xfrm>
          <a:prstGeom prst="rect">
            <a:avLst/>
          </a:prstGeom>
        </p:spPr>
      </p:pic>
      <p:pic>
        <p:nvPicPr>
          <p:cNvPr id="10" name="image-160" descr="Vertical edge map: the outline of his arm and body light up"/>
          <p:cNvPicPr>
            <a:picLocks noChangeAspect="1"/>
          </p:cNvPicPr>
          <p:nvPr/>
        </p:nvPicPr>
        <p:blipFill>
          <a:blip r:embed="rId7"/>
          <a:stretch>
            <a:fillRect/>
          </a:stretch>
        </p:blipFill>
        <p:spPr>
          <a:xfrm>
            <a:off x="9875520" y="2181608"/>
            <a:ext cx="1783080" cy="1854705"/>
          </a:xfrm>
          <a:prstGeom prst="rect">
            <a:avLst/>
          </a:prstGeom>
        </p:spPr>
      </p:pic>
      <p:sp>
        <p:nvSpPr>
          <p:cNvPr id="11" name="text-161"/>
          <p:cNvSpPr txBox="1"/>
          <p:nvPr/>
        </p:nvSpPr>
        <p:spPr>
          <a:xfrm>
            <a:off x="8321040" y="4709160"/>
            <a:ext cx="3291840" cy="365760"/>
          </a:xfrm>
          <a:prstGeom prst="rect">
            <a:avLst/>
          </a:prstGeom>
          <a:noFill/>
          <a:ln/>
        </p:spPr>
        <p:txBody>
          <a:bodyPr wrap="square" lIns="0" tIns="0" rIns="0" bIns="0" rtlCol="0" anchor="t"/>
          <a:lstStyle/>
          <a:p>
            <a:pPr marL="0" indent="0" algn="ctr">
              <a:buNone/>
            </a:pPr>
            <a:r>
              <a:rPr lang="en-US" sz="1600" b="1" dirty="0">
                <a:solidFill>
                  <a:schemeClr val="accent2"/>
                </a:solidFill>
              </a:rPr>
              <a:t>vertical-edge filter</a:t>
            </a:r>
            <a:endParaRPr lang="en-US" sz="1600" dirty="0"/>
          </a:p>
        </p:txBody>
      </p:sp>
      <p:sp>
        <p:nvSpPr>
          <p:cNvPr id="12" name="text-162"/>
          <p:cNvSpPr txBox="1"/>
          <p:nvPr/>
        </p:nvSpPr>
        <p:spPr>
          <a:xfrm>
            <a:off x="8321040" y="5074920"/>
            <a:ext cx="3291840" cy="365760"/>
          </a:xfrm>
          <a:prstGeom prst="rect">
            <a:avLst/>
          </a:prstGeom>
          <a:noFill/>
          <a:ln/>
        </p:spPr>
        <p:txBody>
          <a:bodyPr wrap="square" lIns="0" tIns="0" rIns="0" bIns="0" rtlCol="0" anchor="t"/>
          <a:lstStyle/>
          <a:p>
            <a:pPr marL="0" indent="0" algn="ctr">
              <a:buNone/>
            </a:pPr>
            <a:r>
              <a:rPr lang="en-US" sz="1400" dirty="0">
                <a:solidFill>
                  <a:schemeClr val="tx1"/>
                </a:solidFill>
              </a:rPr>
              <a:t>the sides of his arm and face light up</a:t>
            </a:r>
            <a:endParaRPr lang="en-US" sz="1400" dirty="0"/>
          </a:p>
        </p:txBody>
      </p:sp>
      <p:sp>
        <p:nvSpPr>
          <p:cNvPr id="13" name="text-163"/>
          <p:cNvSpPr txBox="1"/>
          <p:nvPr/>
        </p:nvSpPr>
        <p:spPr>
          <a:xfrm>
            <a:off x="548640" y="5623560"/>
            <a:ext cx="11064240" cy="548640"/>
          </a:xfrm>
          <a:prstGeom prst="rect">
            <a:avLst/>
          </a:prstGeom>
          <a:noFill/>
          <a:ln/>
        </p:spPr>
        <p:txBody>
          <a:bodyPr wrap="square" lIns="0" tIns="0" rIns="0" bIns="0" rtlCol="0" anchor="t"/>
          <a:lstStyle/>
          <a:p>
            <a:pPr marL="0" indent="0">
              <a:buNone/>
            </a:pPr>
            <a:r>
              <a:rPr lang="en-US" sz="1600" i="1" dirty="0">
                <a:solidFill>
                  <a:schemeClr val="tx1"/>
                </a:solidFill>
              </a:rPr>
              <a:t>Bright = strong response. Same picture, different filter, different pattern found. In a CNN, nobody writes these filters by hand: the model learns them.</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Padding: keeping Wally at the edge in view</a:t>
            </a:r>
            <a:endParaRPr lang="en-US" sz="3400" dirty="0"/>
          </a:p>
        </p:txBody>
      </p:sp>
      <p:pic>
        <p:nvPicPr>
          <p:cNvPr id="3" name="image-164" descr="Without padding a 5x5 grid becomes 3x3; with a border of zeros it stays 5x5"/>
          <p:cNvPicPr>
            <a:picLocks noChangeAspect="1"/>
          </p:cNvPicPr>
          <p:nvPr/>
        </p:nvPicPr>
        <p:blipFill>
          <a:blip r:embed="rId3"/>
          <a:stretch>
            <a:fillRect/>
          </a:stretch>
        </p:blipFill>
        <p:spPr>
          <a:xfrm>
            <a:off x="548640" y="1493936"/>
            <a:ext cx="6949440" cy="3687249"/>
          </a:xfrm>
          <a:prstGeom prst="rect">
            <a:avLst/>
          </a:prstGeom>
        </p:spPr>
      </p:pic>
      <p:sp>
        <p:nvSpPr>
          <p:cNvPr id="4" name="card-165"/>
          <p:cNvSpPr/>
          <p:nvPr/>
        </p:nvSpPr>
        <p:spPr>
          <a:xfrm>
            <a:off x="7863840" y="1463040"/>
            <a:ext cx="3749040" cy="4297680"/>
          </a:xfrm>
          <a:prstGeom prst="roundRect">
            <a:avLst>
              <a:gd name="adj" fmla="val 2927"/>
            </a:avLst>
          </a:prstGeom>
          <a:solidFill>
            <a:schemeClr val="bg2"/>
          </a:solidFill>
          <a:ln w="12700">
            <a:solidFill>
              <a:schemeClr val="bg2"/>
            </a:solidFill>
            <a:prstDash val="solid"/>
          </a:ln>
        </p:spPr>
        <p:txBody>
          <a:bodyPr/>
          <a:lstStyle/>
          <a:p>
            <a:endParaRPr lang="en-GB"/>
          </a:p>
        </p:txBody>
      </p:sp>
      <p:sp>
        <p:nvSpPr>
          <p:cNvPr id="5" name="text-166"/>
          <p:cNvSpPr txBox="1"/>
          <p:nvPr/>
        </p:nvSpPr>
        <p:spPr>
          <a:xfrm>
            <a:off x="8092440" y="1691640"/>
            <a:ext cx="3291840" cy="3931920"/>
          </a:xfrm>
          <a:prstGeom prst="rect">
            <a:avLst/>
          </a:prstGeom>
          <a:noFill/>
          <a:ln/>
        </p:spPr>
        <p:txBody>
          <a:bodyPr wrap="square" lIns="0" tIns="0" rIns="0" bIns="0" rtlCol="0" anchor="t"/>
          <a:lstStyle/>
          <a:p>
            <a:pPr marL="342900" indent="-342900">
              <a:buSzPct val="100000"/>
              <a:buChar char="•"/>
            </a:pPr>
            <a:r>
              <a:rPr lang="en-US" sz="1600" b="1" dirty="0">
                <a:solidFill>
                  <a:schemeClr val="tx1"/>
                </a:solidFill>
              </a:rPr>
              <a:t>The filter makes one number </a:t>
            </a:r>
            <a:r>
              <a:rPr lang="en-US" sz="1600" dirty="0">
                <a:solidFill>
                  <a:schemeClr val="tx1"/>
                </a:solidFill>
              </a:rPr>
              <a:t>for each position it can be centred on</a:t>
            </a:r>
            <a:endParaRPr lang="en-US" sz="1600" dirty="0"/>
          </a:p>
          <a:p>
            <a:pPr marL="342900" indent="-342900">
              <a:buSzPct val="100000"/>
              <a:buChar char="•"/>
            </a:pPr>
            <a:r>
              <a:rPr lang="en-US" sz="1600" b="1" dirty="0">
                <a:solidFill>
                  <a:schemeClr val="tx1"/>
                </a:solidFill>
              </a:rPr>
              <a:t>Without padding </a:t>
            </a:r>
            <a:r>
              <a:rPr lang="en-US" sz="1600" dirty="0">
                <a:solidFill>
                  <a:schemeClr val="tx1"/>
                </a:solidFill>
              </a:rPr>
              <a:t>it can't sit on the edge pixels: 256 → 254, and Wally at the very edge gets ignored</a:t>
            </a:r>
            <a:endParaRPr lang="en-US" sz="1600" dirty="0"/>
          </a:p>
          <a:p>
            <a:pPr marL="342900" indent="-342900">
              <a:buSzPct val="100000"/>
              <a:buChar char="•"/>
            </a:pPr>
            <a:r>
              <a:rPr lang="en-US" sz="1600" b="1" dirty="0">
                <a:solidFill>
                  <a:schemeClr val="tx1"/>
                </a:solidFill>
              </a:rPr>
              <a:t>padding = 1 </a:t>
            </a:r>
            <a:r>
              <a:rPr lang="en-US" sz="1600" dirty="0">
                <a:solidFill>
                  <a:schemeClr val="tx1"/>
                </a:solidFill>
              </a:rPr>
              <a:t>adds a border of zeros, so 256 → 256 and every pixel gets a turn</a:t>
            </a:r>
            <a:endParaRPr lang="en-US" sz="1600" dirty="0"/>
          </a:p>
        </p:txBody>
      </p:sp>
      <p:sp>
        <p:nvSpPr>
          <p:cNvPr id="6" name="text-167"/>
          <p:cNvSpPr txBox="1"/>
          <p:nvPr/>
        </p:nvSpPr>
        <p:spPr>
          <a:xfrm>
            <a:off x="548640" y="5623560"/>
            <a:ext cx="6949440" cy="411480"/>
          </a:xfrm>
          <a:prstGeom prst="rect">
            <a:avLst/>
          </a:prstGeom>
          <a:noFill/>
          <a:ln/>
        </p:spPr>
        <p:txBody>
          <a:bodyPr wrap="square" lIns="0" tIns="0" rIns="0" bIns="0" rtlCol="0" anchor="t"/>
          <a:lstStyle/>
          <a:p>
            <a:pPr marL="0" indent="0">
              <a:buNone/>
            </a:pPr>
            <a:r>
              <a:rPr lang="en-US" sz="1600" b="1" dirty="0">
                <a:solidFill>
                  <a:schemeClr val="accent2"/>
                </a:solidFill>
                <a:latin typeface="Courier New" pitchFamily="34" charset="0"/>
                <a:ea typeface="Courier New" pitchFamily="34" charset="-122"/>
                <a:cs typeface="Courier New" pitchFamily="34" charset="-120"/>
              </a:rPr>
              <a:t>nn.Conv2d(3, 16, kernel_size = 3, padding = 1)</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Many filters, many channels</a:t>
            </a:r>
            <a:endParaRPr lang="en-US" sz="3400" dirty="0"/>
          </a:p>
        </p:txBody>
      </p:sp>
      <p:pic>
        <p:nvPicPr>
          <p:cNvPr id="3" name="image-168" descr="Wally and four feature maps: red here, horizontal edges, vertical edges, dark here"/>
          <p:cNvPicPr>
            <a:picLocks noChangeAspect="1"/>
          </p:cNvPicPr>
          <p:nvPr/>
        </p:nvPicPr>
        <p:blipFill>
          <a:blip r:embed="rId3"/>
          <a:stretch>
            <a:fillRect/>
          </a:stretch>
        </p:blipFill>
        <p:spPr>
          <a:xfrm>
            <a:off x="548640" y="1345019"/>
            <a:ext cx="11064240" cy="2339163"/>
          </a:xfrm>
          <a:prstGeom prst="rect">
            <a:avLst/>
          </a:prstGeom>
        </p:spPr>
      </p:pic>
      <p:sp>
        <p:nvSpPr>
          <p:cNvPr id="4" name="card-169"/>
          <p:cNvSpPr/>
          <p:nvPr/>
        </p:nvSpPr>
        <p:spPr>
          <a:xfrm>
            <a:off x="548640" y="3931920"/>
            <a:ext cx="5394960" cy="2148840"/>
          </a:xfrm>
          <a:prstGeom prst="roundRect">
            <a:avLst>
              <a:gd name="adj" fmla="val 5106"/>
            </a:avLst>
          </a:prstGeom>
          <a:solidFill>
            <a:schemeClr val="bg2"/>
          </a:solidFill>
          <a:ln w="12700">
            <a:solidFill>
              <a:schemeClr val="bg2"/>
            </a:solidFill>
            <a:prstDash val="solid"/>
          </a:ln>
        </p:spPr>
        <p:txBody>
          <a:bodyPr/>
          <a:lstStyle/>
          <a:p>
            <a:endParaRPr lang="en-GB"/>
          </a:p>
        </p:txBody>
      </p:sp>
      <p:sp>
        <p:nvSpPr>
          <p:cNvPr id="5" name="text-170"/>
          <p:cNvSpPr txBox="1"/>
          <p:nvPr/>
        </p:nvSpPr>
        <p:spPr>
          <a:xfrm>
            <a:off x="777240" y="4069080"/>
            <a:ext cx="5029200" cy="411480"/>
          </a:xfrm>
          <a:prstGeom prst="rect">
            <a:avLst/>
          </a:prstGeom>
          <a:noFill/>
          <a:ln/>
        </p:spPr>
        <p:txBody>
          <a:bodyPr wrap="square" lIns="0" tIns="0" rIns="0" bIns="0" rtlCol="0" anchor="t"/>
          <a:lstStyle/>
          <a:p>
            <a:pPr marL="0" indent="0">
              <a:buNone/>
            </a:pPr>
            <a:r>
              <a:rPr lang="en-US" sz="1600" b="1" dirty="0">
                <a:solidFill>
                  <a:schemeClr val="accent2"/>
                </a:solidFill>
                <a:latin typeface="Courier New" pitchFamily="34" charset="0"/>
                <a:ea typeface="Courier New" pitchFamily="34" charset="-122"/>
                <a:cs typeface="Courier New" pitchFamily="34" charset="-120"/>
              </a:rPr>
              <a:t>nn.Conv2d(3, 16, kernel_size = 3)</a:t>
            </a:r>
            <a:endParaRPr lang="en-US" sz="1600" dirty="0"/>
          </a:p>
        </p:txBody>
      </p:sp>
      <p:sp>
        <p:nvSpPr>
          <p:cNvPr id="6" name="text-171"/>
          <p:cNvSpPr txBox="1"/>
          <p:nvPr/>
        </p:nvSpPr>
        <p:spPr>
          <a:xfrm>
            <a:off x="777240" y="4526280"/>
            <a:ext cx="5029200" cy="1463040"/>
          </a:xfrm>
          <a:prstGeom prst="rect">
            <a:avLst/>
          </a:prstGeom>
          <a:noFill/>
          <a:ln/>
        </p:spPr>
        <p:txBody>
          <a:bodyPr wrap="square" lIns="0" tIns="0" rIns="0" bIns="0" rtlCol="0" anchor="t"/>
          <a:lstStyle/>
          <a:p>
            <a:pPr marL="342900" indent="-342900">
              <a:buSzPct val="100000"/>
              <a:buChar char="•"/>
            </a:pPr>
            <a:r>
              <a:rPr lang="en-US" sz="1500" b="1" dirty="0">
                <a:solidFill>
                  <a:schemeClr val="tx1"/>
                </a:solidFill>
              </a:rPr>
              <a:t>3 in: </a:t>
            </a:r>
            <a:r>
              <a:rPr lang="en-US" sz="1500" dirty="0">
                <a:solidFill>
                  <a:schemeClr val="tx1"/>
                </a:solidFill>
              </a:rPr>
              <a:t>red, green and blue</a:t>
            </a:r>
            <a:endParaRPr lang="en-US" sz="1500" dirty="0"/>
          </a:p>
          <a:p>
            <a:pPr marL="342900" indent="-342900">
              <a:buSzPct val="100000"/>
              <a:buChar char="•"/>
            </a:pPr>
            <a:r>
              <a:rPr lang="en-US" sz="1500" b="1" dirty="0">
                <a:solidFill>
                  <a:schemeClr val="tx1"/>
                </a:solidFill>
              </a:rPr>
              <a:t>16 out: </a:t>
            </a:r>
            <a:r>
              <a:rPr lang="en-US" sz="1500" dirty="0">
                <a:solidFill>
                  <a:schemeClr val="tx1"/>
                </a:solidFill>
              </a:rPr>
              <a:t>16 different filters, each making its own map (a channel)</a:t>
            </a:r>
            <a:endParaRPr lang="en-US" sz="1500" dirty="0"/>
          </a:p>
          <a:p>
            <a:pPr marL="342900" indent="-342900">
              <a:buSzPct val="100000"/>
              <a:buChar char="•"/>
            </a:pPr>
            <a:r>
              <a:rPr lang="en-US" sz="1500" b="1" dirty="0">
                <a:solidFill>
                  <a:schemeClr val="tx1"/>
                </a:solidFill>
              </a:rPr>
              <a:t>each filter </a:t>
            </a:r>
            <a:r>
              <a:rPr lang="en-US" sz="1500" dirty="0">
                <a:solidFill>
                  <a:schemeClr val="tx1"/>
                </a:solidFill>
              </a:rPr>
              <a:t>is 3 × 3 × 3: it looks at all 3 colours at once</a:t>
            </a:r>
            <a:endParaRPr lang="en-US" sz="1500" dirty="0"/>
          </a:p>
        </p:txBody>
      </p:sp>
      <p:sp>
        <p:nvSpPr>
          <p:cNvPr id="7" name="card-172"/>
          <p:cNvSpPr/>
          <p:nvPr/>
        </p:nvSpPr>
        <p:spPr>
          <a:xfrm>
            <a:off x="6263640" y="3931920"/>
            <a:ext cx="5349240" cy="2148840"/>
          </a:xfrm>
          <a:prstGeom prst="roundRect">
            <a:avLst>
              <a:gd name="adj" fmla="val 5106"/>
            </a:avLst>
          </a:prstGeom>
          <a:solidFill>
            <a:schemeClr val="bg2"/>
          </a:solidFill>
          <a:ln w="12700">
            <a:solidFill>
              <a:schemeClr val="bg2"/>
            </a:solidFill>
            <a:prstDash val="solid"/>
          </a:ln>
        </p:spPr>
        <p:txBody>
          <a:bodyPr/>
          <a:lstStyle/>
          <a:p>
            <a:endParaRPr lang="en-GB"/>
          </a:p>
        </p:txBody>
      </p:sp>
      <p:sp>
        <p:nvSpPr>
          <p:cNvPr id="8" name="text-173"/>
          <p:cNvSpPr txBox="1"/>
          <p:nvPr/>
        </p:nvSpPr>
        <p:spPr>
          <a:xfrm>
            <a:off x="6492240" y="4069080"/>
            <a:ext cx="4937760" cy="411480"/>
          </a:xfrm>
          <a:prstGeom prst="rect">
            <a:avLst/>
          </a:prstGeom>
          <a:noFill/>
          <a:ln/>
        </p:spPr>
        <p:txBody>
          <a:bodyPr wrap="square" lIns="0" tIns="0" rIns="0" bIns="0" rtlCol="0" anchor="t"/>
          <a:lstStyle/>
          <a:p>
            <a:pPr marL="0" indent="0">
              <a:buNone/>
            </a:pPr>
            <a:r>
              <a:rPr lang="en-US" sz="1700" b="1" dirty="0">
                <a:solidFill>
                  <a:schemeClr val="tx1"/>
                </a:solidFill>
              </a:rPr>
              <a:t>Deeper layers combine simple patterns</a:t>
            </a:r>
            <a:endParaRPr lang="en-US" sz="1700" dirty="0"/>
          </a:p>
        </p:txBody>
      </p:sp>
      <p:sp>
        <p:nvSpPr>
          <p:cNvPr id="9" name="text-174"/>
          <p:cNvSpPr txBox="1"/>
          <p:nvPr/>
        </p:nvSpPr>
        <p:spPr>
          <a:xfrm>
            <a:off x="6492240" y="4526280"/>
            <a:ext cx="4937760" cy="1463040"/>
          </a:xfrm>
          <a:prstGeom prst="rect">
            <a:avLst/>
          </a:prstGeom>
          <a:noFill/>
          <a:ln/>
        </p:spPr>
        <p:txBody>
          <a:bodyPr wrap="square" lIns="0" tIns="0" rIns="0" bIns="0" rtlCol="0" anchor="t"/>
          <a:lstStyle/>
          <a:p>
            <a:pPr marL="342900" indent="-342900">
              <a:buSzPct val="100000"/>
              <a:buChar char="•"/>
            </a:pPr>
            <a:r>
              <a:rPr lang="en-US" sz="1500" b="1" dirty="0">
                <a:solidFill>
                  <a:schemeClr val="tx1"/>
                </a:solidFill>
              </a:rPr>
              <a:t>block 1: </a:t>
            </a:r>
            <a:r>
              <a:rPr lang="en-US" sz="1500" dirty="0">
                <a:solidFill>
                  <a:schemeClr val="tx1"/>
                </a:solidFill>
              </a:rPr>
              <a:t>edges, "red here"</a:t>
            </a:r>
            <a:endParaRPr lang="en-US" sz="1500" dirty="0"/>
          </a:p>
          <a:p>
            <a:pPr marL="342900" indent="-342900">
              <a:buSzPct val="100000"/>
              <a:buChar char="•"/>
            </a:pPr>
            <a:r>
              <a:rPr lang="en-US" sz="1500" b="1" dirty="0">
                <a:solidFill>
                  <a:schemeClr val="tx1"/>
                </a:solidFill>
              </a:rPr>
              <a:t>block 2: </a:t>
            </a:r>
            <a:r>
              <a:rPr lang="en-US" sz="1500" dirty="0">
                <a:solidFill>
                  <a:schemeClr val="tx1"/>
                </a:solidFill>
              </a:rPr>
              <a:t>stripes, corners</a:t>
            </a:r>
            <a:endParaRPr lang="en-US" sz="1500" dirty="0"/>
          </a:p>
          <a:p>
            <a:pPr marL="342900" indent="-342900">
              <a:buSzPct val="100000"/>
              <a:buChar char="•"/>
            </a:pPr>
            <a:r>
              <a:rPr lang="en-US" sz="1500" b="1" dirty="0">
                <a:solidFill>
                  <a:schemeClr val="tx1"/>
                </a:solidFill>
              </a:rPr>
              <a:t>blocks 3 and 4: </a:t>
            </a:r>
            <a:r>
              <a:rPr lang="en-US" sz="1500" dirty="0">
                <a:solidFill>
                  <a:schemeClr val="tx1"/>
                </a:solidFill>
              </a:rPr>
              <a:t>striped shirt, bobble hat, round glasses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ReLU and max pooling</a:t>
            </a:r>
            <a:endParaRPr lang="en-US" sz="3400" dirty="0"/>
          </a:p>
        </p:txBody>
      </p:sp>
      <p:sp>
        <p:nvSpPr>
          <p:cNvPr id="3" name="card-175"/>
          <p:cNvSpPr/>
          <p:nvPr/>
        </p:nvSpPr>
        <p:spPr>
          <a:xfrm>
            <a:off x="548640" y="1417320"/>
            <a:ext cx="4572000" cy="4526280"/>
          </a:xfrm>
          <a:prstGeom prst="roundRect">
            <a:avLst>
              <a:gd name="adj" fmla="val 2424"/>
            </a:avLst>
          </a:prstGeom>
          <a:solidFill>
            <a:schemeClr val="bg2"/>
          </a:solidFill>
          <a:ln w="12700">
            <a:solidFill>
              <a:schemeClr val="bg2"/>
            </a:solidFill>
            <a:prstDash val="solid"/>
          </a:ln>
        </p:spPr>
        <p:txBody>
          <a:bodyPr/>
          <a:lstStyle/>
          <a:p>
            <a:endParaRPr lang="en-GB"/>
          </a:p>
        </p:txBody>
      </p:sp>
      <p:sp>
        <p:nvSpPr>
          <p:cNvPr id="4" name="text-176"/>
          <p:cNvSpPr txBox="1"/>
          <p:nvPr/>
        </p:nvSpPr>
        <p:spPr>
          <a:xfrm>
            <a:off x="822960" y="1600200"/>
            <a:ext cx="4023360" cy="457200"/>
          </a:xfrm>
          <a:prstGeom prst="rect">
            <a:avLst/>
          </a:prstGeom>
          <a:noFill/>
          <a:ln/>
        </p:spPr>
        <p:txBody>
          <a:bodyPr wrap="square" lIns="0" tIns="0" rIns="0" bIns="0" rtlCol="0" anchor="t"/>
          <a:lstStyle/>
          <a:p>
            <a:pPr marL="0" indent="0">
              <a:buNone/>
            </a:pPr>
            <a:r>
              <a:rPr lang="en-US" sz="2000" b="1" dirty="0">
                <a:solidFill>
                  <a:schemeClr val="accent2"/>
                </a:solidFill>
              </a:rPr>
              <a:t>ReLU: keep the positives</a:t>
            </a:r>
            <a:endParaRPr lang="en-US" sz="2000" dirty="0"/>
          </a:p>
        </p:txBody>
      </p:sp>
      <p:pic>
        <p:nvPicPr>
          <p:cNvPr id="5" name="image-177" descr="ReLU turns -3, 3, 0, -1, 5 into 0, 3, 0, 0, 5"/>
          <p:cNvPicPr>
            <a:picLocks noChangeAspect="1"/>
          </p:cNvPicPr>
          <p:nvPr/>
        </p:nvPicPr>
        <p:blipFill>
          <a:blip r:embed="rId3"/>
          <a:stretch>
            <a:fillRect/>
          </a:stretch>
        </p:blipFill>
        <p:spPr>
          <a:xfrm>
            <a:off x="822960" y="2308146"/>
            <a:ext cx="4023360" cy="550069"/>
          </a:xfrm>
          <a:prstGeom prst="rect">
            <a:avLst/>
          </a:prstGeom>
        </p:spPr>
      </p:pic>
      <p:sp>
        <p:nvSpPr>
          <p:cNvPr id="6" name="text-178"/>
          <p:cNvSpPr txBox="1"/>
          <p:nvPr/>
        </p:nvSpPr>
        <p:spPr>
          <a:xfrm>
            <a:off x="822960" y="3200400"/>
            <a:ext cx="402336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negative numbers become 0, positive ones stay</a:t>
            </a:r>
            <a:endParaRPr lang="en-US" sz="1500" dirty="0"/>
          </a:p>
          <a:p>
            <a:pPr marL="342900" indent="-342900">
              <a:spcAft>
                <a:spcPts val="800"/>
              </a:spcAft>
              <a:buSzPct val="100000"/>
              <a:buChar char="•"/>
            </a:pPr>
            <a:r>
              <a:rPr lang="en-US" sz="1500" dirty="0">
                <a:solidFill>
                  <a:schemeClr val="tx1"/>
                </a:solidFill>
              </a:rPr>
              <a:t>"no stripes here" and "anti-stripes here" both just mean 0</a:t>
            </a:r>
            <a:endParaRPr lang="en-US" sz="1500" dirty="0"/>
          </a:p>
          <a:p>
            <a:pPr marL="342900" indent="-342900">
              <a:spcAft>
                <a:spcPts val="800"/>
              </a:spcAft>
              <a:buSzPct val="100000"/>
              <a:buChar char="•"/>
            </a:pPr>
            <a:r>
              <a:rPr lang="en-US" sz="1500" dirty="0">
                <a:solidFill>
                  <a:schemeClr val="tx1"/>
                </a:solidFill>
              </a:rPr>
              <a:t>without it, stacking layers would be no better than one layer</a:t>
            </a:r>
            <a:endParaRPr lang="en-US" sz="1500" dirty="0"/>
          </a:p>
        </p:txBody>
      </p:sp>
      <p:sp>
        <p:nvSpPr>
          <p:cNvPr id="7" name="card-179"/>
          <p:cNvSpPr/>
          <p:nvPr/>
        </p:nvSpPr>
        <p:spPr>
          <a:xfrm>
            <a:off x="5440680" y="1417320"/>
            <a:ext cx="6172200" cy="4526280"/>
          </a:xfrm>
          <a:prstGeom prst="roundRect">
            <a:avLst>
              <a:gd name="adj" fmla="val 2424"/>
            </a:avLst>
          </a:prstGeom>
          <a:solidFill>
            <a:schemeClr val="bg2"/>
          </a:solidFill>
          <a:ln w="12700">
            <a:solidFill>
              <a:schemeClr val="bg2"/>
            </a:solidFill>
            <a:prstDash val="solid"/>
          </a:ln>
        </p:spPr>
        <p:txBody>
          <a:bodyPr/>
          <a:lstStyle/>
          <a:p>
            <a:endParaRPr lang="en-GB"/>
          </a:p>
        </p:txBody>
      </p:sp>
      <p:sp>
        <p:nvSpPr>
          <p:cNvPr id="8" name="text-180"/>
          <p:cNvSpPr txBox="1"/>
          <p:nvPr/>
        </p:nvSpPr>
        <p:spPr>
          <a:xfrm>
            <a:off x="5715000" y="1600200"/>
            <a:ext cx="5669280" cy="457200"/>
          </a:xfrm>
          <a:prstGeom prst="rect">
            <a:avLst/>
          </a:prstGeom>
          <a:noFill/>
          <a:ln/>
        </p:spPr>
        <p:txBody>
          <a:bodyPr wrap="square" lIns="0" tIns="0" rIns="0" bIns="0" rtlCol="0" anchor="t"/>
          <a:lstStyle/>
          <a:p>
            <a:pPr marL="0" indent="0">
              <a:buNone/>
            </a:pPr>
            <a:r>
              <a:rPr lang="en-US" sz="2000" b="1" dirty="0">
                <a:solidFill>
                  <a:schemeClr val="accent1"/>
                </a:solidFill>
              </a:rPr>
              <a:t>Max pooling: keep the strongest</a:t>
            </a:r>
            <a:endParaRPr lang="en-US" sz="2000" dirty="0"/>
          </a:p>
        </p:txBody>
      </p:sp>
      <p:pic>
        <p:nvPicPr>
          <p:cNvPr id="9" name="image-181" descr="4x4 grid max-pooled to 2x2: 9, 1, 1, 7"/>
          <p:cNvPicPr>
            <a:picLocks noChangeAspect="1"/>
          </p:cNvPicPr>
          <p:nvPr/>
        </p:nvPicPr>
        <p:blipFill>
          <a:blip r:embed="rId4"/>
          <a:stretch>
            <a:fillRect/>
          </a:stretch>
        </p:blipFill>
        <p:spPr>
          <a:xfrm>
            <a:off x="6398722" y="2103120"/>
            <a:ext cx="4256116" cy="2194560"/>
          </a:xfrm>
          <a:prstGeom prst="rect">
            <a:avLst/>
          </a:prstGeom>
        </p:spPr>
      </p:pic>
      <p:sp>
        <p:nvSpPr>
          <p:cNvPr id="10" name="text-182"/>
          <p:cNvSpPr txBox="1"/>
          <p:nvPr/>
        </p:nvSpPr>
        <p:spPr>
          <a:xfrm>
            <a:off x="5715000" y="4389120"/>
            <a:ext cx="5623560" cy="1463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keeps the biggest number in each 2 × 2 square: half the width and height</a:t>
            </a:r>
            <a:endParaRPr lang="en-US" sz="1400" dirty="0"/>
          </a:p>
          <a:p>
            <a:pPr marL="342900" indent="-342900">
              <a:spcAft>
                <a:spcPts val="800"/>
              </a:spcAft>
              <a:buSzPct val="100000"/>
              <a:buChar char="•"/>
            </a:pPr>
            <a:r>
              <a:rPr lang="en-US" sz="1400" dirty="0">
                <a:solidFill>
                  <a:schemeClr val="tx1"/>
                </a:solidFill>
              </a:rPr>
              <a:t>"there are stripes somewhere around here" is all we need</a:t>
            </a:r>
            <a:endParaRPr lang="en-US" sz="1400" dirty="0"/>
          </a:p>
          <a:p>
            <a:pPr marL="342900" indent="-342900">
              <a:spcAft>
                <a:spcPts val="800"/>
              </a:spcAft>
              <a:buSzPct val="100000"/>
              <a:buChar char="•"/>
            </a:pPr>
            <a:r>
              <a:rPr lang="en-US" sz="1400" dirty="0">
                <a:solidFill>
                  <a:schemeClr val="tx1"/>
                </a:solidFill>
              </a:rPr>
              <a:t>next layer sees a wider area of the picture, and there's less to compute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One layer of a conv network, worked through</a:t>
            </a:r>
            <a:endParaRPr lang="en-US" sz="3400" dirty="0"/>
          </a:p>
        </p:txBody>
      </p:sp>
      <p:sp>
        <p:nvSpPr>
          <p:cNvPr id="3" name="card-183"/>
          <p:cNvSpPr/>
          <p:nvPr/>
        </p:nvSpPr>
        <p:spPr>
          <a:xfrm>
            <a:off x="548640" y="1463040"/>
            <a:ext cx="1965960" cy="1600200"/>
          </a:xfrm>
          <a:prstGeom prst="roundRect">
            <a:avLst>
              <a:gd name="adj" fmla="val 6857"/>
            </a:avLst>
          </a:prstGeom>
          <a:solidFill>
            <a:schemeClr val="accent5"/>
          </a:solidFill>
          <a:ln w="12700">
            <a:solidFill>
              <a:schemeClr val="accent5"/>
            </a:solidFill>
            <a:prstDash val="solid"/>
          </a:ln>
        </p:spPr>
        <p:txBody>
          <a:bodyPr/>
          <a:lstStyle/>
          <a:p>
            <a:endParaRPr lang="en-GB"/>
          </a:p>
        </p:txBody>
      </p:sp>
      <p:sp>
        <p:nvSpPr>
          <p:cNvPr id="4" name="text-184"/>
          <p:cNvSpPr txBox="1"/>
          <p:nvPr/>
        </p:nvSpPr>
        <p:spPr>
          <a:xfrm>
            <a:off x="640080" y="1572768"/>
            <a:ext cx="1783080" cy="777240"/>
          </a:xfrm>
          <a:prstGeom prst="rect">
            <a:avLst/>
          </a:prstGeom>
          <a:noFill/>
          <a:ln/>
        </p:spPr>
        <p:txBody>
          <a:bodyPr wrap="square" lIns="0" tIns="0" rIns="0" bIns="0" rtlCol="0" anchor="ctr"/>
          <a:lstStyle/>
          <a:p>
            <a:pPr marL="0" indent="0" algn="ctr">
              <a:buNone/>
            </a:pPr>
            <a:r>
              <a:rPr lang="en-US" sz="1600" b="1" dirty="0">
                <a:solidFill>
                  <a:schemeClr val="bg1"/>
                </a:solidFill>
              </a:rPr>
              <a:t>input picture</a:t>
            </a:r>
            <a:endParaRPr lang="en-US" sz="1600" dirty="0"/>
          </a:p>
        </p:txBody>
      </p:sp>
      <p:sp>
        <p:nvSpPr>
          <p:cNvPr id="5" name="text-185"/>
          <p:cNvSpPr txBox="1"/>
          <p:nvPr/>
        </p:nvSpPr>
        <p:spPr>
          <a:xfrm>
            <a:off x="640080" y="2377440"/>
            <a:ext cx="1783080" cy="548640"/>
          </a:xfrm>
          <a:prstGeom prst="rect">
            <a:avLst/>
          </a:prstGeom>
          <a:no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256 × 256 × 3</a:t>
            </a:r>
            <a:endParaRPr lang="en-US" sz="1500" dirty="0"/>
          </a:p>
        </p:txBody>
      </p:sp>
      <p:sp>
        <p:nvSpPr>
          <p:cNvPr id="6" name="arrow-186"/>
          <p:cNvSpPr/>
          <p:nvPr/>
        </p:nvSpPr>
        <p:spPr>
          <a:xfrm>
            <a:off x="2542032" y="2103120"/>
            <a:ext cx="274320" cy="320040"/>
          </a:xfrm>
          <a:prstGeom prst="rightArrow">
            <a:avLst/>
          </a:prstGeom>
          <a:solidFill>
            <a:schemeClr val="accent5"/>
          </a:solidFill>
          <a:ln w="12700">
            <a:solidFill>
              <a:schemeClr val="accent5"/>
            </a:solidFill>
            <a:prstDash val="solid"/>
          </a:ln>
        </p:spPr>
        <p:txBody>
          <a:bodyPr/>
          <a:lstStyle/>
          <a:p>
            <a:endParaRPr lang="en-GB"/>
          </a:p>
        </p:txBody>
      </p:sp>
      <p:sp>
        <p:nvSpPr>
          <p:cNvPr id="7" name="card-187"/>
          <p:cNvSpPr/>
          <p:nvPr/>
        </p:nvSpPr>
        <p:spPr>
          <a:xfrm>
            <a:off x="2834640" y="1463040"/>
            <a:ext cx="1965960" cy="1600200"/>
          </a:xfrm>
          <a:prstGeom prst="roundRect">
            <a:avLst>
              <a:gd name="adj" fmla="val 6857"/>
            </a:avLst>
          </a:prstGeom>
          <a:solidFill>
            <a:schemeClr val="accent2"/>
          </a:solidFill>
          <a:ln w="12700">
            <a:solidFill>
              <a:schemeClr val="accent2"/>
            </a:solidFill>
            <a:prstDash val="solid"/>
          </a:ln>
        </p:spPr>
        <p:txBody>
          <a:bodyPr/>
          <a:lstStyle/>
          <a:p>
            <a:endParaRPr lang="en-GB"/>
          </a:p>
        </p:txBody>
      </p:sp>
      <p:sp>
        <p:nvSpPr>
          <p:cNvPr id="8" name="text-188"/>
          <p:cNvSpPr txBox="1"/>
          <p:nvPr/>
        </p:nvSpPr>
        <p:spPr>
          <a:xfrm>
            <a:off x="2926080" y="1572768"/>
            <a:ext cx="1783080" cy="777240"/>
          </a:xfrm>
          <a:prstGeom prst="rect">
            <a:avLst/>
          </a:prstGeom>
          <a:noFill/>
          <a:ln/>
        </p:spPr>
        <p:txBody>
          <a:bodyPr wrap="square" lIns="0" tIns="0" rIns="0" bIns="0" rtlCol="0" anchor="ctr"/>
          <a:lstStyle/>
          <a:p>
            <a:pPr marL="0" indent="0" algn="ctr">
              <a:buNone/>
            </a:pPr>
            <a:r>
              <a:rPr lang="en-US" sz="1600" b="1" dirty="0">
                <a:solidFill>
                  <a:schemeClr val="bg1"/>
                </a:solidFill>
              </a:rPr>
              <a:t>16 filters, 3×3×3</a:t>
            </a:r>
            <a:endParaRPr lang="en-US" sz="1600" dirty="0"/>
          </a:p>
          <a:p>
            <a:pPr marL="0" indent="0" algn="ctr">
              <a:buNone/>
            </a:pPr>
            <a:r>
              <a:rPr lang="en-US" sz="1600" b="1" dirty="0">
                <a:solidFill>
                  <a:schemeClr val="bg1"/>
                </a:solidFill>
              </a:rPr>
              <a:t>+ 1 bias each</a:t>
            </a:r>
            <a:endParaRPr lang="en-US" sz="1600" dirty="0"/>
          </a:p>
        </p:txBody>
      </p:sp>
      <p:sp>
        <p:nvSpPr>
          <p:cNvPr id="9" name="text-189"/>
          <p:cNvSpPr txBox="1"/>
          <p:nvPr/>
        </p:nvSpPr>
        <p:spPr>
          <a:xfrm>
            <a:off x="2926080" y="2377440"/>
            <a:ext cx="1783080" cy="548640"/>
          </a:xfrm>
          <a:prstGeom prst="rect">
            <a:avLst/>
          </a:prstGeom>
          <a:no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conv</a:t>
            </a:r>
            <a:endParaRPr lang="en-US" sz="1500" dirty="0"/>
          </a:p>
        </p:txBody>
      </p:sp>
      <p:sp>
        <p:nvSpPr>
          <p:cNvPr id="10" name="arrow-190"/>
          <p:cNvSpPr/>
          <p:nvPr/>
        </p:nvSpPr>
        <p:spPr>
          <a:xfrm>
            <a:off x="4828032" y="2103120"/>
            <a:ext cx="274320" cy="320040"/>
          </a:xfrm>
          <a:prstGeom prst="rightArrow">
            <a:avLst/>
          </a:prstGeom>
          <a:solidFill>
            <a:schemeClr val="accent5"/>
          </a:solidFill>
          <a:ln w="12700">
            <a:solidFill>
              <a:schemeClr val="accent5"/>
            </a:solidFill>
            <a:prstDash val="solid"/>
          </a:ln>
        </p:spPr>
        <p:txBody>
          <a:bodyPr/>
          <a:lstStyle/>
          <a:p>
            <a:endParaRPr lang="en-GB"/>
          </a:p>
        </p:txBody>
      </p:sp>
      <p:sp>
        <p:nvSpPr>
          <p:cNvPr id="11" name="card-191"/>
          <p:cNvSpPr/>
          <p:nvPr/>
        </p:nvSpPr>
        <p:spPr>
          <a:xfrm>
            <a:off x="5120640" y="1463040"/>
            <a:ext cx="1965960" cy="1600200"/>
          </a:xfrm>
          <a:prstGeom prst="roundRect">
            <a:avLst>
              <a:gd name="adj" fmla="val 6857"/>
            </a:avLst>
          </a:prstGeom>
          <a:solidFill>
            <a:schemeClr val="accent2"/>
          </a:solidFill>
          <a:ln w="12700">
            <a:solidFill>
              <a:schemeClr val="accent2"/>
            </a:solidFill>
            <a:prstDash val="solid"/>
          </a:ln>
        </p:spPr>
        <p:txBody>
          <a:bodyPr/>
          <a:lstStyle/>
          <a:p>
            <a:endParaRPr lang="en-GB"/>
          </a:p>
        </p:txBody>
      </p:sp>
      <p:sp>
        <p:nvSpPr>
          <p:cNvPr id="12" name="text-192"/>
          <p:cNvSpPr txBox="1"/>
          <p:nvPr/>
        </p:nvSpPr>
        <p:spPr>
          <a:xfrm>
            <a:off x="5212080" y="1572768"/>
            <a:ext cx="1783080" cy="777240"/>
          </a:xfrm>
          <a:prstGeom prst="rect">
            <a:avLst/>
          </a:prstGeom>
          <a:noFill/>
          <a:ln/>
        </p:spPr>
        <p:txBody>
          <a:bodyPr wrap="square" lIns="0" tIns="0" rIns="0" bIns="0" rtlCol="0" anchor="ctr"/>
          <a:lstStyle/>
          <a:p>
            <a:pPr marL="0" indent="0" algn="ctr">
              <a:buNone/>
            </a:pPr>
            <a:r>
              <a:rPr lang="en-US" sz="1600" b="1" dirty="0">
                <a:solidFill>
                  <a:schemeClr val="bg1"/>
                </a:solidFill>
              </a:rPr>
              <a:t>16 feature maps</a:t>
            </a:r>
            <a:endParaRPr lang="en-US" sz="1600" dirty="0"/>
          </a:p>
        </p:txBody>
      </p:sp>
      <p:sp>
        <p:nvSpPr>
          <p:cNvPr id="13" name="text-193"/>
          <p:cNvSpPr txBox="1"/>
          <p:nvPr/>
        </p:nvSpPr>
        <p:spPr>
          <a:xfrm>
            <a:off x="5212080" y="2377440"/>
            <a:ext cx="1783080" cy="548640"/>
          </a:xfrm>
          <a:prstGeom prst="rect">
            <a:avLst/>
          </a:prstGeom>
          <a:no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256 × 256 × 16</a:t>
            </a:r>
            <a:endParaRPr lang="en-US" sz="1500" dirty="0"/>
          </a:p>
        </p:txBody>
      </p:sp>
      <p:sp>
        <p:nvSpPr>
          <p:cNvPr id="14" name="arrow-194"/>
          <p:cNvSpPr/>
          <p:nvPr/>
        </p:nvSpPr>
        <p:spPr>
          <a:xfrm>
            <a:off x="7114032" y="2103120"/>
            <a:ext cx="274320" cy="320040"/>
          </a:xfrm>
          <a:prstGeom prst="rightArrow">
            <a:avLst/>
          </a:prstGeom>
          <a:solidFill>
            <a:schemeClr val="accent5"/>
          </a:solidFill>
          <a:ln w="12700">
            <a:solidFill>
              <a:schemeClr val="accent5"/>
            </a:solidFill>
            <a:prstDash val="solid"/>
          </a:ln>
        </p:spPr>
        <p:txBody>
          <a:bodyPr/>
          <a:lstStyle/>
          <a:p>
            <a:endParaRPr lang="en-GB"/>
          </a:p>
        </p:txBody>
      </p:sp>
      <p:sp>
        <p:nvSpPr>
          <p:cNvPr id="15" name="card-195"/>
          <p:cNvSpPr/>
          <p:nvPr/>
        </p:nvSpPr>
        <p:spPr>
          <a:xfrm>
            <a:off x="7406640" y="1463040"/>
            <a:ext cx="1965960" cy="1600200"/>
          </a:xfrm>
          <a:prstGeom prst="roundRect">
            <a:avLst>
              <a:gd name="adj" fmla="val 6857"/>
            </a:avLst>
          </a:prstGeom>
          <a:solidFill>
            <a:schemeClr val="accent3"/>
          </a:solidFill>
          <a:ln w="12700">
            <a:solidFill>
              <a:schemeClr val="accent3"/>
            </a:solidFill>
            <a:prstDash val="solid"/>
          </a:ln>
        </p:spPr>
        <p:txBody>
          <a:bodyPr/>
          <a:lstStyle/>
          <a:p>
            <a:endParaRPr lang="en-GB"/>
          </a:p>
        </p:txBody>
      </p:sp>
      <p:sp>
        <p:nvSpPr>
          <p:cNvPr id="16" name="text-196"/>
          <p:cNvSpPr txBox="1"/>
          <p:nvPr/>
        </p:nvSpPr>
        <p:spPr>
          <a:xfrm>
            <a:off x="7498080" y="1572768"/>
            <a:ext cx="1783080" cy="777240"/>
          </a:xfrm>
          <a:prstGeom prst="rect">
            <a:avLst/>
          </a:prstGeom>
          <a:noFill/>
          <a:ln/>
        </p:spPr>
        <p:txBody>
          <a:bodyPr wrap="square" lIns="0" tIns="0" rIns="0" bIns="0" rtlCol="0" anchor="ctr"/>
          <a:lstStyle/>
          <a:p>
            <a:pPr marL="0" indent="0" algn="ctr">
              <a:buNone/>
            </a:pPr>
            <a:r>
              <a:rPr lang="en-US" sz="1600" b="1" dirty="0">
                <a:solidFill>
                  <a:schemeClr val="bg1"/>
                </a:solidFill>
              </a:rPr>
              <a:t>ReLU</a:t>
            </a:r>
            <a:endParaRPr lang="en-US" sz="1600" dirty="0"/>
          </a:p>
        </p:txBody>
      </p:sp>
      <p:sp>
        <p:nvSpPr>
          <p:cNvPr id="17" name="text-197"/>
          <p:cNvSpPr txBox="1"/>
          <p:nvPr/>
        </p:nvSpPr>
        <p:spPr>
          <a:xfrm>
            <a:off x="7498080" y="2377440"/>
            <a:ext cx="1783080" cy="548640"/>
          </a:xfrm>
          <a:prstGeom prst="rect">
            <a:avLst/>
          </a:prstGeom>
          <a:no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negatives → 0</a:t>
            </a:r>
            <a:endParaRPr lang="en-US" sz="1500" dirty="0"/>
          </a:p>
        </p:txBody>
      </p:sp>
      <p:sp>
        <p:nvSpPr>
          <p:cNvPr id="18" name="arrow-198"/>
          <p:cNvSpPr/>
          <p:nvPr/>
        </p:nvSpPr>
        <p:spPr>
          <a:xfrm>
            <a:off x="9400032" y="2103120"/>
            <a:ext cx="274320" cy="320040"/>
          </a:xfrm>
          <a:prstGeom prst="rightArrow">
            <a:avLst/>
          </a:prstGeom>
          <a:solidFill>
            <a:schemeClr val="accent5"/>
          </a:solidFill>
          <a:ln w="12700">
            <a:solidFill>
              <a:schemeClr val="accent5"/>
            </a:solidFill>
            <a:prstDash val="solid"/>
          </a:ln>
        </p:spPr>
        <p:txBody>
          <a:bodyPr/>
          <a:lstStyle/>
          <a:p>
            <a:endParaRPr lang="en-GB"/>
          </a:p>
        </p:txBody>
      </p:sp>
      <p:sp>
        <p:nvSpPr>
          <p:cNvPr id="19" name="card-199"/>
          <p:cNvSpPr/>
          <p:nvPr/>
        </p:nvSpPr>
        <p:spPr>
          <a:xfrm>
            <a:off x="9692640" y="1463040"/>
            <a:ext cx="1965960" cy="1600200"/>
          </a:xfrm>
          <a:prstGeom prst="roundRect">
            <a:avLst>
              <a:gd name="adj" fmla="val 6857"/>
            </a:avLst>
          </a:prstGeom>
          <a:solidFill>
            <a:schemeClr val="accent1"/>
          </a:solidFill>
          <a:ln w="12700">
            <a:solidFill>
              <a:schemeClr val="accent1"/>
            </a:solidFill>
            <a:prstDash val="solid"/>
          </a:ln>
        </p:spPr>
        <p:txBody>
          <a:bodyPr/>
          <a:lstStyle/>
          <a:p>
            <a:endParaRPr lang="en-GB"/>
          </a:p>
        </p:txBody>
      </p:sp>
      <p:sp>
        <p:nvSpPr>
          <p:cNvPr id="20" name="text-200"/>
          <p:cNvSpPr txBox="1"/>
          <p:nvPr/>
        </p:nvSpPr>
        <p:spPr>
          <a:xfrm>
            <a:off x="9784080" y="1572768"/>
            <a:ext cx="1783080" cy="777240"/>
          </a:xfrm>
          <a:prstGeom prst="rect">
            <a:avLst/>
          </a:prstGeom>
          <a:noFill/>
          <a:ln/>
        </p:spPr>
        <p:txBody>
          <a:bodyPr wrap="square" lIns="0" tIns="0" rIns="0" bIns="0" rtlCol="0" anchor="ctr"/>
          <a:lstStyle/>
          <a:p>
            <a:pPr marL="0" indent="0" algn="ctr">
              <a:buNone/>
            </a:pPr>
            <a:r>
              <a:rPr lang="en-US" sz="1600" b="1" dirty="0">
                <a:solidFill>
                  <a:schemeClr val="bg1"/>
                </a:solidFill>
              </a:rPr>
              <a:t>MaxPool 2×2</a:t>
            </a:r>
            <a:endParaRPr lang="en-US" sz="1600" dirty="0"/>
          </a:p>
        </p:txBody>
      </p:sp>
      <p:sp>
        <p:nvSpPr>
          <p:cNvPr id="21" name="text-201"/>
          <p:cNvSpPr txBox="1"/>
          <p:nvPr/>
        </p:nvSpPr>
        <p:spPr>
          <a:xfrm>
            <a:off x="9784080" y="2377440"/>
            <a:ext cx="1783080" cy="548640"/>
          </a:xfrm>
          <a:prstGeom prst="rect">
            <a:avLst/>
          </a:prstGeom>
          <a:no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128 × 128 × 16</a:t>
            </a:r>
            <a:endParaRPr lang="en-US" sz="1500" dirty="0"/>
          </a:p>
        </p:txBody>
      </p:sp>
      <p:sp>
        <p:nvSpPr>
          <p:cNvPr id="22" name="card-202"/>
          <p:cNvSpPr/>
          <p:nvPr/>
        </p:nvSpPr>
        <p:spPr>
          <a:xfrm>
            <a:off x="548640" y="3429000"/>
            <a:ext cx="5486400" cy="2651760"/>
          </a:xfrm>
          <a:prstGeom prst="roundRect">
            <a:avLst>
              <a:gd name="adj" fmla="val 4138"/>
            </a:avLst>
          </a:prstGeom>
          <a:solidFill>
            <a:schemeClr val="bg2"/>
          </a:solidFill>
          <a:ln w="12700">
            <a:solidFill>
              <a:schemeClr val="bg2"/>
            </a:solidFill>
            <a:prstDash val="solid"/>
          </a:ln>
        </p:spPr>
        <p:txBody>
          <a:bodyPr/>
          <a:lstStyle/>
          <a:p>
            <a:endParaRPr lang="en-GB"/>
          </a:p>
        </p:txBody>
      </p:sp>
      <p:sp>
        <p:nvSpPr>
          <p:cNvPr id="23" name="text-203"/>
          <p:cNvSpPr txBox="1"/>
          <p:nvPr/>
        </p:nvSpPr>
        <p:spPr>
          <a:xfrm>
            <a:off x="822960" y="3566160"/>
            <a:ext cx="4937760" cy="411480"/>
          </a:xfrm>
          <a:prstGeom prst="rect">
            <a:avLst/>
          </a:prstGeom>
          <a:noFill/>
          <a:ln/>
        </p:spPr>
        <p:txBody>
          <a:bodyPr wrap="square" lIns="0" tIns="0" rIns="0" bIns="0" rtlCol="0" anchor="t"/>
          <a:lstStyle/>
          <a:p>
            <a:pPr marL="0" indent="0">
              <a:buNone/>
            </a:pPr>
            <a:r>
              <a:rPr lang="en-US" sz="1800" b="1" dirty="0">
                <a:solidFill>
                  <a:schemeClr val="tx1"/>
                </a:solidFill>
              </a:rPr>
              <a:t>How many weights does it learn?</a:t>
            </a:r>
            <a:endParaRPr lang="en-US" sz="1800" dirty="0"/>
          </a:p>
        </p:txBody>
      </p:sp>
      <p:sp>
        <p:nvSpPr>
          <p:cNvPr id="24" name="text-204"/>
          <p:cNvSpPr txBox="1"/>
          <p:nvPr/>
        </p:nvSpPr>
        <p:spPr>
          <a:xfrm>
            <a:off x="822960" y="4069080"/>
            <a:ext cx="4937760" cy="1097280"/>
          </a:xfrm>
          <a:prstGeom prst="rect">
            <a:avLst/>
          </a:prstGeom>
          <a:noFill/>
          <a:ln/>
        </p:spPr>
        <p:txBody>
          <a:bodyPr wrap="square" lIns="0" tIns="0" rIns="0" bIns="0" rtlCol="0" anchor="t"/>
          <a:lstStyle/>
          <a:p>
            <a:pPr marL="0" indent="0">
              <a:buNone/>
            </a:pPr>
            <a:r>
              <a:rPr lang="en-US" sz="1800" dirty="0">
                <a:solidFill>
                  <a:schemeClr val="tx1"/>
                </a:solidFill>
              </a:rPr>
              <a:t>each filter: 3 × 3 × 3 = 27 weights + 1 bias = 28</a:t>
            </a:r>
            <a:endParaRPr lang="en-US" sz="1800" dirty="0"/>
          </a:p>
          <a:p>
            <a:pPr marL="0" indent="0">
              <a:buNone/>
            </a:pPr>
            <a:r>
              <a:rPr lang="en-US" sz="1800" dirty="0">
                <a:solidFill>
                  <a:schemeClr val="tx1"/>
                </a:solidFill>
              </a:rPr>
              <a:t>16 filters: 16 × 28 = </a:t>
            </a:r>
            <a:r>
              <a:rPr lang="en-US" sz="3000" b="1" dirty="0">
                <a:solidFill>
                  <a:schemeClr val="accent1"/>
                </a:solidFill>
              </a:rPr>
              <a:t>448</a:t>
            </a:r>
            <a:endParaRPr lang="en-US" sz="1800" dirty="0"/>
          </a:p>
        </p:txBody>
      </p:sp>
      <p:sp>
        <p:nvSpPr>
          <p:cNvPr id="25" name="text-205"/>
          <p:cNvSpPr txBox="1"/>
          <p:nvPr/>
        </p:nvSpPr>
        <p:spPr>
          <a:xfrm>
            <a:off x="822960" y="5349240"/>
            <a:ext cx="4937760" cy="548640"/>
          </a:xfrm>
          <a:prstGeom prst="rect">
            <a:avLst/>
          </a:prstGeom>
          <a:noFill/>
          <a:ln/>
        </p:spPr>
        <p:txBody>
          <a:bodyPr wrap="square" lIns="0" tIns="0" rIns="0" bIns="0" rtlCol="0" anchor="t"/>
          <a:lstStyle/>
          <a:p>
            <a:pPr marL="0" indent="0">
              <a:buNone/>
            </a:pPr>
            <a:r>
              <a:rPr lang="en-US" sz="1500" i="1" dirty="0">
                <a:solidFill>
                  <a:schemeClr val="tx1"/>
                </a:solidFill>
              </a:rPr>
              <a:t>compared with 12.6 million for a fully connected layer</a:t>
            </a:r>
            <a:endParaRPr lang="en-US" sz="1500" dirty="0"/>
          </a:p>
        </p:txBody>
      </p:sp>
      <p:sp>
        <p:nvSpPr>
          <p:cNvPr id="26" name="card-206"/>
          <p:cNvSpPr/>
          <p:nvPr/>
        </p:nvSpPr>
        <p:spPr>
          <a:xfrm>
            <a:off x="6355080" y="3429000"/>
            <a:ext cx="5257800" cy="2651760"/>
          </a:xfrm>
          <a:prstGeom prst="roundRect">
            <a:avLst>
              <a:gd name="adj" fmla="val 4138"/>
            </a:avLst>
          </a:prstGeom>
          <a:solidFill>
            <a:schemeClr val="bg2"/>
          </a:solidFill>
          <a:ln w="12700">
            <a:solidFill>
              <a:schemeClr val="bg2"/>
            </a:solidFill>
            <a:prstDash val="solid"/>
          </a:ln>
        </p:spPr>
        <p:txBody>
          <a:bodyPr/>
          <a:lstStyle/>
          <a:p>
            <a:endParaRPr lang="en-GB"/>
          </a:p>
        </p:txBody>
      </p:sp>
      <p:sp>
        <p:nvSpPr>
          <p:cNvPr id="27" name="text-207"/>
          <p:cNvSpPr txBox="1"/>
          <p:nvPr/>
        </p:nvSpPr>
        <p:spPr>
          <a:xfrm>
            <a:off x="6629400" y="3566160"/>
            <a:ext cx="4754880" cy="411480"/>
          </a:xfrm>
          <a:prstGeom prst="rect">
            <a:avLst/>
          </a:prstGeom>
          <a:noFill/>
          <a:ln/>
        </p:spPr>
        <p:txBody>
          <a:bodyPr wrap="square" lIns="0" tIns="0" rIns="0" bIns="0" rtlCol="0" anchor="t"/>
          <a:lstStyle/>
          <a:p>
            <a:pPr marL="0" indent="0">
              <a:buNone/>
            </a:pPr>
            <a:r>
              <a:rPr lang="en-US" sz="1800" b="1" dirty="0">
                <a:solidFill>
                  <a:schemeClr val="tx1"/>
                </a:solidFill>
              </a:rPr>
              <a:t>Wally example: one output number</a:t>
            </a:r>
            <a:endParaRPr lang="en-US" sz="1800" dirty="0"/>
          </a:p>
        </p:txBody>
      </p:sp>
      <p:sp>
        <p:nvSpPr>
          <p:cNvPr id="28" name="text-208"/>
          <p:cNvSpPr txBox="1"/>
          <p:nvPr/>
        </p:nvSpPr>
        <p:spPr>
          <a:xfrm>
            <a:off x="6629400" y="4023360"/>
            <a:ext cx="4754880" cy="20116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filter #5 learned "white above red"</a:t>
            </a:r>
            <a:endParaRPr lang="en-US" sz="1400" dirty="0"/>
          </a:p>
          <a:p>
            <a:pPr marL="342900" indent="-342900">
              <a:spcAft>
                <a:spcPts val="400"/>
              </a:spcAft>
              <a:buSzPct val="100000"/>
              <a:buChar char="•"/>
            </a:pPr>
            <a:r>
              <a:rPr lang="en-US" sz="1400" dirty="0">
                <a:solidFill>
                  <a:schemeClr val="tx1"/>
                </a:solidFill>
              </a:rPr>
              <a:t>on Wally's shirt: 27 multiplications added up = 3.0, plus bias −0.5 = 2.5</a:t>
            </a:r>
            <a:endParaRPr lang="en-US" sz="1400" dirty="0"/>
          </a:p>
          <a:p>
            <a:pPr marL="342900" indent="-342900">
              <a:spcAft>
                <a:spcPts val="400"/>
              </a:spcAft>
              <a:buSzPct val="100000"/>
              <a:buChar char="•"/>
            </a:pPr>
            <a:r>
              <a:rPr lang="en-US" sz="1400" dirty="0">
                <a:solidFill>
                  <a:schemeClr val="tx1"/>
                </a:solidFill>
              </a:rPr>
              <a:t>ReLU: 2.5 stays 2.5 (on a plain wall: −0.5 → 0)</a:t>
            </a:r>
            <a:endParaRPr lang="en-US" sz="1400" dirty="0"/>
          </a:p>
          <a:p>
            <a:pPr marL="342900" indent="-342900">
              <a:spcAft>
                <a:spcPts val="400"/>
              </a:spcAft>
              <a:buSzPct val="100000"/>
              <a:buChar char="•"/>
            </a:pPr>
            <a:r>
              <a:rPr lang="en-US" sz="1400" dirty="0">
                <a:solidFill>
                  <a:schemeClr val="tx1"/>
                </a:solidFill>
              </a:rPr>
              <a:t>MaxPool: 2.5 survives if it's the biggest in its 2 × 2 square</a:t>
            </a:r>
            <a:endParaRPr lang="en-US" sz="1400" dirty="0"/>
          </a:p>
        </p:txBody>
      </p:sp>
      <p:sp>
        <p:nvSpPr>
          <p:cNvPr id="2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Stack 4 blocks: from pixels to a map of descriptions</a:t>
            </a:r>
            <a:endParaRPr lang="en-US" sz="3400" dirty="0"/>
          </a:p>
        </p:txBody>
      </p:sp>
      <p:graphicFrame>
        <p:nvGraphicFramePr>
          <p:cNvPr id="18" name="table-209"/>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3401568"/>
        </p:xfrm>
        <a:graphic>
          <a:graphicData uri="http://schemas.openxmlformats.org/drawingml/2006/table">
            <a:tbl>
              <a:tblPr/>
              <a:tblGrid>
                <a:gridCol w="12801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566928">
                <a:tc>
                  <a:txBody>
                    <a:bodyPr/>
                    <a:lstStyle/>
                    <a:p>
                      <a:pPr marL="0" indent="0">
                        <a:buNone/>
                      </a:pPr>
                      <a:endParaRPr lang="en-US" sz="1600" dirty="0"/>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shape (channels × height × width)</a:t>
                      </a:r>
                      <a:endParaRPr lang="en-US" sz="1600" dirty="0"/>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what it might detect</a:t>
                      </a:r>
                      <a:endParaRPr lang="en-US" sz="1600" dirty="0"/>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66928">
                <a:tc>
                  <a:txBody>
                    <a:bodyPr/>
                    <a:lstStyle/>
                    <a:p>
                      <a:pPr marL="0" indent="0">
                        <a:buNone/>
                      </a:pPr>
                      <a:r>
                        <a:rPr lang="en-US" sz="1600" b="1" dirty="0">
                          <a:solidFill>
                            <a:schemeClr val="tx1"/>
                          </a:solidFill>
                        </a:rPr>
                        <a:t>input</a:t>
                      </a:r>
                      <a:endParaRPr lang="en-US" sz="1600" dirty="0"/>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Courier New" pitchFamily="34" charset="0"/>
                          <a:ea typeface="Courier New" pitchFamily="34" charset="-122"/>
                          <a:cs typeface="Courier New" pitchFamily="34" charset="-120"/>
                        </a:rPr>
                        <a:t>3 × 256 × 256</a:t>
                      </a:r>
                      <a:endParaRPr lang="en-US" sz="1600" dirty="0">
                        <a:latin typeface="Courier New" charset="0"/>
                        <a:ea typeface="Courier New" charset="0"/>
                        <a:cs typeface="Courier New" charset="0"/>
                      </a:endParaRPr>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colours</a:t>
                      </a:r>
                      <a:endParaRPr lang="en-US" sz="1600" dirty="0"/>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66928">
                <a:tc>
                  <a:txBody>
                    <a:bodyPr/>
                    <a:lstStyle/>
                    <a:p>
                      <a:pPr marL="0" indent="0">
                        <a:buNone/>
                      </a:pPr>
                      <a:r>
                        <a:rPr lang="en-US" sz="1600" b="1" dirty="0">
                          <a:solidFill>
                            <a:schemeClr val="tx1"/>
                          </a:solidFill>
                        </a:rPr>
                        <a:t>block 1</a:t>
                      </a:r>
                      <a:endParaRPr lang="en-US" sz="1600" dirty="0"/>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Courier New" pitchFamily="34" charset="0"/>
                          <a:ea typeface="Courier New" pitchFamily="34" charset="-122"/>
                          <a:cs typeface="Courier New" pitchFamily="34" charset="-120"/>
                        </a:rPr>
                        <a:t>16 × 128 × 128</a:t>
                      </a:r>
                      <a:endParaRPr lang="en-US" sz="1600" dirty="0">
                        <a:latin typeface="Courier New" charset="0"/>
                        <a:ea typeface="Courier New" charset="0"/>
                        <a:cs typeface="Courier New" charset="0"/>
                      </a:endParaRPr>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edges, "red here"</a:t>
                      </a:r>
                      <a:endParaRPr lang="en-US" sz="1600" dirty="0"/>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66928">
                <a:tc>
                  <a:txBody>
                    <a:bodyPr/>
                    <a:lstStyle/>
                    <a:p>
                      <a:pPr marL="0" indent="0">
                        <a:buNone/>
                      </a:pPr>
                      <a:r>
                        <a:rPr lang="en-US" sz="1600" b="1" dirty="0">
                          <a:solidFill>
                            <a:schemeClr val="tx1"/>
                          </a:solidFill>
                        </a:rPr>
                        <a:t>block 2</a:t>
                      </a:r>
                      <a:endParaRPr lang="en-US" sz="1600" dirty="0"/>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Courier New" pitchFamily="34" charset="0"/>
                          <a:ea typeface="Courier New" pitchFamily="34" charset="-122"/>
                          <a:cs typeface="Courier New" pitchFamily="34" charset="-120"/>
                        </a:rPr>
                        <a:t>32 × 64 × 64</a:t>
                      </a:r>
                      <a:endParaRPr lang="en-US" sz="1600" dirty="0">
                        <a:latin typeface="Courier New" charset="0"/>
                        <a:ea typeface="Courier New" charset="0"/>
                        <a:cs typeface="Courier New" charset="0"/>
                      </a:endParaRPr>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stripes, corners</a:t>
                      </a:r>
                      <a:endParaRPr lang="en-US" sz="1600" dirty="0"/>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66928">
                <a:tc>
                  <a:txBody>
                    <a:bodyPr/>
                    <a:lstStyle/>
                    <a:p>
                      <a:pPr marL="0" indent="0">
                        <a:buNone/>
                      </a:pPr>
                      <a:r>
                        <a:rPr lang="en-US" sz="1600" b="1" dirty="0">
                          <a:solidFill>
                            <a:schemeClr val="tx1"/>
                          </a:solidFill>
                        </a:rPr>
                        <a:t>block 3</a:t>
                      </a:r>
                      <a:endParaRPr lang="en-US" sz="1600" dirty="0"/>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Courier New" pitchFamily="34" charset="0"/>
                          <a:ea typeface="Courier New" pitchFamily="34" charset="-122"/>
                          <a:cs typeface="Courier New" pitchFamily="34" charset="-120"/>
                        </a:rPr>
                        <a:t>64 × 32 × 32</a:t>
                      </a:r>
                      <a:endParaRPr lang="en-US" sz="1600" dirty="0">
                        <a:latin typeface="Courier New" charset="0"/>
                        <a:ea typeface="Courier New" charset="0"/>
                        <a:cs typeface="Courier New" charset="0"/>
                      </a:endParaRPr>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striped shirt, hat shape</a:t>
                      </a:r>
                      <a:endParaRPr lang="en-US" sz="1600" dirty="0"/>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66928">
                <a:tc>
                  <a:txBody>
                    <a:bodyPr/>
                    <a:lstStyle/>
                    <a:p>
                      <a:pPr marL="0" indent="0">
                        <a:buNone/>
                      </a:pPr>
                      <a:r>
                        <a:rPr lang="en-US" sz="1600" b="1" dirty="0">
                          <a:solidFill>
                            <a:schemeClr val="tx1"/>
                          </a:solidFill>
                        </a:rPr>
                        <a:t>block 4</a:t>
                      </a:r>
                      <a:endParaRPr lang="en-US" sz="1600" dirty="0"/>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Courier New" pitchFamily="34" charset="0"/>
                          <a:ea typeface="Courier New" pitchFamily="34" charset="-122"/>
                          <a:cs typeface="Courier New" pitchFamily="34" charset="-120"/>
                        </a:rPr>
                        <a:t>64 × 16 × 16</a:t>
                      </a:r>
                      <a:endParaRPr lang="en-US" sz="1600" dirty="0">
                        <a:latin typeface="Courier New" charset="0"/>
                        <a:ea typeface="Courier New" charset="0"/>
                        <a:cs typeface="Courier New" charset="0"/>
                      </a:endParaRPr>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whole-Wally parts</a:t>
                      </a:r>
                      <a:endParaRPr lang="en-US" sz="1600" dirty="0"/>
                    </a:p>
                  </a:txBody>
                  <a:tcPr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4" name="card-210"/>
          <p:cNvSpPr/>
          <p:nvPr/>
        </p:nvSpPr>
        <p:spPr>
          <a:xfrm>
            <a:off x="7680960" y="1417320"/>
            <a:ext cx="3931920" cy="4663440"/>
          </a:xfrm>
          <a:prstGeom prst="roundRect">
            <a:avLst>
              <a:gd name="adj" fmla="val 2791"/>
            </a:avLst>
          </a:prstGeom>
          <a:solidFill>
            <a:schemeClr val="tx1"/>
          </a:solidFill>
          <a:ln w="12700">
            <a:solidFill>
              <a:schemeClr val="tx1"/>
            </a:solidFill>
            <a:prstDash val="solid"/>
          </a:ln>
        </p:spPr>
        <p:txBody>
          <a:bodyPr/>
          <a:lstStyle/>
          <a:p>
            <a:endParaRPr lang="en-GB"/>
          </a:p>
        </p:txBody>
      </p:sp>
      <p:sp>
        <p:nvSpPr>
          <p:cNvPr id="5" name="text-211"/>
          <p:cNvSpPr txBox="1"/>
          <p:nvPr/>
        </p:nvSpPr>
        <p:spPr>
          <a:xfrm>
            <a:off x="7955280" y="1600200"/>
            <a:ext cx="3474720" cy="457200"/>
          </a:xfrm>
          <a:prstGeom prst="rect">
            <a:avLst/>
          </a:prstGeom>
          <a:noFill/>
          <a:ln/>
        </p:spPr>
        <p:txBody>
          <a:bodyPr wrap="square" lIns="0" tIns="0" rIns="0" bIns="0" rtlCol="0" anchor="t"/>
          <a:lstStyle/>
          <a:p>
            <a:pPr marL="0" indent="0">
              <a:buNone/>
            </a:pPr>
            <a:r>
              <a:rPr lang="en-US" sz="2000" b="1" dirty="0">
                <a:solidFill>
                  <a:schemeClr val="bg1"/>
                </a:solidFill>
              </a:rPr>
              <a:t>The final 16 × 16 grid</a:t>
            </a:r>
            <a:endParaRPr lang="en-US" sz="2000" dirty="0"/>
          </a:p>
        </p:txBody>
      </p:sp>
      <p:sp>
        <p:nvSpPr>
          <p:cNvPr id="6" name="text-212"/>
          <p:cNvSpPr txBox="1"/>
          <p:nvPr/>
        </p:nvSpPr>
        <p:spPr>
          <a:xfrm>
            <a:off x="7955280" y="2148840"/>
            <a:ext cx="3474720" cy="38404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the picture cut into 256 squares, each 16 × 16 pixels</a:t>
            </a:r>
            <a:endParaRPr lang="en-US" sz="1500" dirty="0"/>
          </a:p>
          <a:p>
            <a:pPr marL="342900" indent="-342900">
              <a:spcAft>
                <a:spcPts val="1000"/>
              </a:spcAft>
              <a:buSzPct val="100000"/>
              <a:buChar char="•"/>
            </a:pPr>
            <a:r>
              <a:rPr lang="en-US" sz="1500" dirty="0">
                <a:solidFill>
                  <a:schemeClr val="bg1"/>
                </a:solidFill>
              </a:rPr>
              <a:t>each square has 64 numbers describing what's in it</a:t>
            </a:r>
            <a:endParaRPr lang="en-US" sz="1500" dirty="0"/>
          </a:p>
          <a:p>
            <a:pPr marL="342900" indent="-342900">
              <a:spcAft>
                <a:spcPts val="1000"/>
              </a:spcAft>
              <a:buSzPct val="100000"/>
              <a:buChar char="•"/>
            </a:pPr>
            <a:r>
              <a:rPr lang="en-US" sz="1500" dirty="0">
                <a:solidFill>
                  <a:schemeClr val="bg1"/>
                </a:solidFill>
              </a:rPr>
              <a:t>each square "sees" a patch about 46 px wide: big enough for a whole Wally</a:t>
            </a:r>
            <a:endParaRPr lang="en-US" sz="1500" dirty="0"/>
          </a:p>
          <a:p>
            <a:pPr marL="342900" indent="-342900">
              <a:spcAft>
                <a:spcPts val="1000"/>
              </a:spcAft>
              <a:buSzPct val="100000"/>
              <a:buChar char="•"/>
            </a:pPr>
            <a:r>
              <a:rPr lang="en-US" sz="1500" dirty="0">
                <a:solidFill>
                  <a:schemeClr val="bg1"/>
                </a:solidFill>
              </a:rPr>
              <a:t>the grid shrinks while the filters grow: we trade WHERE detail for WHAT detail</a:t>
            </a:r>
            <a:endParaRPr lang="en-US" sz="1500" dirty="0"/>
          </a:p>
        </p:txBody>
      </p:sp>
      <p:sp>
        <p:nvSpPr>
          <p:cNvPr id="7" name="text-213"/>
          <p:cNvSpPr txBox="1"/>
          <p:nvPr/>
        </p:nvSpPr>
        <p:spPr>
          <a:xfrm>
            <a:off x="548640" y="5029200"/>
            <a:ext cx="6766560" cy="457200"/>
          </a:xfrm>
          <a:prstGeom prst="rect">
            <a:avLst/>
          </a:prstGeom>
          <a:noFill/>
          <a:ln/>
        </p:spPr>
        <p:txBody>
          <a:bodyPr wrap="square" lIns="0" tIns="0" rIns="0" bIns="0" rtlCol="0" anchor="t"/>
          <a:lstStyle/>
          <a:p>
            <a:pPr marL="0" indent="0">
              <a:buNone/>
            </a:pPr>
            <a:r>
              <a:rPr lang="en-US" sz="1600" i="1" dirty="0">
                <a:solidFill>
                  <a:schemeClr val="tx1"/>
                </a:solidFill>
              </a:rPr>
              <a:t>Only MaxPool shrinks the grid: 256 → 128 → 64 → 32 → 16.</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Classification vs localisation</a:t>
            </a:r>
            <a:endParaRPr lang="en-US" sz="3400" dirty="0"/>
          </a:p>
        </p:txBody>
      </p:sp>
      <p:sp>
        <p:nvSpPr>
          <p:cNvPr id="3" name="card-214"/>
          <p:cNvSpPr/>
          <p:nvPr/>
        </p:nvSpPr>
        <p:spPr>
          <a:xfrm>
            <a:off x="548640" y="1417320"/>
            <a:ext cx="5394960" cy="4663440"/>
          </a:xfrm>
          <a:prstGeom prst="roundRect">
            <a:avLst>
              <a:gd name="adj" fmla="val 2353"/>
            </a:avLst>
          </a:prstGeom>
          <a:solidFill>
            <a:schemeClr val="bg2"/>
          </a:solidFill>
          <a:ln w="12700">
            <a:solidFill>
              <a:schemeClr val="bg2"/>
            </a:solidFill>
            <a:prstDash val="solid"/>
          </a:ln>
        </p:spPr>
        <p:txBody>
          <a:bodyPr/>
          <a:lstStyle/>
          <a:p>
            <a:endParaRPr lang="en-GB"/>
          </a:p>
        </p:txBody>
      </p:sp>
      <p:sp>
        <p:nvSpPr>
          <p:cNvPr id="4" name="text-215"/>
          <p:cNvSpPr txBox="1"/>
          <p:nvPr/>
        </p:nvSpPr>
        <p:spPr>
          <a:xfrm>
            <a:off x="822960" y="1554480"/>
            <a:ext cx="4937760" cy="457200"/>
          </a:xfrm>
          <a:prstGeom prst="rect">
            <a:avLst/>
          </a:prstGeom>
          <a:noFill/>
          <a:ln/>
        </p:spPr>
        <p:txBody>
          <a:bodyPr wrap="square" lIns="0" tIns="0" rIns="0" bIns="0" rtlCol="0" anchor="t"/>
          <a:lstStyle/>
          <a:p>
            <a:pPr marL="0" indent="0">
              <a:buNone/>
            </a:pPr>
            <a:r>
              <a:rPr lang="en-US" sz="2000" b="1" dirty="0">
                <a:solidFill>
                  <a:schemeClr val="accent2"/>
                </a:solidFill>
              </a:rPr>
              <a:t>Classification: WHAT is in it?</a:t>
            </a:r>
            <a:endParaRPr lang="en-US" sz="2000" dirty="0"/>
          </a:p>
        </p:txBody>
      </p:sp>
      <p:pic>
        <p:nvPicPr>
          <p:cNvPr id="5" name="image-216" descr="A busy scene"/>
          <p:cNvPicPr>
            <a:picLocks noChangeAspect="1"/>
          </p:cNvPicPr>
          <p:nvPr/>
        </p:nvPicPr>
        <p:blipFill>
          <a:blip r:embed="rId3"/>
          <a:stretch>
            <a:fillRect/>
          </a:stretch>
        </p:blipFill>
        <p:spPr>
          <a:xfrm>
            <a:off x="822960" y="2152764"/>
            <a:ext cx="2103120" cy="2095273"/>
          </a:xfrm>
          <a:prstGeom prst="rect">
            <a:avLst/>
          </a:prstGeom>
        </p:spPr>
      </p:pic>
      <p:sp>
        <p:nvSpPr>
          <p:cNvPr id="6" name="text-217"/>
          <p:cNvSpPr txBox="1"/>
          <p:nvPr/>
        </p:nvSpPr>
        <p:spPr>
          <a:xfrm>
            <a:off x="3154680" y="2651760"/>
            <a:ext cx="2651760" cy="1097280"/>
          </a:xfrm>
          <a:prstGeom prst="rect">
            <a:avLst/>
          </a:prstGeom>
          <a:noFill/>
          <a:ln/>
        </p:spPr>
        <p:txBody>
          <a:bodyPr wrap="square" lIns="0" tIns="0" rIns="0" bIns="0" rtlCol="0" anchor="t"/>
          <a:lstStyle/>
          <a:p>
            <a:pPr marL="0" indent="0">
              <a:buNone/>
            </a:pPr>
            <a:r>
              <a:rPr lang="en-US" sz="2000" b="1" dirty="0">
                <a:solidFill>
                  <a:schemeClr val="tx1"/>
                </a:solidFill>
              </a:rPr>
              <a:t>Wally?  </a:t>
            </a:r>
            <a:r>
              <a:rPr lang="en-US" sz="2000" b="1" dirty="0">
                <a:solidFill>
                  <a:schemeClr val="accent3"/>
                </a:solidFill>
              </a:rPr>
              <a:t>yes 97%</a:t>
            </a:r>
            <a:endParaRPr lang="en-US" sz="2000" dirty="0"/>
          </a:p>
          <a:p>
            <a:pPr marL="0" indent="0">
              <a:buNone/>
            </a:pPr>
            <a:r>
              <a:rPr lang="en-US" sz="2000" dirty="0">
                <a:solidFill>
                  <a:schemeClr val="accent5"/>
                </a:solidFill>
              </a:rPr>
              <a:t>no 3%</a:t>
            </a:r>
            <a:endParaRPr lang="en-US" sz="2000" dirty="0"/>
          </a:p>
        </p:txBody>
      </p:sp>
      <p:sp>
        <p:nvSpPr>
          <p:cNvPr id="7" name="text-218"/>
          <p:cNvSpPr txBox="1"/>
          <p:nvPr/>
        </p:nvSpPr>
        <p:spPr>
          <a:xfrm>
            <a:off x="822960" y="4480560"/>
            <a:ext cx="493776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output: one probability per class (</a:t>
            </a:r>
            <a:r>
              <a:rPr lang="en-US" sz="1500" dirty="0" err="1">
                <a:solidFill>
                  <a:schemeClr val="tx1"/>
                </a:solidFill>
              </a:rPr>
              <a:t>softmax</a:t>
            </a:r>
            <a:r>
              <a:rPr lang="en-US" sz="1500" dirty="0">
                <a:solidFill>
                  <a:schemeClr val="tx1"/>
                </a:solidFill>
              </a:rPr>
              <a:t>)</a:t>
            </a:r>
            <a:endParaRPr lang="en-US" sz="1500" dirty="0"/>
          </a:p>
        </p:txBody>
      </p:sp>
      <p:sp>
        <p:nvSpPr>
          <p:cNvPr id="8" name="card-219"/>
          <p:cNvSpPr/>
          <p:nvPr/>
        </p:nvSpPr>
        <p:spPr>
          <a:xfrm>
            <a:off x="6263640" y="1417320"/>
            <a:ext cx="5349240" cy="4663440"/>
          </a:xfrm>
          <a:prstGeom prst="roundRect">
            <a:avLst>
              <a:gd name="adj" fmla="val 2353"/>
            </a:avLst>
          </a:prstGeom>
          <a:solidFill>
            <a:schemeClr val="bg2"/>
          </a:solidFill>
          <a:ln w="12700">
            <a:solidFill>
              <a:schemeClr val="bg2"/>
            </a:solidFill>
            <a:prstDash val="solid"/>
          </a:ln>
        </p:spPr>
        <p:txBody>
          <a:bodyPr/>
          <a:lstStyle/>
          <a:p>
            <a:endParaRPr lang="en-GB"/>
          </a:p>
        </p:txBody>
      </p:sp>
      <p:sp>
        <p:nvSpPr>
          <p:cNvPr id="9" name="text-220"/>
          <p:cNvSpPr txBox="1"/>
          <p:nvPr/>
        </p:nvSpPr>
        <p:spPr>
          <a:xfrm>
            <a:off x="6537960" y="1554480"/>
            <a:ext cx="4846320" cy="457200"/>
          </a:xfrm>
          <a:prstGeom prst="rect">
            <a:avLst/>
          </a:prstGeom>
          <a:noFill/>
          <a:ln/>
        </p:spPr>
        <p:txBody>
          <a:bodyPr wrap="square" lIns="0" tIns="0" rIns="0" bIns="0" rtlCol="0" anchor="t"/>
          <a:lstStyle/>
          <a:p>
            <a:pPr marL="0" indent="0">
              <a:buNone/>
            </a:pPr>
            <a:r>
              <a:rPr lang="en-US" sz="2000" b="1" dirty="0">
                <a:solidFill>
                  <a:schemeClr val="accent1"/>
                </a:solidFill>
              </a:rPr>
              <a:t>Localisation: WHERE is it?</a:t>
            </a:r>
            <a:endParaRPr lang="en-US" sz="2000" dirty="0"/>
          </a:p>
        </p:txBody>
      </p:sp>
      <p:pic>
        <p:nvPicPr>
          <p:cNvPr id="10" name="image-221" descr="The same kind of scene with a box around Wally"/>
          <p:cNvPicPr>
            <a:picLocks noChangeAspect="1"/>
          </p:cNvPicPr>
          <p:nvPr/>
        </p:nvPicPr>
        <p:blipFill>
          <a:blip r:embed="rId4"/>
          <a:stretch>
            <a:fillRect/>
          </a:stretch>
        </p:blipFill>
        <p:spPr>
          <a:xfrm>
            <a:off x="6537960" y="2152764"/>
            <a:ext cx="2103120" cy="2095273"/>
          </a:xfrm>
          <a:prstGeom prst="rect">
            <a:avLst/>
          </a:prstGeom>
        </p:spPr>
      </p:pic>
      <p:sp>
        <p:nvSpPr>
          <p:cNvPr id="11" name="text-222"/>
          <p:cNvSpPr txBox="1"/>
          <p:nvPr/>
        </p:nvSpPr>
        <p:spPr>
          <a:xfrm>
            <a:off x="8869680" y="2651760"/>
            <a:ext cx="2651760" cy="1097280"/>
          </a:xfrm>
          <a:prstGeom prst="rect">
            <a:avLst/>
          </a:prstGeom>
          <a:noFill/>
          <a:ln/>
        </p:spPr>
        <p:txBody>
          <a:bodyPr wrap="square" lIns="0" tIns="0" rIns="0" bIns="0" rtlCol="0" anchor="t"/>
          <a:lstStyle/>
          <a:p>
            <a:pPr marL="0" indent="0">
              <a:buNone/>
            </a:pPr>
            <a:r>
              <a:rPr lang="en-US" sz="2000" b="1" dirty="0">
                <a:solidFill>
                  <a:schemeClr val="accent1"/>
                </a:solidFill>
                <a:latin typeface="Courier New" pitchFamily="34" charset="0"/>
                <a:ea typeface="Courier New" pitchFamily="34" charset="-122"/>
                <a:cs typeface="Courier New" pitchFamily="34" charset="-120"/>
              </a:rPr>
              <a:t>(0.53, 0.14,</a:t>
            </a:r>
            <a:endParaRPr lang="en-US" sz="2000" dirty="0"/>
          </a:p>
          <a:p>
            <a:pPr marL="0" indent="0">
              <a:buNone/>
            </a:pPr>
            <a:r>
              <a:rPr lang="en-US" sz="2000" b="1" dirty="0">
                <a:solidFill>
                  <a:schemeClr val="accent1"/>
                </a:solidFill>
                <a:latin typeface="Courier New" pitchFamily="34" charset="0"/>
                <a:ea typeface="Courier New" pitchFamily="34" charset="-122"/>
                <a:cs typeface="Courier New" pitchFamily="34" charset="-120"/>
              </a:rPr>
              <a:t> 0.66, 0.36)</a:t>
            </a:r>
            <a:endParaRPr lang="en-US" sz="2000" dirty="0"/>
          </a:p>
        </p:txBody>
      </p:sp>
      <p:sp>
        <p:nvSpPr>
          <p:cNvPr id="12" name="text-223"/>
          <p:cNvSpPr txBox="1"/>
          <p:nvPr/>
        </p:nvSpPr>
        <p:spPr>
          <a:xfrm>
            <a:off x="6537960" y="4480560"/>
            <a:ext cx="484632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output: 4 numbers, the box corners</a:t>
            </a:r>
            <a:endParaRPr lang="en-US" sz="1500" dirty="0"/>
          </a:p>
          <a:p>
            <a:pPr marL="342900" indent="-342900">
              <a:spcAft>
                <a:spcPts val="800"/>
              </a:spcAft>
              <a:buSzPct val="100000"/>
              <a:buChar char="•"/>
            </a:pPr>
            <a:r>
              <a:rPr lang="en-US" sz="1500" dirty="0">
                <a:solidFill>
                  <a:schemeClr val="tx1"/>
                </a:solidFill>
              </a:rPr>
              <a:t>loss: mean squared error (how far off)</a:t>
            </a:r>
            <a:endParaRPr lang="en-US" sz="1500" dirty="0"/>
          </a:p>
          <a:p>
            <a:pPr marL="342900" indent="-342900">
              <a:spcAft>
                <a:spcPts val="800"/>
              </a:spcAft>
              <a:buSzPct val="100000"/>
              <a:buChar char="•"/>
            </a:pPr>
            <a:r>
              <a:rPr lang="en-US" sz="1500" dirty="0">
                <a:solidFill>
                  <a:schemeClr val="tx1"/>
                </a:solidFill>
              </a:rPr>
              <a:t>today! Same CNN body, different head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2103120"/>
            <a:ext cx="10698480" cy="548640"/>
          </a:xfrm>
          <a:prstGeom prst="rect">
            <a:avLst/>
          </a:prstGeom>
          <a:noFill/>
          <a:ln/>
        </p:spPr>
        <p:txBody>
          <a:bodyPr wrap="square" rtlCol="0"/>
          <a:lstStyle/>
          <a:p>
            <a:pPr marL="0" indent="0" algn="l">
              <a:buNone/>
            </a:pPr>
            <a:r>
              <a:rPr lang="en-US" sz="2000" b="1" dirty="0">
                <a:solidFill>
                  <a:schemeClr val="bg2"/>
                </a:solidFill>
              </a:rPr>
              <a:t>PART 3</a:t>
            </a:r>
            <a:endParaRPr lang="en-US" sz="2000" dirty="0"/>
          </a:p>
        </p:txBody>
      </p:sp>
      <p:sp>
        <p:nvSpPr>
          <p:cNvPr id="3" name="Text 0"/>
          <p:cNvSpPr>
            <a:spLocks noGrp="1"/>
          </p:cNvSpPr>
          <p:nvPr>
            <p:ph type="title" idx="101" hasCustomPrompt="1"/>
          </p:nvPr>
        </p:nvSpPr>
        <p:spPr>
          <a:xfrm>
            <a:off x="731520" y="2651760"/>
            <a:ext cx="10698480" cy="1188720"/>
          </a:xfrm>
          <a:prstGeom prst="rect">
            <a:avLst/>
          </a:prstGeom>
          <a:noFill/>
          <a:ln/>
        </p:spPr>
        <p:txBody>
          <a:bodyPr wrap="square" rtlCol="0" anchor="t"/>
          <a:lstStyle/>
          <a:p>
            <a:pPr marL="0" indent="0" algn="l">
              <a:buNone/>
            </a:pPr>
            <a:r>
              <a:rPr lang="en-US" sz="4400" b="1" dirty="0">
                <a:solidFill>
                  <a:schemeClr val="bg1"/>
                </a:solidFill>
                <a:latin typeface="Cambria" pitchFamily="34" charset="0"/>
                <a:ea typeface="Cambria" pitchFamily="34" charset="-122"/>
                <a:cs typeface="Cambria" pitchFamily="34" charset="-120"/>
              </a:rPr>
              <a:t>What's new in today's notebook</a:t>
            </a:r>
            <a:endParaRPr lang="en-US" sz="4400" dirty="0"/>
          </a:p>
        </p:txBody>
      </p:sp>
      <p:sp>
        <p:nvSpPr>
          <p:cNvPr id="4" name="Text 0"/>
          <p:cNvSpPr>
            <a:spLocks noGrp="1"/>
          </p:cNvSpPr>
          <p:nvPr>
            <p:ph type="body" idx="102" hasCustomPrompt="1"/>
          </p:nvPr>
        </p:nvSpPr>
        <p:spPr>
          <a:xfrm>
            <a:off x="731520" y="3931920"/>
            <a:ext cx="9601200" cy="822960"/>
          </a:xfrm>
          <a:prstGeom prst="rect">
            <a:avLst/>
          </a:prstGeom>
          <a:noFill/>
          <a:ln/>
        </p:spPr>
        <p:txBody>
          <a:bodyPr wrap="square" rtlCol="0" anchor="t"/>
          <a:lstStyle/>
          <a:p>
            <a:pPr marL="0" indent="0" algn="l">
              <a:buNone/>
            </a:pPr>
            <a:r>
              <a:rPr lang="en-US" sz="2000" dirty="0">
                <a:solidFill>
                  <a:schemeClr val="bg1"/>
                </a:solidFill>
              </a:rPr>
              <a:t>The heatmap head, the training loop and IoU</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The heatmap head: "which square is Wally in?"</a:t>
            </a:r>
            <a:endParaRPr lang="en-US" sz="3400" dirty="0"/>
          </a:p>
        </p:txBody>
      </p:sp>
      <p:pic>
        <p:nvPicPr>
          <p:cNvPr id="3" name="image-224" descr="A 4x4 heatmap: column totals times positions give the centre x of about 0.83"/>
          <p:cNvPicPr>
            <a:picLocks noChangeAspect="1"/>
          </p:cNvPicPr>
          <p:nvPr/>
        </p:nvPicPr>
        <p:blipFill>
          <a:blip r:embed="rId3"/>
          <a:stretch>
            <a:fillRect/>
          </a:stretch>
        </p:blipFill>
        <p:spPr>
          <a:xfrm>
            <a:off x="457200" y="1261252"/>
            <a:ext cx="5852160" cy="3969737"/>
          </a:xfrm>
          <a:prstGeom prst="rect">
            <a:avLst/>
          </a:prstGeom>
        </p:spPr>
      </p:pic>
      <p:sp>
        <p:nvSpPr>
          <p:cNvPr id="4" name="num-225"/>
          <p:cNvSpPr/>
          <p:nvPr/>
        </p:nvSpPr>
        <p:spPr>
          <a:xfrm>
            <a:off x="6583680" y="1371600"/>
            <a:ext cx="502920" cy="502920"/>
          </a:xfrm>
          <a:prstGeom prst="ellipse">
            <a:avLst/>
          </a:prstGeom>
          <a:solidFill>
            <a:schemeClr val="accent1"/>
          </a:solidFill>
          <a:ln w="12700">
            <a:solidFill>
              <a:schemeClr val="accent1"/>
            </a:solidFill>
            <a:prstDash val="solid"/>
          </a:ln>
        </p:spPr>
        <p:txBody>
          <a:bodyPr/>
          <a:lstStyle/>
          <a:p>
            <a:endParaRPr lang="en-GB"/>
          </a:p>
        </p:txBody>
      </p:sp>
      <p:sp>
        <p:nvSpPr>
          <p:cNvPr id="5" name="text-226"/>
          <p:cNvSpPr txBox="1"/>
          <p:nvPr/>
        </p:nvSpPr>
        <p:spPr>
          <a:xfrm>
            <a:off x="6583680" y="13716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227"/>
          <p:cNvSpPr txBox="1"/>
          <p:nvPr/>
        </p:nvSpPr>
        <p:spPr>
          <a:xfrm>
            <a:off x="7269480" y="1353312"/>
            <a:ext cx="4343400" cy="365760"/>
          </a:xfrm>
          <a:prstGeom prst="rect">
            <a:avLst/>
          </a:prstGeom>
          <a:noFill/>
          <a:ln/>
        </p:spPr>
        <p:txBody>
          <a:bodyPr wrap="square" lIns="0" tIns="0" rIns="0" bIns="0" rtlCol="0" anchor="t"/>
          <a:lstStyle/>
          <a:p>
            <a:pPr marL="0" indent="0">
              <a:buNone/>
            </a:pPr>
            <a:r>
              <a:rPr lang="en-US" sz="1800" b="1" dirty="0">
                <a:solidFill>
                  <a:schemeClr val="tx1"/>
                </a:solidFill>
              </a:rPr>
              <a:t>Score every square</a:t>
            </a:r>
            <a:endParaRPr lang="en-US" sz="1800" dirty="0"/>
          </a:p>
        </p:txBody>
      </p:sp>
      <p:sp>
        <p:nvSpPr>
          <p:cNvPr id="7" name="text-228"/>
          <p:cNvSpPr txBox="1"/>
          <p:nvPr/>
        </p:nvSpPr>
        <p:spPr>
          <a:xfrm>
            <a:off x="7269480" y="1719072"/>
            <a:ext cx="4343400" cy="594360"/>
          </a:xfrm>
          <a:prstGeom prst="rect">
            <a:avLst/>
          </a:prstGeom>
          <a:noFill/>
          <a:ln/>
        </p:spPr>
        <p:txBody>
          <a:bodyPr wrap="square" lIns="0" tIns="0" rIns="0" bIns="0" rtlCol="0" anchor="t"/>
          <a:lstStyle/>
          <a:p>
            <a:pPr marL="0" indent="0">
              <a:buNone/>
            </a:pPr>
            <a:r>
              <a:rPr lang="en-US" sz="1400" dirty="0">
                <a:solidFill>
                  <a:schemeClr val="tx1"/>
                </a:solidFill>
              </a:rPr>
              <a:t>a 1×1 conv asks each of the 256 squares "how Wally-like are you?"</a:t>
            </a:r>
            <a:endParaRPr lang="en-US" sz="1400" dirty="0"/>
          </a:p>
        </p:txBody>
      </p:sp>
      <p:sp>
        <p:nvSpPr>
          <p:cNvPr id="8" name="num-229"/>
          <p:cNvSpPr/>
          <p:nvPr/>
        </p:nvSpPr>
        <p:spPr>
          <a:xfrm>
            <a:off x="6583680" y="2395728"/>
            <a:ext cx="502920" cy="502920"/>
          </a:xfrm>
          <a:prstGeom prst="ellipse">
            <a:avLst/>
          </a:prstGeom>
          <a:solidFill>
            <a:schemeClr val="accent1"/>
          </a:solidFill>
          <a:ln w="12700">
            <a:solidFill>
              <a:schemeClr val="accent1"/>
            </a:solidFill>
            <a:prstDash val="solid"/>
          </a:ln>
        </p:spPr>
        <p:txBody>
          <a:bodyPr/>
          <a:lstStyle/>
          <a:p>
            <a:endParaRPr lang="en-GB"/>
          </a:p>
        </p:txBody>
      </p:sp>
      <p:sp>
        <p:nvSpPr>
          <p:cNvPr id="9" name="text-230"/>
          <p:cNvSpPr txBox="1"/>
          <p:nvPr/>
        </p:nvSpPr>
        <p:spPr>
          <a:xfrm>
            <a:off x="6583680" y="2395728"/>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text-231"/>
          <p:cNvSpPr txBox="1"/>
          <p:nvPr/>
        </p:nvSpPr>
        <p:spPr>
          <a:xfrm>
            <a:off x="7269480" y="2377440"/>
            <a:ext cx="4343400" cy="365760"/>
          </a:xfrm>
          <a:prstGeom prst="rect">
            <a:avLst/>
          </a:prstGeom>
          <a:noFill/>
          <a:ln/>
        </p:spPr>
        <p:txBody>
          <a:bodyPr wrap="square" lIns="0" tIns="0" rIns="0" bIns="0" rtlCol="0" anchor="t"/>
          <a:lstStyle/>
          <a:p>
            <a:pPr marL="0" indent="0">
              <a:buNone/>
            </a:pPr>
            <a:r>
              <a:rPr lang="en-US" sz="1800" b="1" dirty="0">
                <a:solidFill>
                  <a:schemeClr val="tx1"/>
                </a:solidFill>
              </a:rPr>
              <a:t>Softmax</a:t>
            </a:r>
            <a:endParaRPr lang="en-US" sz="1800" dirty="0"/>
          </a:p>
        </p:txBody>
      </p:sp>
      <p:sp>
        <p:nvSpPr>
          <p:cNvPr id="11" name="text-232"/>
          <p:cNvSpPr txBox="1"/>
          <p:nvPr/>
        </p:nvSpPr>
        <p:spPr>
          <a:xfrm>
            <a:off x="7269480" y="2743200"/>
            <a:ext cx="4343400" cy="594360"/>
          </a:xfrm>
          <a:prstGeom prst="rect">
            <a:avLst/>
          </a:prstGeom>
          <a:noFill/>
          <a:ln/>
        </p:spPr>
        <p:txBody>
          <a:bodyPr wrap="square" lIns="0" tIns="0" rIns="0" bIns="0" rtlCol="0" anchor="t"/>
          <a:lstStyle/>
          <a:p>
            <a:pPr marL="0" indent="0">
              <a:buNone/>
            </a:pPr>
            <a:r>
              <a:rPr lang="en-US" sz="1400" dirty="0">
                <a:solidFill>
                  <a:schemeClr val="tx1"/>
                </a:solidFill>
              </a:rPr>
              <a:t>turns the scores into probabilities that add up to 1: the heatmap</a:t>
            </a:r>
            <a:endParaRPr lang="en-US" sz="1400" dirty="0"/>
          </a:p>
        </p:txBody>
      </p:sp>
      <p:sp>
        <p:nvSpPr>
          <p:cNvPr id="12" name="num-233"/>
          <p:cNvSpPr/>
          <p:nvPr/>
        </p:nvSpPr>
        <p:spPr>
          <a:xfrm>
            <a:off x="6583680" y="3419856"/>
            <a:ext cx="502920" cy="502920"/>
          </a:xfrm>
          <a:prstGeom prst="ellipse">
            <a:avLst/>
          </a:prstGeom>
          <a:solidFill>
            <a:schemeClr val="accent1"/>
          </a:solidFill>
          <a:ln w="12700">
            <a:solidFill>
              <a:schemeClr val="accent1"/>
            </a:solidFill>
            <a:prstDash val="solid"/>
          </a:ln>
        </p:spPr>
        <p:txBody>
          <a:bodyPr/>
          <a:lstStyle/>
          <a:p>
            <a:endParaRPr lang="en-GB"/>
          </a:p>
        </p:txBody>
      </p:sp>
      <p:sp>
        <p:nvSpPr>
          <p:cNvPr id="13" name="text-234"/>
          <p:cNvSpPr txBox="1"/>
          <p:nvPr/>
        </p:nvSpPr>
        <p:spPr>
          <a:xfrm>
            <a:off x="6583680" y="3419856"/>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4" name="text-235"/>
          <p:cNvSpPr txBox="1"/>
          <p:nvPr/>
        </p:nvSpPr>
        <p:spPr>
          <a:xfrm>
            <a:off x="7269480" y="3401568"/>
            <a:ext cx="4343400" cy="365760"/>
          </a:xfrm>
          <a:prstGeom prst="rect">
            <a:avLst/>
          </a:prstGeom>
          <a:noFill/>
          <a:ln/>
        </p:spPr>
        <p:txBody>
          <a:bodyPr wrap="square" lIns="0" tIns="0" rIns="0" bIns="0" rtlCol="0" anchor="t"/>
          <a:lstStyle/>
          <a:p>
            <a:pPr marL="0" indent="0">
              <a:buNone/>
            </a:pPr>
            <a:r>
              <a:rPr lang="en-US" sz="1800" b="1" dirty="0">
                <a:solidFill>
                  <a:schemeClr val="tx1"/>
                </a:solidFill>
              </a:rPr>
              <a:t>Weighted average</a:t>
            </a:r>
            <a:endParaRPr lang="en-US" sz="1800" dirty="0"/>
          </a:p>
        </p:txBody>
      </p:sp>
      <p:sp>
        <p:nvSpPr>
          <p:cNvPr id="15" name="text-236"/>
          <p:cNvSpPr txBox="1"/>
          <p:nvPr/>
        </p:nvSpPr>
        <p:spPr>
          <a:xfrm>
            <a:off x="7269480" y="3767328"/>
            <a:ext cx="4343400" cy="594360"/>
          </a:xfrm>
          <a:prstGeom prst="rect">
            <a:avLst/>
          </a:prstGeom>
          <a:noFill/>
          <a:ln/>
        </p:spPr>
        <p:txBody>
          <a:bodyPr wrap="square" lIns="0" tIns="0" rIns="0" bIns="0" rtlCol="0" anchor="t"/>
          <a:lstStyle/>
          <a:p>
            <a:pPr marL="0" indent="0">
              <a:buNone/>
            </a:pPr>
            <a:r>
              <a:rPr lang="en-US" sz="1400" dirty="0">
                <a:solidFill>
                  <a:schemeClr val="tx1"/>
                </a:solidFill>
              </a:rPr>
              <a:t>of the square positions gives the centre (x, y)</a:t>
            </a:r>
            <a:endParaRPr lang="en-US" sz="1400" dirty="0"/>
          </a:p>
        </p:txBody>
      </p:sp>
      <p:sp>
        <p:nvSpPr>
          <p:cNvPr id="16" name="num-237"/>
          <p:cNvSpPr/>
          <p:nvPr/>
        </p:nvSpPr>
        <p:spPr>
          <a:xfrm>
            <a:off x="6583680" y="4443984"/>
            <a:ext cx="502920" cy="502920"/>
          </a:xfrm>
          <a:prstGeom prst="ellipse">
            <a:avLst/>
          </a:prstGeom>
          <a:solidFill>
            <a:schemeClr val="accent1"/>
          </a:solidFill>
          <a:ln w="12700">
            <a:solidFill>
              <a:schemeClr val="accent1"/>
            </a:solidFill>
            <a:prstDash val="solid"/>
          </a:ln>
        </p:spPr>
        <p:txBody>
          <a:bodyPr/>
          <a:lstStyle/>
          <a:p>
            <a:endParaRPr lang="en-GB"/>
          </a:p>
        </p:txBody>
      </p:sp>
      <p:sp>
        <p:nvSpPr>
          <p:cNvPr id="17" name="text-238"/>
          <p:cNvSpPr txBox="1"/>
          <p:nvPr/>
        </p:nvSpPr>
        <p:spPr>
          <a:xfrm>
            <a:off x="6583680" y="4443984"/>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8" name="text-239"/>
          <p:cNvSpPr txBox="1"/>
          <p:nvPr/>
        </p:nvSpPr>
        <p:spPr>
          <a:xfrm>
            <a:off x="7269480" y="4425696"/>
            <a:ext cx="4343400" cy="365760"/>
          </a:xfrm>
          <a:prstGeom prst="rect">
            <a:avLst/>
          </a:prstGeom>
          <a:noFill/>
          <a:ln/>
        </p:spPr>
        <p:txBody>
          <a:bodyPr wrap="square" lIns="0" tIns="0" rIns="0" bIns="0" rtlCol="0" anchor="t"/>
          <a:lstStyle/>
          <a:p>
            <a:pPr marL="0" indent="0">
              <a:buNone/>
            </a:pPr>
            <a:r>
              <a:rPr lang="en-US" sz="1800" b="1" dirty="0">
                <a:solidFill>
                  <a:schemeClr val="tx1"/>
                </a:solidFill>
              </a:rPr>
              <a:t>Size</a:t>
            </a:r>
            <a:endParaRPr lang="en-US" sz="1800" dirty="0"/>
          </a:p>
        </p:txBody>
      </p:sp>
      <p:sp>
        <p:nvSpPr>
          <p:cNvPr id="19" name="text-240"/>
          <p:cNvSpPr txBox="1"/>
          <p:nvPr/>
        </p:nvSpPr>
        <p:spPr>
          <a:xfrm>
            <a:off x="7269480" y="4791456"/>
            <a:ext cx="4343400" cy="594360"/>
          </a:xfrm>
          <a:prstGeom prst="rect">
            <a:avLst/>
          </a:prstGeom>
          <a:noFill/>
          <a:ln/>
        </p:spPr>
        <p:txBody>
          <a:bodyPr wrap="square" lIns="0" tIns="0" rIns="0" bIns="0" rtlCol="0" anchor="t"/>
          <a:lstStyle/>
          <a:p>
            <a:pPr marL="0" indent="0">
              <a:buNone/>
            </a:pPr>
            <a:r>
              <a:rPr lang="en-US" sz="1400" dirty="0">
                <a:solidFill>
                  <a:schemeClr val="tx1"/>
                </a:solidFill>
              </a:rPr>
              <a:t>the strongest response of each of the 64 channels → width and height</a:t>
            </a:r>
            <a:endParaRPr lang="en-US" sz="1400" dirty="0"/>
          </a:p>
        </p:txBody>
      </p:sp>
      <p:sp>
        <p:nvSpPr>
          <p:cNvPr id="20" name="card-241"/>
          <p:cNvSpPr/>
          <p:nvPr/>
        </p:nvSpPr>
        <p:spPr>
          <a:xfrm>
            <a:off x="548640" y="5394960"/>
            <a:ext cx="11064240" cy="777240"/>
          </a:xfrm>
          <a:prstGeom prst="roundRect">
            <a:avLst>
              <a:gd name="adj" fmla="val 14118"/>
            </a:avLst>
          </a:prstGeom>
          <a:solidFill>
            <a:schemeClr val="accent6"/>
          </a:solidFill>
          <a:ln w="12700">
            <a:solidFill>
              <a:schemeClr val="accent6"/>
            </a:solidFill>
            <a:prstDash val="solid"/>
          </a:ln>
        </p:spPr>
        <p:txBody>
          <a:bodyPr/>
          <a:lstStyle/>
          <a:p>
            <a:endParaRPr lang="en-GB"/>
          </a:p>
        </p:txBody>
      </p:sp>
      <p:sp>
        <p:nvSpPr>
          <p:cNvPr id="21" name="text-242"/>
          <p:cNvSpPr txBox="1"/>
          <p:nvPr/>
        </p:nvSpPr>
        <p:spPr>
          <a:xfrm>
            <a:off x="777240" y="5468112"/>
            <a:ext cx="10607040" cy="640080"/>
          </a:xfrm>
          <a:prstGeom prst="rect">
            <a:avLst/>
          </a:prstGeom>
          <a:noFill/>
          <a:ln/>
        </p:spPr>
        <p:txBody>
          <a:bodyPr wrap="square" lIns="0" tIns="0" rIns="0" bIns="0" rtlCol="0" anchor="ctr"/>
          <a:lstStyle/>
          <a:p>
            <a:pPr marL="0" indent="0">
              <a:buNone/>
            </a:pPr>
            <a:r>
              <a:rPr lang="en-US" sz="1500" dirty="0">
                <a:solidFill>
                  <a:schemeClr val="tx1"/>
                </a:solidFill>
              </a:rPr>
              <a:t>Why? The simple "flatten → Linear → 4 numbers" head just guessed the middle of every picture (IoU 0.03). One shared "is this Wally?" detector works anywhere.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Step 5: the training loop, 320 times over</a:t>
            </a:r>
            <a:endParaRPr lang="en-US" sz="3400" dirty="0"/>
          </a:p>
        </p:txBody>
      </p:sp>
      <p:sp>
        <p:nvSpPr>
          <p:cNvPr id="3" name="card-243"/>
          <p:cNvSpPr/>
          <p:nvPr/>
        </p:nvSpPr>
        <p:spPr>
          <a:xfrm>
            <a:off x="548640" y="1325880"/>
            <a:ext cx="5760720" cy="768096"/>
          </a:xfrm>
          <a:prstGeom prst="roundRect">
            <a:avLst>
              <a:gd name="adj" fmla="val 14286"/>
            </a:avLst>
          </a:prstGeom>
          <a:solidFill>
            <a:schemeClr val="bg2"/>
          </a:solidFill>
          <a:ln w="12700">
            <a:solidFill>
              <a:schemeClr val="bg2"/>
            </a:solidFill>
            <a:prstDash val="solid"/>
          </a:ln>
        </p:spPr>
        <p:txBody>
          <a:bodyPr/>
          <a:lstStyle/>
          <a:p>
            <a:endParaRPr lang="en-GB"/>
          </a:p>
        </p:txBody>
      </p:sp>
      <p:sp>
        <p:nvSpPr>
          <p:cNvPr id="4" name="num-244"/>
          <p:cNvSpPr/>
          <p:nvPr/>
        </p:nvSpPr>
        <p:spPr>
          <a:xfrm>
            <a:off x="731520" y="1458468"/>
            <a:ext cx="502920" cy="502920"/>
          </a:xfrm>
          <a:prstGeom prst="ellipse">
            <a:avLst/>
          </a:prstGeom>
          <a:solidFill>
            <a:schemeClr val="accent1"/>
          </a:solidFill>
          <a:ln w="12700">
            <a:solidFill>
              <a:schemeClr val="accent1"/>
            </a:solidFill>
            <a:prstDash val="solid"/>
          </a:ln>
        </p:spPr>
        <p:txBody>
          <a:bodyPr/>
          <a:lstStyle/>
          <a:p>
            <a:endParaRPr lang="en-GB"/>
          </a:p>
        </p:txBody>
      </p:sp>
      <p:sp>
        <p:nvSpPr>
          <p:cNvPr id="5" name="text-245"/>
          <p:cNvSpPr txBox="1"/>
          <p:nvPr/>
        </p:nvSpPr>
        <p:spPr>
          <a:xfrm>
            <a:off x="731520" y="1458468"/>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246"/>
          <p:cNvSpPr txBox="1"/>
          <p:nvPr/>
        </p:nvSpPr>
        <p:spPr>
          <a:xfrm>
            <a:off x="1417320" y="1399032"/>
            <a:ext cx="4754880" cy="347472"/>
          </a:xfrm>
          <a:prstGeom prst="rect">
            <a:avLst/>
          </a:prstGeom>
          <a:noFill/>
          <a:ln/>
        </p:spPr>
        <p:txBody>
          <a:bodyPr wrap="square" lIns="0" tIns="0" rIns="0" bIns="0" rtlCol="0" anchor="t"/>
          <a:lstStyle/>
          <a:p>
            <a:pPr marL="0" indent="0">
              <a:buNone/>
            </a:pPr>
            <a:r>
              <a:rPr lang="en-US" sz="1700" b="1" dirty="0">
                <a:solidFill>
                  <a:schemeClr val="tx1"/>
                </a:solidFill>
              </a:rPr>
              <a:t>Guess</a:t>
            </a:r>
            <a:endParaRPr lang="en-US" sz="1700" dirty="0"/>
          </a:p>
        </p:txBody>
      </p:sp>
      <p:sp>
        <p:nvSpPr>
          <p:cNvPr id="7" name="text-247"/>
          <p:cNvSpPr txBox="1"/>
          <p:nvPr/>
        </p:nvSpPr>
        <p:spPr>
          <a:xfrm>
            <a:off x="1417320" y="1746504"/>
            <a:ext cx="4754880" cy="320040"/>
          </a:xfrm>
          <a:prstGeom prst="rect">
            <a:avLst/>
          </a:prstGeom>
          <a:noFill/>
          <a:ln/>
        </p:spPr>
        <p:txBody>
          <a:bodyPr wrap="square" lIns="0" tIns="0" rIns="0" bIns="0" rtlCol="0" anchor="t"/>
          <a:lstStyle/>
          <a:p>
            <a:pPr marL="0" indent="0">
              <a:buNone/>
            </a:pPr>
            <a:r>
              <a:rPr lang="en-US" sz="1300" dirty="0">
                <a:solidFill>
                  <a:schemeClr val="accent2"/>
                </a:solidFill>
                <a:latin typeface="Courier New" pitchFamily="34" charset="0"/>
                <a:ea typeface="Courier New" pitchFamily="34" charset="-122"/>
                <a:cs typeface="Courier New" pitchFamily="34" charset="-120"/>
              </a:rPr>
              <a:t>predictions = model(images)</a:t>
            </a:r>
            <a:endParaRPr lang="en-US" sz="1300" dirty="0"/>
          </a:p>
        </p:txBody>
      </p:sp>
      <p:sp>
        <p:nvSpPr>
          <p:cNvPr id="8" name="card-248"/>
          <p:cNvSpPr/>
          <p:nvPr/>
        </p:nvSpPr>
        <p:spPr>
          <a:xfrm>
            <a:off x="548640" y="2185416"/>
            <a:ext cx="5760720" cy="768096"/>
          </a:xfrm>
          <a:prstGeom prst="roundRect">
            <a:avLst>
              <a:gd name="adj" fmla="val 14286"/>
            </a:avLst>
          </a:prstGeom>
          <a:solidFill>
            <a:schemeClr val="bg2"/>
          </a:solidFill>
          <a:ln w="12700">
            <a:solidFill>
              <a:schemeClr val="bg2"/>
            </a:solidFill>
            <a:prstDash val="solid"/>
          </a:ln>
        </p:spPr>
        <p:txBody>
          <a:bodyPr/>
          <a:lstStyle/>
          <a:p>
            <a:endParaRPr lang="en-GB"/>
          </a:p>
        </p:txBody>
      </p:sp>
      <p:sp>
        <p:nvSpPr>
          <p:cNvPr id="9" name="num-249"/>
          <p:cNvSpPr/>
          <p:nvPr/>
        </p:nvSpPr>
        <p:spPr>
          <a:xfrm>
            <a:off x="731520" y="2318004"/>
            <a:ext cx="502920" cy="502920"/>
          </a:xfrm>
          <a:prstGeom prst="ellipse">
            <a:avLst/>
          </a:prstGeom>
          <a:solidFill>
            <a:schemeClr val="accent1"/>
          </a:solidFill>
          <a:ln w="12700">
            <a:solidFill>
              <a:schemeClr val="accent1"/>
            </a:solidFill>
            <a:prstDash val="solid"/>
          </a:ln>
        </p:spPr>
        <p:txBody>
          <a:bodyPr/>
          <a:lstStyle/>
          <a:p>
            <a:endParaRPr lang="en-GB"/>
          </a:p>
        </p:txBody>
      </p:sp>
      <p:sp>
        <p:nvSpPr>
          <p:cNvPr id="10" name="text-250"/>
          <p:cNvSpPr txBox="1"/>
          <p:nvPr/>
        </p:nvSpPr>
        <p:spPr>
          <a:xfrm>
            <a:off x="731520" y="2318004"/>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251"/>
          <p:cNvSpPr txBox="1"/>
          <p:nvPr/>
        </p:nvSpPr>
        <p:spPr>
          <a:xfrm>
            <a:off x="1417320" y="2258568"/>
            <a:ext cx="4754880" cy="347472"/>
          </a:xfrm>
          <a:prstGeom prst="rect">
            <a:avLst/>
          </a:prstGeom>
          <a:noFill/>
          <a:ln/>
        </p:spPr>
        <p:txBody>
          <a:bodyPr wrap="square" lIns="0" tIns="0" rIns="0" bIns="0" rtlCol="0" anchor="t"/>
          <a:lstStyle/>
          <a:p>
            <a:pPr marL="0" indent="0">
              <a:buNone/>
            </a:pPr>
            <a:r>
              <a:rPr lang="en-US" sz="1700" b="1" dirty="0">
                <a:solidFill>
                  <a:schemeClr val="tx1"/>
                </a:solidFill>
              </a:rPr>
              <a:t>How wrong?</a:t>
            </a:r>
            <a:endParaRPr lang="en-US" sz="1700" dirty="0"/>
          </a:p>
        </p:txBody>
      </p:sp>
      <p:sp>
        <p:nvSpPr>
          <p:cNvPr id="12" name="text-252"/>
          <p:cNvSpPr txBox="1"/>
          <p:nvPr/>
        </p:nvSpPr>
        <p:spPr>
          <a:xfrm>
            <a:off x="1417320" y="2606040"/>
            <a:ext cx="4754880" cy="320040"/>
          </a:xfrm>
          <a:prstGeom prst="rect">
            <a:avLst/>
          </a:prstGeom>
          <a:noFill/>
          <a:ln/>
        </p:spPr>
        <p:txBody>
          <a:bodyPr wrap="square" lIns="0" tIns="0" rIns="0" bIns="0" rtlCol="0" anchor="t"/>
          <a:lstStyle/>
          <a:p>
            <a:pPr marL="0" indent="0">
              <a:buNone/>
            </a:pPr>
            <a:r>
              <a:rPr lang="en-US" sz="1300" dirty="0">
                <a:solidFill>
                  <a:schemeClr val="accent2"/>
                </a:solidFill>
                <a:latin typeface="Courier New" pitchFamily="34" charset="0"/>
                <a:ea typeface="Courier New" pitchFamily="34" charset="-122"/>
                <a:cs typeface="Courier New" pitchFamily="34" charset="-120"/>
              </a:rPr>
              <a:t>loss = loss_function(predictions, boxes)</a:t>
            </a:r>
            <a:endParaRPr lang="en-US" sz="1300" dirty="0"/>
          </a:p>
        </p:txBody>
      </p:sp>
      <p:sp>
        <p:nvSpPr>
          <p:cNvPr id="13" name="card-253"/>
          <p:cNvSpPr/>
          <p:nvPr/>
        </p:nvSpPr>
        <p:spPr>
          <a:xfrm>
            <a:off x="548640" y="3044952"/>
            <a:ext cx="5760720" cy="768096"/>
          </a:xfrm>
          <a:prstGeom prst="roundRect">
            <a:avLst>
              <a:gd name="adj" fmla="val 14286"/>
            </a:avLst>
          </a:prstGeom>
          <a:solidFill>
            <a:schemeClr val="bg2"/>
          </a:solidFill>
          <a:ln w="12700">
            <a:solidFill>
              <a:schemeClr val="bg2"/>
            </a:solidFill>
            <a:prstDash val="solid"/>
          </a:ln>
        </p:spPr>
        <p:txBody>
          <a:bodyPr/>
          <a:lstStyle/>
          <a:p>
            <a:endParaRPr lang="en-GB"/>
          </a:p>
        </p:txBody>
      </p:sp>
      <p:sp>
        <p:nvSpPr>
          <p:cNvPr id="14" name="num-254"/>
          <p:cNvSpPr/>
          <p:nvPr/>
        </p:nvSpPr>
        <p:spPr>
          <a:xfrm>
            <a:off x="731520" y="3177540"/>
            <a:ext cx="502920" cy="502920"/>
          </a:xfrm>
          <a:prstGeom prst="ellipse">
            <a:avLst/>
          </a:prstGeom>
          <a:solidFill>
            <a:schemeClr val="accent1"/>
          </a:solidFill>
          <a:ln w="12700">
            <a:solidFill>
              <a:schemeClr val="accent1"/>
            </a:solidFill>
            <a:prstDash val="solid"/>
          </a:ln>
        </p:spPr>
        <p:txBody>
          <a:bodyPr/>
          <a:lstStyle/>
          <a:p>
            <a:endParaRPr lang="en-GB"/>
          </a:p>
        </p:txBody>
      </p:sp>
      <p:sp>
        <p:nvSpPr>
          <p:cNvPr id="15" name="text-255"/>
          <p:cNvSpPr txBox="1"/>
          <p:nvPr/>
        </p:nvSpPr>
        <p:spPr>
          <a:xfrm>
            <a:off x="731520" y="317754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6" name="text-256"/>
          <p:cNvSpPr txBox="1"/>
          <p:nvPr/>
        </p:nvSpPr>
        <p:spPr>
          <a:xfrm>
            <a:off x="1417320" y="3118104"/>
            <a:ext cx="4754880" cy="347472"/>
          </a:xfrm>
          <a:prstGeom prst="rect">
            <a:avLst/>
          </a:prstGeom>
          <a:noFill/>
          <a:ln/>
        </p:spPr>
        <p:txBody>
          <a:bodyPr wrap="square" lIns="0" tIns="0" rIns="0" bIns="0" rtlCol="0" anchor="t"/>
          <a:lstStyle/>
          <a:p>
            <a:pPr marL="0" indent="0">
              <a:buNone/>
            </a:pPr>
            <a:r>
              <a:rPr lang="en-US" sz="1700" b="1" dirty="0">
                <a:solidFill>
                  <a:schemeClr val="tx1"/>
                </a:solidFill>
              </a:rPr>
              <a:t>Clear old gradients</a:t>
            </a:r>
            <a:endParaRPr lang="en-US" sz="1700" dirty="0"/>
          </a:p>
        </p:txBody>
      </p:sp>
      <p:sp>
        <p:nvSpPr>
          <p:cNvPr id="17" name="text-257"/>
          <p:cNvSpPr txBox="1"/>
          <p:nvPr/>
        </p:nvSpPr>
        <p:spPr>
          <a:xfrm>
            <a:off x="1417320" y="3465576"/>
            <a:ext cx="4754880" cy="320040"/>
          </a:xfrm>
          <a:prstGeom prst="rect">
            <a:avLst/>
          </a:prstGeom>
          <a:noFill/>
          <a:ln/>
        </p:spPr>
        <p:txBody>
          <a:bodyPr wrap="square" lIns="0" tIns="0" rIns="0" bIns="0" rtlCol="0" anchor="t"/>
          <a:lstStyle/>
          <a:p>
            <a:pPr marL="0" indent="0">
              <a:buNone/>
            </a:pPr>
            <a:r>
              <a:rPr lang="en-US" sz="1300" dirty="0">
                <a:solidFill>
                  <a:schemeClr val="accent2"/>
                </a:solidFill>
                <a:latin typeface="Courier New" pitchFamily="34" charset="0"/>
                <a:ea typeface="Courier New" pitchFamily="34" charset="-122"/>
                <a:cs typeface="Courier New" pitchFamily="34" charset="-120"/>
              </a:rPr>
              <a:t>optimizer.zero_grad()</a:t>
            </a:r>
            <a:endParaRPr lang="en-US" sz="1300" dirty="0"/>
          </a:p>
        </p:txBody>
      </p:sp>
      <p:sp>
        <p:nvSpPr>
          <p:cNvPr id="18" name="card-258"/>
          <p:cNvSpPr/>
          <p:nvPr/>
        </p:nvSpPr>
        <p:spPr>
          <a:xfrm>
            <a:off x="548640" y="3904488"/>
            <a:ext cx="5760720" cy="768096"/>
          </a:xfrm>
          <a:prstGeom prst="roundRect">
            <a:avLst>
              <a:gd name="adj" fmla="val 14286"/>
            </a:avLst>
          </a:prstGeom>
          <a:solidFill>
            <a:schemeClr val="bg2"/>
          </a:solidFill>
          <a:ln w="12700">
            <a:solidFill>
              <a:schemeClr val="bg2"/>
            </a:solidFill>
            <a:prstDash val="solid"/>
          </a:ln>
        </p:spPr>
        <p:txBody>
          <a:bodyPr/>
          <a:lstStyle/>
          <a:p>
            <a:endParaRPr lang="en-GB"/>
          </a:p>
        </p:txBody>
      </p:sp>
      <p:sp>
        <p:nvSpPr>
          <p:cNvPr id="19" name="num-259"/>
          <p:cNvSpPr/>
          <p:nvPr/>
        </p:nvSpPr>
        <p:spPr>
          <a:xfrm>
            <a:off x="731520" y="4037076"/>
            <a:ext cx="502920" cy="502920"/>
          </a:xfrm>
          <a:prstGeom prst="ellipse">
            <a:avLst/>
          </a:prstGeom>
          <a:solidFill>
            <a:schemeClr val="accent1"/>
          </a:solidFill>
          <a:ln w="12700">
            <a:solidFill>
              <a:schemeClr val="accent1"/>
            </a:solidFill>
            <a:prstDash val="solid"/>
          </a:ln>
        </p:spPr>
        <p:txBody>
          <a:bodyPr/>
          <a:lstStyle/>
          <a:p>
            <a:endParaRPr lang="en-GB"/>
          </a:p>
        </p:txBody>
      </p:sp>
      <p:sp>
        <p:nvSpPr>
          <p:cNvPr id="20" name="text-260"/>
          <p:cNvSpPr txBox="1"/>
          <p:nvPr/>
        </p:nvSpPr>
        <p:spPr>
          <a:xfrm>
            <a:off x="731520" y="4037076"/>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1" name="text-261"/>
          <p:cNvSpPr txBox="1"/>
          <p:nvPr/>
        </p:nvSpPr>
        <p:spPr>
          <a:xfrm>
            <a:off x="1417320" y="3977640"/>
            <a:ext cx="4754880" cy="347472"/>
          </a:xfrm>
          <a:prstGeom prst="rect">
            <a:avLst/>
          </a:prstGeom>
          <a:noFill/>
          <a:ln/>
        </p:spPr>
        <p:txBody>
          <a:bodyPr wrap="square" lIns="0" tIns="0" rIns="0" bIns="0" rtlCol="0" anchor="t"/>
          <a:lstStyle/>
          <a:p>
            <a:pPr marL="0" indent="0">
              <a:buNone/>
            </a:pPr>
            <a:r>
              <a:rPr lang="en-US" sz="1700" b="1" dirty="0">
                <a:solidFill>
                  <a:schemeClr val="tx1"/>
                </a:solidFill>
              </a:rPr>
              <a:t>Work out the fix</a:t>
            </a:r>
            <a:endParaRPr lang="en-US" sz="1700" dirty="0"/>
          </a:p>
        </p:txBody>
      </p:sp>
      <p:sp>
        <p:nvSpPr>
          <p:cNvPr id="22" name="text-262"/>
          <p:cNvSpPr txBox="1"/>
          <p:nvPr/>
        </p:nvSpPr>
        <p:spPr>
          <a:xfrm>
            <a:off x="1417320" y="4325112"/>
            <a:ext cx="4754880" cy="320040"/>
          </a:xfrm>
          <a:prstGeom prst="rect">
            <a:avLst/>
          </a:prstGeom>
          <a:noFill/>
          <a:ln/>
        </p:spPr>
        <p:txBody>
          <a:bodyPr wrap="square" lIns="0" tIns="0" rIns="0" bIns="0" rtlCol="0" anchor="t"/>
          <a:lstStyle/>
          <a:p>
            <a:pPr marL="0" indent="0">
              <a:buNone/>
            </a:pPr>
            <a:r>
              <a:rPr lang="en-US" sz="1300" dirty="0">
                <a:solidFill>
                  <a:schemeClr val="accent2"/>
                </a:solidFill>
                <a:latin typeface="Courier New" pitchFamily="34" charset="0"/>
                <a:ea typeface="Courier New" pitchFamily="34" charset="-122"/>
                <a:cs typeface="Courier New" pitchFamily="34" charset="-120"/>
              </a:rPr>
              <a:t>loss.backward()</a:t>
            </a:r>
            <a:endParaRPr lang="en-US" sz="1300" dirty="0"/>
          </a:p>
        </p:txBody>
      </p:sp>
      <p:sp>
        <p:nvSpPr>
          <p:cNvPr id="23" name="card-263"/>
          <p:cNvSpPr/>
          <p:nvPr/>
        </p:nvSpPr>
        <p:spPr>
          <a:xfrm>
            <a:off x="548640" y="4764024"/>
            <a:ext cx="5760720" cy="768096"/>
          </a:xfrm>
          <a:prstGeom prst="roundRect">
            <a:avLst>
              <a:gd name="adj" fmla="val 14286"/>
            </a:avLst>
          </a:prstGeom>
          <a:solidFill>
            <a:schemeClr val="bg2"/>
          </a:solidFill>
          <a:ln w="12700">
            <a:solidFill>
              <a:schemeClr val="bg2"/>
            </a:solidFill>
            <a:prstDash val="solid"/>
          </a:ln>
        </p:spPr>
        <p:txBody>
          <a:bodyPr/>
          <a:lstStyle/>
          <a:p>
            <a:endParaRPr lang="en-GB"/>
          </a:p>
        </p:txBody>
      </p:sp>
      <p:sp>
        <p:nvSpPr>
          <p:cNvPr id="24" name="num-264"/>
          <p:cNvSpPr/>
          <p:nvPr/>
        </p:nvSpPr>
        <p:spPr>
          <a:xfrm>
            <a:off x="731520" y="4896612"/>
            <a:ext cx="502920" cy="502920"/>
          </a:xfrm>
          <a:prstGeom prst="ellipse">
            <a:avLst/>
          </a:prstGeom>
          <a:solidFill>
            <a:schemeClr val="accent1"/>
          </a:solidFill>
          <a:ln w="12700">
            <a:solidFill>
              <a:schemeClr val="accent1"/>
            </a:solidFill>
            <a:prstDash val="solid"/>
          </a:ln>
        </p:spPr>
        <p:txBody>
          <a:bodyPr/>
          <a:lstStyle/>
          <a:p>
            <a:endParaRPr lang="en-GB"/>
          </a:p>
        </p:txBody>
      </p:sp>
      <p:sp>
        <p:nvSpPr>
          <p:cNvPr id="25" name="text-265"/>
          <p:cNvSpPr txBox="1"/>
          <p:nvPr/>
        </p:nvSpPr>
        <p:spPr>
          <a:xfrm>
            <a:off x="731520" y="4896612"/>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6" name="text-266"/>
          <p:cNvSpPr txBox="1"/>
          <p:nvPr/>
        </p:nvSpPr>
        <p:spPr>
          <a:xfrm>
            <a:off x="1417320" y="4837176"/>
            <a:ext cx="4754880" cy="347472"/>
          </a:xfrm>
          <a:prstGeom prst="rect">
            <a:avLst/>
          </a:prstGeom>
          <a:noFill/>
          <a:ln/>
        </p:spPr>
        <p:txBody>
          <a:bodyPr wrap="square" lIns="0" tIns="0" rIns="0" bIns="0" rtlCol="0" anchor="t"/>
          <a:lstStyle/>
          <a:p>
            <a:pPr marL="0" indent="0">
              <a:buNone/>
            </a:pPr>
            <a:r>
              <a:rPr lang="en-US" sz="1700" b="1" dirty="0">
                <a:solidFill>
                  <a:schemeClr val="tx1"/>
                </a:solidFill>
              </a:rPr>
              <a:t>Nudge the weights</a:t>
            </a:r>
            <a:endParaRPr lang="en-US" sz="1700" dirty="0"/>
          </a:p>
        </p:txBody>
      </p:sp>
      <p:sp>
        <p:nvSpPr>
          <p:cNvPr id="27" name="text-267"/>
          <p:cNvSpPr txBox="1"/>
          <p:nvPr/>
        </p:nvSpPr>
        <p:spPr>
          <a:xfrm>
            <a:off x="1417320" y="5184648"/>
            <a:ext cx="4754880" cy="320040"/>
          </a:xfrm>
          <a:prstGeom prst="rect">
            <a:avLst/>
          </a:prstGeom>
          <a:noFill/>
          <a:ln/>
        </p:spPr>
        <p:txBody>
          <a:bodyPr wrap="square" lIns="0" tIns="0" rIns="0" bIns="0" rtlCol="0" anchor="t"/>
          <a:lstStyle/>
          <a:p>
            <a:pPr marL="0" indent="0">
              <a:buNone/>
            </a:pPr>
            <a:r>
              <a:rPr lang="en-US" sz="1300" dirty="0">
                <a:solidFill>
                  <a:schemeClr val="accent2"/>
                </a:solidFill>
                <a:latin typeface="Courier New" pitchFamily="34" charset="0"/>
                <a:ea typeface="Courier New" pitchFamily="34" charset="-122"/>
                <a:cs typeface="Courier New" pitchFamily="34" charset="-120"/>
              </a:rPr>
              <a:t>optimizer.step()</a:t>
            </a:r>
            <a:endParaRPr lang="en-US" sz="1300" dirty="0"/>
          </a:p>
        </p:txBody>
      </p:sp>
      <p:sp>
        <p:nvSpPr>
          <p:cNvPr id="28" name="text-268"/>
          <p:cNvSpPr txBox="1"/>
          <p:nvPr/>
        </p:nvSpPr>
        <p:spPr>
          <a:xfrm>
            <a:off x="548640" y="5715000"/>
            <a:ext cx="5760720" cy="411480"/>
          </a:xfrm>
          <a:prstGeom prst="rect">
            <a:avLst/>
          </a:prstGeom>
          <a:noFill/>
          <a:ln/>
        </p:spPr>
        <p:txBody>
          <a:bodyPr wrap="square" lIns="0" tIns="0" rIns="0" bIns="0" rtlCol="0" anchor="t"/>
          <a:lstStyle/>
          <a:p>
            <a:pPr marL="0" indent="0">
              <a:buNone/>
            </a:pPr>
            <a:r>
              <a:rPr lang="en-US" sz="1300" i="1" dirty="0">
                <a:solidFill>
                  <a:schemeClr val="tx1"/>
                </a:solidFill>
              </a:rPr>
              <a:t>Learning rate (0.001) = how big each nudge is. Too big: it overshoots. Too small: it takes forever.</a:t>
            </a:r>
            <a:endParaRPr lang="en-US" sz="1300" dirty="0"/>
          </a:p>
        </p:txBody>
      </p:sp>
      <p:pic>
        <p:nvPicPr>
          <p:cNvPr id="29" name="image-269" descr="Learning curves: train and test loss flat for 4 epochs then dropping to near zero"/>
          <p:cNvPicPr>
            <a:picLocks noChangeAspect="1"/>
          </p:cNvPicPr>
          <p:nvPr/>
        </p:nvPicPr>
        <p:blipFill>
          <a:blip r:embed="rId3"/>
          <a:stretch>
            <a:fillRect/>
          </a:stretch>
        </p:blipFill>
        <p:spPr>
          <a:xfrm>
            <a:off x="6583680" y="1352006"/>
            <a:ext cx="5029200" cy="3376749"/>
          </a:xfrm>
          <a:prstGeom prst="rect">
            <a:avLst/>
          </a:prstGeom>
        </p:spPr>
      </p:pic>
      <p:sp>
        <p:nvSpPr>
          <p:cNvPr id="30" name="text-270"/>
          <p:cNvSpPr txBox="1"/>
          <p:nvPr/>
        </p:nvSpPr>
        <p:spPr>
          <a:xfrm>
            <a:off x="6766560" y="4846320"/>
            <a:ext cx="4846320" cy="1371600"/>
          </a:xfrm>
          <a:prstGeom prst="rect">
            <a:avLst/>
          </a:prstGeom>
          <a:noFill/>
          <a:ln/>
        </p:spPr>
        <p:txBody>
          <a:bodyPr wrap="square" lIns="0" tIns="0" rIns="0" bIns="0" rtlCol="0" anchor="t"/>
          <a:lstStyle/>
          <a:p>
            <a:pPr marL="342900" indent="-342900">
              <a:buSzPct val="100000"/>
              <a:buChar char="•"/>
            </a:pPr>
            <a:r>
              <a:rPr lang="en-US" sz="1500" b="1" dirty="0">
                <a:solidFill>
                  <a:schemeClr val="tx1"/>
                </a:solidFill>
              </a:rPr>
              <a:t>Both lines go down: </a:t>
            </a:r>
            <a:r>
              <a:rPr lang="en-US" sz="1500" dirty="0">
                <a:solidFill>
                  <a:schemeClr val="tx1"/>
                </a:solidFill>
              </a:rPr>
              <a:t>it's learning</a:t>
            </a:r>
            <a:endParaRPr lang="en-US" sz="1500" dirty="0"/>
          </a:p>
          <a:p>
            <a:pPr marL="342900" indent="-342900">
              <a:buSzPct val="100000"/>
              <a:buChar char="•"/>
            </a:pPr>
            <a:r>
              <a:rPr lang="en-US" sz="1500" b="1" dirty="0">
                <a:solidFill>
                  <a:schemeClr val="tx1"/>
                </a:solidFill>
              </a:rPr>
              <a:t>Test much higher than training: </a:t>
            </a:r>
            <a:r>
              <a:rPr lang="en-US" sz="1500" dirty="0">
                <a:solidFill>
                  <a:schemeClr val="tx1"/>
                </a:solidFill>
              </a:rPr>
              <a:t>overfitting (memorising)</a:t>
            </a:r>
            <a:endParaRPr lang="en-US" sz="1500" dirty="0"/>
          </a:p>
          <a:p>
            <a:pPr marL="342900" indent="-342900">
              <a:buSzPct val="100000"/>
              <a:buChar char="•"/>
            </a:pPr>
            <a:r>
              <a:rPr lang="en-US" sz="1500" b="1" dirty="0">
                <a:solidFill>
                  <a:schemeClr val="tx1"/>
                </a:solidFill>
              </a:rPr>
              <a:t>Flat at first? </a:t>
            </a:r>
            <a:r>
              <a:rPr lang="en-US" sz="1500" dirty="0">
                <a:solidFill>
                  <a:schemeClr val="tx1"/>
                </a:solidFill>
              </a:rPr>
              <a:t>normal here: it finds Wally around epoch 4–5</a:t>
            </a:r>
            <a:endParaRPr lang="en-US" sz="15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Step 6: scoring boxes with IoU</a:t>
            </a:r>
            <a:endParaRPr lang="en-US" sz="3400" dirty="0"/>
          </a:p>
        </p:txBody>
      </p:sp>
      <p:pic>
        <p:nvPicPr>
          <p:cNvPr id="3" name="image-271" descr="True and predicted 10x10 squares overlapping by half"/>
          <p:cNvPicPr>
            <a:picLocks noChangeAspect="1"/>
          </p:cNvPicPr>
          <p:nvPr/>
        </p:nvPicPr>
        <p:blipFill>
          <a:blip r:embed="rId3"/>
          <a:stretch>
            <a:fillRect/>
          </a:stretch>
        </p:blipFill>
        <p:spPr>
          <a:xfrm>
            <a:off x="960649" y="1280160"/>
            <a:ext cx="4022301" cy="3108960"/>
          </a:xfrm>
          <a:prstGeom prst="rect">
            <a:avLst/>
          </a:prstGeom>
        </p:spPr>
      </p:pic>
      <p:sp>
        <p:nvSpPr>
          <p:cNvPr id="4" name="card-272"/>
          <p:cNvSpPr/>
          <p:nvPr/>
        </p:nvSpPr>
        <p:spPr>
          <a:xfrm>
            <a:off x="548640" y="4572000"/>
            <a:ext cx="4846320" cy="1600200"/>
          </a:xfrm>
          <a:prstGeom prst="roundRect">
            <a:avLst>
              <a:gd name="adj" fmla="val 6857"/>
            </a:avLst>
          </a:prstGeom>
          <a:solidFill>
            <a:schemeClr val="bg2"/>
          </a:solidFill>
          <a:ln w="12700">
            <a:solidFill>
              <a:schemeClr val="bg2"/>
            </a:solidFill>
            <a:prstDash val="solid"/>
          </a:ln>
        </p:spPr>
        <p:txBody>
          <a:bodyPr/>
          <a:lstStyle/>
          <a:p>
            <a:endParaRPr lang="en-GB"/>
          </a:p>
        </p:txBody>
      </p:sp>
      <p:sp>
        <p:nvSpPr>
          <p:cNvPr id="5" name="text-273"/>
          <p:cNvSpPr txBox="1"/>
          <p:nvPr/>
        </p:nvSpPr>
        <p:spPr>
          <a:xfrm>
            <a:off x="777240" y="4709160"/>
            <a:ext cx="4480560" cy="1371600"/>
          </a:xfrm>
          <a:prstGeom prst="rect">
            <a:avLst/>
          </a:prstGeom>
          <a:noFill/>
          <a:ln/>
        </p:spPr>
        <p:txBody>
          <a:bodyPr wrap="square" lIns="0" tIns="0" rIns="0" bIns="0" rtlCol="0" anchor="t"/>
          <a:lstStyle/>
          <a:p>
            <a:pPr marL="0" indent="0">
              <a:buNone/>
            </a:pPr>
            <a:r>
              <a:rPr lang="en-US" sz="1800" b="1" dirty="0">
                <a:solidFill>
                  <a:schemeClr val="tx1"/>
                </a:solidFill>
              </a:rPr>
              <a:t>IoU = overlap ÷ total area covered</a:t>
            </a:r>
            <a:endParaRPr lang="en-US" sz="1800" dirty="0"/>
          </a:p>
          <a:p>
            <a:pPr marL="0" indent="0">
              <a:buNone/>
            </a:pPr>
            <a:r>
              <a:rPr lang="en-US" sz="1800" dirty="0">
                <a:solidFill>
                  <a:schemeClr val="tx1"/>
                </a:solidFill>
              </a:rPr>
              <a:t>= 50 ÷ (100 + 100 − 50) = </a:t>
            </a:r>
            <a:r>
              <a:rPr lang="en-US" sz="2800" b="1" dirty="0">
                <a:solidFill>
                  <a:schemeClr val="accent1"/>
                </a:solidFill>
              </a:rPr>
              <a:t>0.33</a:t>
            </a:r>
            <a:endParaRPr lang="en-US" sz="1800" dirty="0"/>
          </a:p>
        </p:txBody>
      </p:sp>
      <p:pic>
        <p:nvPicPr>
          <p:cNvPr id="6" name="image-274" descr="Histogram of IoU on 1000 test images, most between 0.4 and 0.85"/>
          <p:cNvPicPr>
            <a:picLocks noChangeAspect="1"/>
          </p:cNvPicPr>
          <p:nvPr/>
        </p:nvPicPr>
        <p:blipFill>
          <a:blip r:embed="rId4"/>
          <a:stretch>
            <a:fillRect/>
          </a:stretch>
        </p:blipFill>
        <p:spPr>
          <a:xfrm>
            <a:off x="6050118" y="1280160"/>
            <a:ext cx="5273364" cy="3566160"/>
          </a:xfrm>
          <a:prstGeom prst="rect">
            <a:avLst/>
          </a:prstGeom>
        </p:spPr>
      </p:pic>
      <p:sp>
        <p:nvSpPr>
          <p:cNvPr id="7" name="text-275"/>
          <p:cNvSpPr txBox="1"/>
          <p:nvPr/>
        </p:nvSpPr>
        <p:spPr>
          <a:xfrm>
            <a:off x="5943600" y="4937760"/>
            <a:ext cx="5669280" cy="1280160"/>
          </a:xfrm>
          <a:prstGeom prst="rect">
            <a:avLst/>
          </a:prstGeom>
          <a:noFill/>
          <a:ln/>
        </p:spPr>
        <p:txBody>
          <a:bodyPr wrap="square" lIns="0" tIns="0" rIns="0" bIns="0" rtlCol="0" anchor="t"/>
          <a:lstStyle/>
          <a:p>
            <a:pPr marL="342900" indent="-342900">
              <a:buSzPct val="100000"/>
              <a:buChar char="•"/>
            </a:pPr>
            <a:r>
              <a:rPr lang="en-US" sz="1500" b="1" dirty="0">
                <a:solidFill>
                  <a:schemeClr val="tx1"/>
                </a:solidFill>
              </a:rPr>
              <a:t>1 </a:t>
            </a:r>
            <a:r>
              <a:rPr lang="en-US" sz="1500" dirty="0">
                <a:solidFill>
                  <a:schemeClr val="tx1"/>
                </a:solidFill>
              </a:rPr>
              <a:t>= perfect match, </a:t>
            </a:r>
            <a:r>
              <a:rPr lang="en-US" sz="1500" b="1" dirty="0">
                <a:solidFill>
                  <a:schemeClr val="tx1"/>
                </a:solidFill>
              </a:rPr>
              <a:t>0 </a:t>
            </a:r>
            <a:r>
              <a:rPr lang="en-US" sz="1500" dirty="0">
                <a:solidFill>
                  <a:schemeClr val="tx1"/>
                </a:solidFill>
              </a:rPr>
              <a:t>= the boxes don't touch</a:t>
            </a:r>
            <a:endParaRPr lang="en-US" sz="1500" dirty="0"/>
          </a:p>
          <a:p>
            <a:pPr marL="342900" indent="-342900">
              <a:buSzPct val="100000"/>
              <a:buChar char="•"/>
            </a:pPr>
            <a:r>
              <a:rPr lang="en-US" sz="1500" b="1" dirty="0">
                <a:solidFill>
                  <a:schemeClr val="tx1"/>
                </a:solidFill>
              </a:rPr>
              <a:t>IoU &gt; 0.5 </a:t>
            </a:r>
            <a:r>
              <a:rPr lang="en-US" sz="1500" dirty="0">
                <a:solidFill>
                  <a:schemeClr val="tx1"/>
                </a:solidFill>
              </a:rPr>
              <a:t>counts as "found Wally" (red dashed line)</a:t>
            </a:r>
            <a:endParaRPr lang="en-US" sz="1500" dirty="0"/>
          </a:p>
          <a:p>
            <a:pPr marL="342900" indent="-342900">
              <a:buSzPct val="100000"/>
              <a:buChar char="•"/>
            </a:pPr>
            <a:r>
              <a:rPr lang="en-US" sz="1500" b="1" dirty="0">
                <a:solidFill>
                  <a:schemeClr val="tx1"/>
                </a:solidFill>
              </a:rPr>
              <a:t>IoU is strict: </a:t>
            </a:r>
            <a:r>
              <a:rPr lang="en-US" sz="1500" dirty="0">
                <a:solidFill>
                  <a:schemeClr val="tx1"/>
                </a:solidFill>
              </a:rPr>
              <a:t>just 5 px off on a small box already drops it to 0.33</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What you should get by the end</a:t>
            </a:r>
            <a:endParaRPr lang="en-US" sz="3400" dirty="0"/>
          </a:p>
        </p:txBody>
      </p:sp>
      <p:sp>
        <p:nvSpPr>
          <p:cNvPr id="3" name="card-276"/>
          <p:cNvSpPr/>
          <p:nvPr/>
        </p:nvSpPr>
        <p:spPr>
          <a:xfrm>
            <a:off x="548640" y="1371600"/>
            <a:ext cx="3520440" cy="1737360"/>
          </a:xfrm>
          <a:prstGeom prst="roundRect">
            <a:avLst>
              <a:gd name="adj" fmla="val 6316"/>
            </a:avLst>
          </a:prstGeom>
          <a:solidFill>
            <a:schemeClr val="bg2"/>
          </a:solidFill>
          <a:ln w="12700">
            <a:solidFill>
              <a:schemeClr val="bg2"/>
            </a:solidFill>
            <a:prstDash val="solid"/>
          </a:ln>
        </p:spPr>
        <p:txBody>
          <a:bodyPr/>
          <a:lstStyle/>
          <a:p>
            <a:endParaRPr lang="en-GB"/>
          </a:p>
        </p:txBody>
      </p:sp>
      <p:sp>
        <p:nvSpPr>
          <p:cNvPr id="4" name="text-277"/>
          <p:cNvSpPr txBox="1"/>
          <p:nvPr/>
        </p:nvSpPr>
        <p:spPr>
          <a:xfrm>
            <a:off x="822960" y="1463040"/>
            <a:ext cx="3017520" cy="914400"/>
          </a:xfrm>
          <a:prstGeom prst="rect">
            <a:avLst/>
          </a:prstGeom>
          <a:noFill/>
          <a:ln/>
        </p:spPr>
        <p:txBody>
          <a:bodyPr wrap="square" lIns="0" tIns="0" rIns="0" bIns="0" rtlCol="0" anchor="t"/>
          <a:lstStyle/>
          <a:p>
            <a:pPr marL="0" indent="0">
              <a:buNone/>
            </a:pPr>
            <a:r>
              <a:rPr lang="en-US" sz="5200" b="1" dirty="0">
                <a:solidFill>
                  <a:schemeClr val="accent1"/>
                </a:solidFill>
                <a:latin typeface="Cambria" pitchFamily="34" charset="0"/>
                <a:ea typeface="Cambria" pitchFamily="34" charset="-122"/>
                <a:cs typeface="Cambria" pitchFamily="34" charset="-120"/>
              </a:rPr>
              <a:t>0.60</a:t>
            </a:r>
            <a:endParaRPr lang="en-US" sz="5200" dirty="0"/>
          </a:p>
        </p:txBody>
      </p:sp>
      <p:sp>
        <p:nvSpPr>
          <p:cNvPr id="5" name="text-278"/>
          <p:cNvSpPr txBox="1"/>
          <p:nvPr/>
        </p:nvSpPr>
        <p:spPr>
          <a:xfrm>
            <a:off x="822960" y="2423160"/>
            <a:ext cx="3017520" cy="594360"/>
          </a:xfrm>
          <a:prstGeom prst="rect">
            <a:avLst/>
          </a:prstGeom>
          <a:noFill/>
          <a:ln/>
        </p:spPr>
        <p:txBody>
          <a:bodyPr wrap="square" lIns="0" tIns="0" rIns="0" bIns="0" rtlCol="0" anchor="t"/>
          <a:lstStyle/>
          <a:p>
            <a:pPr marL="0" indent="0">
              <a:buNone/>
            </a:pPr>
            <a:r>
              <a:rPr lang="en-US" sz="1500" dirty="0">
                <a:solidFill>
                  <a:schemeClr val="tx1"/>
                </a:solidFill>
              </a:rPr>
              <a:t>mean IoU on 1000 unseen test pictures</a:t>
            </a:r>
            <a:endParaRPr lang="en-US" sz="1500" dirty="0"/>
          </a:p>
        </p:txBody>
      </p:sp>
      <p:sp>
        <p:nvSpPr>
          <p:cNvPr id="6" name="card-279"/>
          <p:cNvSpPr/>
          <p:nvPr/>
        </p:nvSpPr>
        <p:spPr>
          <a:xfrm>
            <a:off x="4343400" y="1371600"/>
            <a:ext cx="3520440" cy="1737360"/>
          </a:xfrm>
          <a:prstGeom prst="roundRect">
            <a:avLst>
              <a:gd name="adj" fmla="val 6316"/>
            </a:avLst>
          </a:prstGeom>
          <a:solidFill>
            <a:schemeClr val="bg2"/>
          </a:solidFill>
          <a:ln w="12700">
            <a:solidFill>
              <a:schemeClr val="bg2"/>
            </a:solidFill>
            <a:prstDash val="solid"/>
          </a:ln>
        </p:spPr>
        <p:txBody>
          <a:bodyPr/>
          <a:lstStyle/>
          <a:p>
            <a:endParaRPr lang="en-GB"/>
          </a:p>
        </p:txBody>
      </p:sp>
      <p:sp>
        <p:nvSpPr>
          <p:cNvPr id="7" name="text-280"/>
          <p:cNvSpPr txBox="1"/>
          <p:nvPr/>
        </p:nvSpPr>
        <p:spPr>
          <a:xfrm>
            <a:off x="4617720" y="1463040"/>
            <a:ext cx="3017520" cy="914400"/>
          </a:xfrm>
          <a:prstGeom prst="rect">
            <a:avLst/>
          </a:prstGeom>
          <a:noFill/>
          <a:ln/>
        </p:spPr>
        <p:txBody>
          <a:bodyPr wrap="square" lIns="0" tIns="0" rIns="0" bIns="0" rtlCol="0" anchor="t"/>
          <a:lstStyle/>
          <a:p>
            <a:pPr marL="0" indent="0">
              <a:buNone/>
            </a:pPr>
            <a:r>
              <a:rPr lang="en-US" sz="5200" b="1" dirty="0">
                <a:solidFill>
                  <a:schemeClr val="accent1"/>
                </a:solidFill>
                <a:latin typeface="Cambria" pitchFamily="34" charset="0"/>
                <a:ea typeface="Cambria" pitchFamily="34" charset="-122"/>
                <a:cs typeface="Cambria" pitchFamily="34" charset="-120"/>
              </a:rPr>
              <a:t>79%</a:t>
            </a:r>
            <a:endParaRPr lang="en-US" sz="5200" dirty="0"/>
          </a:p>
        </p:txBody>
      </p:sp>
      <p:sp>
        <p:nvSpPr>
          <p:cNvPr id="8" name="text-281"/>
          <p:cNvSpPr txBox="1"/>
          <p:nvPr/>
        </p:nvSpPr>
        <p:spPr>
          <a:xfrm>
            <a:off x="4617720" y="2423160"/>
            <a:ext cx="3017520" cy="594360"/>
          </a:xfrm>
          <a:prstGeom prst="rect">
            <a:avLst/>
          </a:prstGeom>
          <a:noFill/>
          <a:ln/>
        </p:spPr>
        <p:txBody>
          <a:bodyPr wrap="square" lIns="0" tIns="0" rIns="0" bIns="0" rtlCol="0" anchor="t"/>
          <a:lstStyle/>
          <a:p>
            <a:pPr marL="0" indent="0">
              <a:buNone/>
            </a:pPr>
            <a:r>
              <a:rPr lang="en-US" sz="1500" dirty="0">
                <a:solidFill>
                  <a:schemeClr val="tx1"/>
                </a:solidFill>
              </a:rPr>
              <a:t>found (IoU &gt; 0.5)</a:t>
            </a:r>
            <a:endParaRPr lang="en-US" sz="1500" dirty="0"/>
          </a:p>
        </p:txBody>
      </p:sp>
      <p:sp>
        <p:nvSpPr>
          <p:cNvPr id="9" name="card-282"/>
          <p:cNvSpPr/>
          <p:nvPr/>
        </p:nvSpPr>
        <p:spPr>
          <a:xfrm>
            <a:off x="8138160" y="1371600"/>
            <a:ext cx="3520440" cy="1737360"/>
          </a:xfrm>
          <a:prstGeom prst="roundRect">
            <a:avLst>
              <a:gd name="adj" fmla="val 6316"/>
            </a:avLst>
          </a:prstGeom>
          <a:solidFill>
            <a:schemeClr val="bg2"/>
          </a:solidFill>
          <a:ln w="12700">
            <a:solidFill>
              <a:schemeClr val="bg2"/>
            </a:solidFill>
            <a:prstDash val="solid"/>
          </a:ln>
        </p:spPr>
        <p:txBody>
          <a:bodyPr/>
          <a:lstStyle/>
          <a:p>
            <a:endParaRPr lang="en-GB"/>
          </a:p>
        </p:txBody>
      </p:sp>
      <p:sp>
        <p:nvSpPr>
          <p:cNvPr id="10" name="text-283"/>
          <p:cNvSpPr txBox="1"/>
          <p:nvPr/>
        </p:nvSpPr>
        <p:spPr>
          <a:xfrm>
            <a:off x="8412480" y="1463040"/>
            <a:ext cx="3017520" cy="914400"/>
          </a:xfrm>
          <a:prstGeom prst="rect">
            <a:avLst/>
          </a:prstGeom>
          <a:noFill/>
          <a:ln/>
        </p:spPr>
        <p:txBody>
          <a:bodyPr wrap="square" lIns="0" tIns="0" rIns="0" bIns="0" rtlCol="0" anchor="t"/>
          <a:lstStyle/>
          <a:p>
            <a:pPr marL="0" indent="0">
              <a:buNone/>
            </a:pPr>
            <a:r>
              <a:rPr lang="en-US" sz="5200" b="1" dirty="0">
                <a:solidFill>
                  <a:schemeClr val="accent1"/>
                </a:solidFill>
                <a:latin typeface="Cambria" pitchFamily="34" charset="0"/>
                <a:ea typeface="Cambria" pitchFamily="34" charset="-122"/>
                <a:cs typeface="Cambria" pitchFamily="34" charset="-120"/>
              </a:rPr>
              <a:t>~2 min</a:t>
            </a:r>
            <a:endParaRPr lang="en-US" sz="5200" dirty="0"/>
          </a:p>
        </p:txBody>
      </p:sp>
      <p:sp>
        <p:nvSpPr>
          <p:cNvPr id="11" name="text-284"/>
          <p:cNvSpPr txBox="1"/>
          <p:nvPr/>
        </p:nvSpPr>
        <p:spPr>
          <a:xfrm>
            <a:off x="8412480" y="2423160"/>
            <a:ext cx="3017520" cy="594360"/>
          </a:xfrm>
          <a:prstGeom prst="rect">
            <a:avLst/>
          </a:prstGeom>
          <a:noFill/>
          <a:ln/>
        </p:spPr>
        <p:txBody>
          <a:bodyPr wrap="square" lIns="0" tIns="0" rIns="0" bIns="0" rtlCol="0" anchor="t"/>
          <a:lstStyle/>
          <a:p>
            <a:pPr marL="0" indent="0">
              <a:buNone/>
            </a:pPr>
            <a:r>
              <a:rPr lang="en-US" sz="1500" dirty="0">
                <a:solidFill>
                  <a:schemeClr val="tx1"/>
                </a:solidFill>
              </a:rPr>
              <a:t>training time on a Kaggle GPU</a:t>
            </a:r>
            <a:endParaRPr lang="en-US" sz="1500" dirty="0"/>
          </a:p>
        </p:txBody>
      </p:sp>
      <p:pic>
        <p:nvPicPr>
          <p:cNvPr id="12" name="image-285" descr="Test picture 1 with the model's heatmap overlaid"/>
          <p:cNvPicPr>
            <a:picLocks noChangeAspect="1"/>
          </p:cNvPicPr>
          <p:nvPr/>
        </p:nvPicPr>
        <p:blipFill>
          <a:blip r:embed="rId3"/>
          <a:stretch>
            <a:fillRect/>
          </a:stretch>
        </p:blipFill>
        <p:spPr>
          <a:xfrm>
            <a:off x="548640" y="3387147"/>
            <a:ext cx="2606040" cy="2598307"/>
          </a:xfrm>
          <a:prstGeom prst="rect">
            <a:avLst/>
          </a:prstGeom>
        </p:spPr>
      </p:pic>
      <p:pic>
        <p:nvPicPr>
          <p:cNvPr id="13" name="image-286" descr="Test picture 2 with the model's heatmap overlaid"/>
          <p:cNvPicPr>
            <a:picLocks noChangeAspect="1"/>
          </p:cNvPicPr>
          <p:nvPr/>
        </p:nvPicPr>
        <p:blipFill>
          <a:blip r:embed="rId4"/>
          <a:stretch>
            <a:fillRect/>
          </a:stretch>
        </p:blipFill>
        <p:spPr>
          <a:xfrm>
            <a:off x="3364992" y="3387147"/>
            <a:ext cx="2606040" cy="2598307"/>
          </a:xfrm>
          <a:prstGeom prst="rect">
            <a:avLst/>
          </a:prstGeom>
        </p:spPr>
      </p:pic>
      <p:pic>
        <p:nvPicPr>
          <p:cNvPr id="14" name="image-287" descr="Test picture 3 with the model's heatmap overlaid"/>
          <p:cNvPicPr>
            <a:picLocks noChangeAspect="1"/>
          </p:cNvPicPr>
          <p:nvPr/>
        </p:nvPicPr>
        <p:blipFill>
          <a:blip r:embed="rId5"/>
          <a:stretch>
            <a:fillRect/>
          </a:stretch>
        </p:blipFill>
        <p:spPr>
          <a:xfrm>
            <a:off x="6181344" y="3387147"/>
            <a:ext cx="2606040" cy="2598307"/>
          </a:xfrm>
          <a:prstGeom prst="rect">
            <a:avLst/>
          </a:prstGeom>
        </p:spPr>
      </p:pic>
      <p:pic>
        <p:nvPicPr>
          <p:cNvPr id="15" name="image-288" descr="Test picture 4 with the model's heatmap overlaid"/>
          <p:cNvPicPr>
            <a:picLocks noChangeAspect="1"/>
          </p:cNvPicPr>
          <p:nvPr/>
        </p:nvPicPr>
        <p:blipFill>
          <a:blip r:embed="rId6"/>
          <a:stretch>
            <a:fillRect/>
          </a:stretch>
        </p:blipFill>
        <p:spPr>
          <a:xfrm>
            <a:off x="8997696" y="3387147"/>
            <a:ext cx="2606040" cy="2598307"/>
          </a:xfrm>
          <a:prstGeom prst="rect">
            <a:avLst/>
          </a:prstGeom>
        </p:spPr>
      </p:pic>
      <p:sp>
        <p:nvSpPr>
          <p:cNvPr id="16" name="text-289"/>
          <p:cNvSpPr txBox="1"/>
          <p:nvPr/>
        </p:nvSpPr>
        <p:spPr>
          <a:xfrm>
            <a:off x="548640" y="6035040"/>
            <a:ext cx="11064240" cy="320040"/>
          </a:xfrm>
          <a:prstGeom prst="rect">
            <a:avLst/>
          </a:prstGeom>
          <a:noFill/>
          <a:ln/>
        </p:spPr>
        <p:txBody>
          <a:bodyPr wrap="square" lIns="0" tIns="0" rIns="0" bIns="0" rtlCol="0" anchor="t"/>
          <a:lstStyle/>
          <a:p>
            <a:pPr marL="0" indent="0">
              <a:buNone/>
            </a:pPr>
            <a:r>
              <a:rPr lang="en-US" sz="1300" i="1" dirty="0">
                <a:solidFill>
                  <a:schemeClr val="accent5"/>
                </a:solidFill>
              </a:rPr>
              <a:t>Where the model is looking: the bright squares of the heatmap on 4 test pictures it has never seen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400" b="1" dirty="0">
                <a:solidFill>
                  <a:schemeClr val="tx1"/>
                </a:solidFill>
                <a:latin typeface="Cambria" pitchFamily="34" charset="0"/>
                <a:ea typeface="Cambria" pitchFamily="34" charset="-122"/>
                <a:cs typeface="Cambria" pitchFamily="34" charset="-120"/>
              </a:rPr>
              <a:t>Before you start</a:t>
            </a:r>
            <a:endParaRPr lang="en-US" sz="3400" dirty="0"/>
          </a:p>
        </p:txBody>
      </p:sp>
      <p:sp>
        <p:nvSpPr>
          <p:cNvPr id="3" name="card-290"/>
          <p:cNvSpPr/>
          <p:nvPr/>
        </p:nvSpPr>
        <p:spPr>
          <a:xfrm>
            <a:off x="548640" y="1417320"/>
            <a:ext cx="3520440" cy="2148840"/>
          </a:xfrm>
          <a:prstGeom prst="roundRect">
            <a:avLst>
              <a:gd name="adj" fmla="val 5106"/>
            </a:avLst>
          </a:prstGeom>
          <a:solidFill>
            <a:schemeClr val="bg2"/>
          </a:solidFill>
          <a:ln w="12700">
            <a:solidFill>
              <a:schemeClr val="bg2"/>
            </a:solidFill>
            <a:prstDash val="solid"/>
          </a:ln>
        </p:spPr>
        <p:txBody>
          <a:bodyPr/>
          <a:lstStyle/>
          <a:p>
            <a:endParaRPr lang="en-GB"/>
          </a:p>
        </p:txBody>
      </p:sp>
      <p:sp>
        <p:nvSpPr>
          <p:cNvPr id="4" name="icon-circle-291"/>
          <p:cNvSpPr/>
          <p:nvPr/>
        </p:nvSpPr>
        <p:spPr>
          <a:xfrm>
            <a:off x="777240" y="1645920"/>
            <a:ext cx="685800" cy="685800"/>
          </a:xfrm>
          <a:prstGeom prst="ellipse">
            <a:avLst/>
          </a:prstGeom>
          <a:solidFill>
            <a:schemeClr val="accent1"/>
          </a:solidFill>
          <a:ln w="12700">
            <a:solidFill>
              <a:schemeClr val="accent1"/>
            </a:solidFill>
            <a:prstDash val="solid"/>
          </a:ln>
        </p:spPr>
        <p:txBody>
          <a:bodyPr/>
          <a:lstStyle/>
          <a:p>
            <a:endParaRPr lang="en-GB"/>
          </a:p>
        </p:txBody>
      </p:sp>
      <p:pic>
        <p:nvPicPr>
          <p:cNvPr id="5" name="icon-292" descr="Microchip icon"/>
          <p:cNvPicPr>
            <a:picLocks noChangeAspect="1"/>
          </p:cNvPicPr>
          <p:nvPr/>
        </p:nvPicPr>
        <p:blipFill>
          <a:blip r:embed="rId3"/>
          <a:stretch>
            <a:fillRect/>
          </a:stretch>
        </p:blipFill>
        <p:spPr>
          <a:xfrm>
            <a:off x="962406" y="1831086"/>
            <a:ext cx="315468" cy="315468"/>
          </a:xfrm>
          <a:prstGeom prst="rect">
            <a:avLst/>
          </a:prstGeom>
        </p:spPr>
      </p:pic>
      <p:sp>
        <p:nvSpPr>
          <p:cNvPr id="6" name="text-293"/>
          <p:cNvSpPr txBox="1"/>
          <p:nvPr/>
        </p:nvSpPr>
        <p:spPr>
          <a:xfrm>
            <a:off x="1600200" y="1673352"/>
            <a:ext cx="2331720" cy="685800"/>
          </a:xfrm>
          <a:prstGeom prst="rect">
            <a:avLst/>
          </a:prstGeom>
          <a:noFill/>
          <a:ln/>
        </p:spPr>
        <p:txBody>
          <a:bodyPr wrap="square" lIns="0" tIns="0" rIns="0" bIns="0" rtlCol="0" anchor="ctr"/>
          <a:lstStyle/>
          <a:p>
            <a:pPr marL="0" indent="0">
              <a:buNone/>
            </a:pPr>
            <a:r>
              <a:rPr lang="en-US" sz="1700" b="1" dirty="0">
                <a:solidFill>
                  <a:schemeClr val="tx1"/>
                </a:solidFill>
              </a:rPr>
              <a:t>Turn on the GPU</a:t>
            </a:r>
            <a:endParaRPr lang="en-US" sz="1700" dirty="0"/>
          </a:p>
        </p:txBody>
      </p:sp>
      <p:sp>
        <p:nvSpPr>
          <p:cNvPr id="7" name="text-294"/>
          <p:cNvSpPr txBox="1"/>
          <p:nvPr/>
        </p:nvSpPr>
        <p:spPr>
          <a:xfrm>
            <a:off x="777240" y="2468880"/>
            <a:ext cx="3108960" cy="1005840"/>
          </a:xfrm>
          <a:prstGeom prst="rect">
            <a:avLst/>
          </a:prstGeom>
          <a:noFill/>
          <a:ln/>
        </p:spPr>
        <p:txBody>
          <a:bodyPr wrap="square" lIns="0" tIns="0" rIns="0" bIns="0" rtlCol="0" anchor="t"/>
          <a:lstStyle/>
          <a:p>
            <a:pPr marL="0" indent="0">
              <a:buNone/>
            </a:pPr>
            <a:r>
              <a:rPr lang="en-US" sz="1500" dirty="0">
                <a:solidFill>
                  <a:schemeClr val="tx1"/>
                </a:solidFill>
              </a:rPr>
              <a:t>Settings → Accelerator → GPU. Training takes about 2 minutes instead of 10+.</a:t>
            </a:r>
            <a:endParaRPr lang="en-US" sz="1500" dirty="0"/>
          </a:p>
        </p:txBody>
      </p:sp>
      <p:sp>
        <p:nvSpPr>
          <p:cNvPr id="8" name="card-295"/>
          <p:cNvSpPr/>
          <p:nvPr/>
        </p:nvSpPr>
        <p:spPr>
          <a:xfrm>
            <a:off x="4343400" y="1417320"/>
            <a:ext cx="3520440" cy="2148840"/>
          </a:xfrm>
          <a:prstGeom prst="roundRect">
            <a:avLst>
              <a:gd name="adj" fmla="val 5106"/>
            </a:avLst>
          </a:prstGeom>
          <a:solidFill>
            <a:schemeClr val="bg2"/>
          </a:solidFill>
          <a:ln w="12700">
            <a:solidFill>
              <a:schemeClr val="bg2"/>
            </a:solidFill>
            <a:prstDash val="solid"/>
          </a:ln>
        </p:spPr>
        <p:txBody>
          <a:bodyPr/>
          <a:lstStyle/>
          <a:p>
            <a:endParaRPr lang="en-GB"/>
          </a:p>
        </p:txBody>
      </p:sp>
      <p:sp>
        <p:nvSpPr>
          <p:cNvPr id="9" name="icon-circle-296"/>
          <p:cNvSpPr/>
          <p:nvPr/>
        </p:nvSpPr>
        <p:spPr>
          <a:xfrm>
            <a:off x="4572000" y="1645920"/>
            <a:ext cx="685800" cy="685800"/>
          </a:xfrm>
          <a:prstGeom prst="ellipse">
            <a:avLst/>
          </a:prstGeom>
          <a:solidFill>
            <a:schemeClr val="accent2"/>
          </a:solidFill>
          <a:ln w="12700">
            <a:solidFill>
              <a:schemeClr val="accent2"/>
            </a:solidFill>
            <a:prstDash val="solid"/>
          </a:ln>
        </p:spPr>
        <p:txBody>
          <a:bodyPr/>
          <a:lstStyle/>
          <a:p>
            <a:endParaRPr lang="en-GB"/>
          </a:p>
        </p:txBody>
      </p:sp>
      <p:pic>
        <p:nvPicPr>
          <p:cNvPr id="10" name="icon-297" descr="Play icon"/>
          <p:cNvPicPr>
            <a:picLocks noChangeAspect="1"/>
          </p:cNvPicPr>
          <p:nvPr/>
        </p:nvPicPr>
        <p:blipFill>
          <a:blip r:embed="rId4"/>
          <a:stretch>
            <a:fillRect/>
          </a:stretch>
        </p:blipFill>
        <p:spPr>
          <a:xfrm>
            <a:off x="4757166" y="1831086"/>
            <a:ext cx="315468" cy="315468"/>
          </a:xfrm>
          <a:prstGeom prst="rect">
            <a:avLst/>
          </a:prstGeom>
        </p:spPr>
      </p:pic>
      <p:sp>
        <p:nvSpPr>
          <p:cNvPr id="11" name="text-298"/>
          <p:cNvSpPr txBox="1"/>
          <p:nvPr/>
        </p:nvSpPr>
        <p:spPr>
          <a:xfrm>
            <a:off x="5394960" y="1673352"/>
            <a:ext cx="2331720" cy="685800"/>
          </a:xfrm>
          <a:prstGeom prst="rect">
            <a:avLst/>
          </a:prstGeom>
          <a:noFill/>
          <a:ln/>
        </p:spPr>
        <p:txBody>
          <a:bodyPr wrap="square" lIns="0" tIns="0" rIns="0" bIns="0" rtlCol="0" anchor="ctr"/>
          <a:lstStyle/>
          <a:p>
            <a:pPr marL="0" indent="0">
              <a:buNone/>
            </a:pPr>
            <a:r>
              <a:rPr lang="en-US" sz="1700" b="1" dirty="0">
                <a:solidFill>
                  <a:schemeClr val="tx1"/>
                </a:solidFill>
              </a:rPr>
              <a:t>Run cells in order</a:t>
            </a:r>
            <a:endParaRPr lang="en-US" sz="1700" dirty="0"/>
          </a:p>
        </p:txBody>
      </p:sp>
      <p:sp>
        <p:nvSpPr>
          <p:cNvPr id="12" name="text-299"/>
          <p:cNvSpPr txBox="1"/>
          <p:nvPr/>
        </p:nvSpPr>
        <p:spPr>
          <a:xfrm>
            <a:off x="4572000" y="2468880"/>
            <a:ext cx="3108960" cy="1005840"/>
          </a:xfrm>
          <a:prstGeom prst="rect">
            <a:avLst/>
          </a:prstGeom>
          <a:noFill/>
          <a:ln/>
        </p:spPr>
        <p:txBody>
          <a:bodyPr wrap="square" lIns="0" tIns="0" rIns="0" bIns="0" rtlCol="0" anchor="t"/>
          <a:lstStyle/>
          <a:p>
            <a:pPr marL="0" indent="0">
              <a:buNone/>
            </a:pPr>
            <a:r>
              <a:rPr lang="en-US" sz="1500" dirty="0">
                <a:solidFill>
                  <a:schemeClr val="tx1"/>
                </a:solidFill>
              </a:rPr>
              <a:t>Every cell uses variables from the ones above. Restarted? Run from the top.</a:t>
            </a:r>
            <a:endParaRPr lang="en-US" sz="1500" dirty="0"/>
          </a:p>
        </p:txBody>
      </p:sp>
      <p:sp>
        <p:nvSpPr>
          <p:cNvPr id="13" name="card-300"/>
          <p:cNvSpPr/>
          <p:nvPr/>
        </p:nvSpPr>
        <p:spPr>
          <a:xfrm>
            <a:off x="8138160" y="1417320"/>
            <a:ext cx="3520440" cy="2148840"/>
          </a:xfrm>
          <a:prstGeom prst="roundRect">
            <a:avLst>
              <a:gd name="adj" fmla="val 5106"/>
            </a:avLst>
          </a:prstGeom>
          <a:solidFill>
            <a:schemeClr val="bg2"/>
          </a:solidFill>
          <a:ln w="12700">
            <a:solidFill>
              <a:schemeClr val="bg2"/>
            </a:solidFill>
            <a:prstDash val="solid"/>
          </a:ln>
        </p:spPr>
        <p:txBody>
          <a:bodyPr/>
          <a:lstStyle/>
          <a:p>
            <a:endParaRPr lang="en-GB"/>
          </a:p>
        </p:txBody>
      </p:sp>
      <p:sp>
        <p:nvSpPr>
          <p:cNvPr id="14" name="icon-circle-301"/>
          <p:cNvSpPr/>
          <p:nvPr/>
        </p:nvSpPr>
        <p:spPr>
          <a:xfrm>
            <a:off x="8366760" y="1645920"/>
            <a:ext cx="685800" cy="685800"/>
          </a:xfrm>
          <a:prstGeom prst="ellipse">
            <a:avLst/>
          </a:prstGeom>
          <a:solidFill>
            <a:schemeClr val="accent1"/>
          </a:solidFill>
          <a:ln w="12700">
            <a:solidFill>
              <a:schemeClr val="accent1"/>
            </a:solidFill>
            <a:prstDash val="solid"/>
          </a:ln>
        </p:spPr>
        <p:txBody>
          <a:bodyPr/>
          <a:lstStyle/>
          <a:p>
            <a:endParaRPr lang="en-GB"/>
          </a:p>
        </p:txBody>
      </p:sp>
      <p:pic>
        <p:nvPicPr>
          <p:cNvPr id="15" name="icon-302" descr="RegClock icon"/>
          <p:cNvPicPr>
            <a:picLocks noChangeAspect="1"/>
          </p:cNvPicPr>
          <p:nvPr/>
        </p:nvPicPr>
        <p:blipFill>
          <a:blip r:embed="rId5"/>
          <a:stretch>
            <a:fillRect/>
          </a:stretch>
        </p:blipFill>
        <p:spPr>
          <a:xfrm>
            <a:off x="8551926" y="1831086"/>
            <a:ext cx="315468" cy="315468"/>
          </a:xfrm>
          <a:prstGeom prst="rect">
            <a:avLst/>
          </a:prstGeom>
        </p:spPr>
      </p:pic>
      <p:sp>
        <p:nvSpPr>
          <p:cNvPr id="16" name="text-303"/>
          <p:cNvSpPr txBox="1"/>
          <p:nvPr/>
        </p:nvSpPr>
        <p:spPr>
          <a:xfrm>
            <a:off x="9189720" y="1673352"/>
            <a:ext cx="2331720" cy="685800"/>
          </a:xfrm>
          <a:prstGeom prst="rect">
            <a:avLst/>
          </a:prstGeom>
          <a:noFill/>
          <a:ln/>
        </p:spPr>
        <p:txBody>
          <a:bodyPr wrap="square" lIns="0" tIns="0" rIns="0" bIns="0" rtlCol="0" anchor="ctr"/>
          <a:lstStyle/>
          <a:p>
            <a:pPr marL="0" indent="0">
              <a:buNone/>
            </a:pPr>
            <a:r>
              <a:rPr lang="en-US" sz="1700" b="1" dirty="0">
                <a:solidFill>
                  <a:schemeClr val="tx1"/>
                </a:solidFill>
              </a:rPr>
              <a:t>Making 5000 pictures takes ~1 min</a:t>
            </a:r>
            <a:endParaRPr lang="en-US" sz="1700" dirty="0"/>
          </a:p>
        </p:txBody>
      </p:sp>
      <p:sp>
        <p:nvSpPr>
          <p:cNvPr id="17" name="text-304"/>
          <p:cNvSpPr txBox="1"/>
          <p:nvPr/>
        </p:nvSpPr>
        <p:spPr>
          <a:xfrm>
            <a:off x="8366760" y="2468880"/>
            <a:ext cx="3108960" cy="1005840"/>
          </a:xfrm>
          <a:prstGeom prst="rect">
            <a:avLst/>
          </a:prstGeom>
          <a:noFill/>
          <a:ln/>
        </p:spPr>
        <p:txBody>
          <a:bodyPr wrap="square" lIns="0" tIns="0" rIns="0" bIns="0" rtlCol="0" anchor="t"/>
          <a:lstStyle/>
          <a:p>
            <a:pPr marL="0" indent="0">
              <a:buNone/>
            </a:pPr>
            <a:r>
              <a:rPr lang="en-US" sz="1500" dirty="0">
                <a:solidFill>
                  <a:schemeClr val="tx1"/>
                </a:solidFill>
              </a:rPr>
              <a:t>Run it once. Re-running wipes the folder and starts again.</a:t>
            </a:r>
            <a:endParaRPr lang="en-US" sz="1500" dirty="0"/>
          </a:p>
        </p:txBody>
      </p:sp>
      <p:sp>
        <p:nvSpPr>
          <p:cNvPr id="18" name="card-305"/>
          <p:cNvSpPr/>
          <p:nvPr/>
        </p:nvSpPr>
        <p:spPr>
          <a:xfrm>
            <a:off x="548640" y="3794760"/>
            <a:ext cx="3520440" cy="2148840"/>
          </a:xfrm>
          <a:prstGeom prst="roundRect">
            <a:avLst>
              <a:gd name="adj" fmla="val 5106"/>
            </a:avLst>
          </a:prstGeom>
          <a:solidFill>
            <a:schemeClr val="bg2"/>
          </a:solidFill>
          <a:ln w="12700">
            <a:solidFill>
              <a:schemeClr val="bg2"/>
            </a:solidFill>
            <a:prstDash val="solid"/>
          </a:ln>
        </p:spPr>
        <p:txBody>
          <a:bodyPr/>
          <a:lstStyle/>
          <a:p>
            <a:endParaRPr lang="en-GB"/>
          </a:p>
        </p:txBody>
      </p:sp>
      <p:sp>
        <p:nvSpPr>
          <p:cNvPr id="19" name="icon-circle-306"/>
          <p:cNvSpPr/>
          <p:nvPr/>
        </p:nvSpPr>
        <p:spPr>
          <a:xfrm>
            <a:off x="777240" y="4023360"/>
            <a:ext cx="685800" cy="685800"/>
          </a:xfrm>
          <a:prstGeom prst="ellipse">
            <a:avLst/>
          </a:prstGeom>
          <a:solidFill>
            <a:schemeClr val="accent2"/>
          </a:solidFill>
          <a:ln w="12700">
            <a:solidFill>
              <a:schemeClr val="accent2"/>
            </a:solidFill>
            <a:prstDash val="solid"/>
          </a:ln>
        </p:spPr>
        <p:txBody>
          <a:bodyPr/>
          <a:lstStyle/>
          <a:p>
            <a:endParaRPr lang="en-GB"/>
          </a:p>
        </p:txBody>
      </p:sp>
      <p:pic>
        <p:nvPicPr>
          <p:cNvPr id="20" name="icon-307" descr="RulerCombined icon"/>
          <p:cNvPicPr>
            <a:picLocks noChangeAspect="1"/>
          </p:cNvPicPr>
          <p:nvPr/>
        </p:nvPicPr>
        <p:blipFill>
          <a:blip r:embed="rId6"/>
          <a:stretch>
            <a:fillRect/>
          </a:stretch>
        </p:blipFill>
        <p:spPr>
          <a:xfrm>
            <a:off x="962406" y="4208526"/>
            <a:ext cx="315468" cy="315468"/>
          </a:xfrm>
          <a:prstGeom prst="rect">
            <a:avLst/>
          </a:prstGeom>
        </p:spPr>
      </p:pic>
      <p:sp>
        <p:nvSpPr>
          <p:cNvPr id="21" name="text-308"/>
          <p:cNvSpPr txBox="1"/>
          <p:nvPr/>
        </p:nvSpPr>
        <p:spPr>
          <a:xfrm>
            <a:off x="1600200" y="4050792"/>
            <a:ext cx="2331720" cy="685800"/>
          </a:xfrm>
          <a:prstGeom prst="rect">
            <a:avLst/>
          </a:prstGeom>
          <a:noFill/>
          <a:ln/>
        </p:spPr>
        <p:txBody>
          <a:bodyPr wrap="square" lIns="0" tIns="0" rIns="0" bIns="0" rtlCol="0" anchor="ctr"/>
          <a:lstStyle/>
          <a:p>
            <a:pPr marL="0" indent="0">
              <a:buNone/>
            </a:pPr>
            <a:r>
              <a:rPr lang="en-US" sz="1700" b="1" dirty="0">
                <a:solidFill>
                  <a:schemeClr val="tx1"/>
                </a:solidFill>
              </a:rPr>
              <a:t>Stuck? Print the shape</a:t>
            </a:r>
            <a:endParaRPr lang="en-US" sz="1700" dirty="0"/>
          </a:p>
        </p:txBody>
      </p:sp>
      <p:sp>
        <p:nvSpPr>
          <p:cNvPr id="22" name="text-309"/>
          <p:cNvSpPr txBox="1"/>
          <p:nvPr/>
        </p:nvSpPr>
        <p:spPr>
          <a:xfrm>
            <a:off x="777240" y="4846320"/>
            <a:ext cx="3108960" cy="1005840"/>
          </a:xfrm>
          <a:prstGeom prst="rect">
            <a:avLst/>
          </a:prstGeom>
          <a:noFill/>
          <a:ln/>
        </p:spPr>
        <p:txBody>
          <a:bodyPr wrap="square" lIns="0" tIns="0" rIns="0" bIns="0" rtlCol="0" anchor="t"/>
          <a:lstStyle/>
          <a:p>
            <a:pPr marL="0" indent="0">
              <a:buNone/>
            </a:pPr>
            <a:r>
              <a:rPr lang="en-US" sz="1500" dirty="0">
                <a:solidFill>
                  <a:schemeClr val="tx1"/>
                </a:solidFill>
              </a:rPr>
              <a:t>Most errors are shapes: (batch, channels, height, width).</a:t>
            </a:r>
            <a:endParaRPr lang="en-US" sz="1500" dirty="0"/>
          </a:p>
        </p:txBody>
      </p:sp>
      <p:sp>
        <p:nvSpPr>
          <p:cNvPr id="23" name="card-310"/>
          <p:cNvSpPr/>
          <p:nvPr/>
        </p:nvSpPr>
        <p:spPr>
          <a:xfrm>
            <a:off x="4343400" y="3794760"/>
            <a:ext cx="3520440" cy="2148840"/>
          </a:xfrm>
          <a:prstGeom prst="roundRect">
            <a:avLst>
              <a:gd name="adj" fmla="val 5106"/>
            </a:avLst>
          </a:prstGeom>
          <a:solidFill>
            <a:schemeClr val="bg2"/>
          </a:solidFill>
          <a:ln w="12700">
            <a:solidFill>
              <a:schemeClr val="bg2"/>
            </a:solidFill>
            <a:prstDash val="solid"/>
          </a:ln>
        </p:spPr>
        <p:txBody>
          <a:bodyPr/>
          <a:lstStyle/>
          <a:p>
            <a:endParaRPr lang="en-GB"/>
          </a:p>
        </p:txBody>
      </p:sp>
      <p:sp>
        <p:nvSpPr>
          <p:cNvPr id="24" name="icon-circle-311"/>
          <p:cNvSpPr/>
          <p:nvPr/>
        </p:nvSpPr>
        <p:spPr>
          <a:xfrm>
            <a:off x="4572000" y="4023360"/>
            <a:ext cx="685800" cy="685800"/>
          </a:xfrm>
          <a:prstGeom prst="ellipse">
            <a:avLst/>
          </a:prstGeom>
          <a:solidFill>
            <a:schemeClr val="accent1"/>
          </a:solidFill>
          <a:ln w="12700">
            <a:solidFill>
              <a:schemeClr val="accent1"/>
            </a:solidFill>
            <a:prstDash val="solid"/>
          </a:ln>
        </p:spPr>
        <p:txBody>
          <a:bodyPr/>
          <a:lstStyle/>
          <a:p>
            <a:endParaRPr lang="en-GB"/>
          </a:p>
        </p:txBody>
      </p:sp>
      <p:pic>
        <p:nvPicPr>
          <p:cNvPr id="25" name="icon-312" descr="Question icon"/>
          <p:cNvPicPr>
            <a:picLocks noChangeAspect="1"/>
          </p:cNvPicPr>
          <p:nvPr/>
        </p:nvPicPr>
        <p:blipFill>
          <a:blip r:embed="rId7"/>
          <a:stretch>
            <a:fillRect/>
          </a:stretch>
        </p:blipFill>
        <p:spPr>
          <a:xfrm>
            <a:off x="4757166" y="4208526"/>
            <a:ext cx="315468" cy="315468"/>
          </a:xfrm>
          <a:prstGeom prst="rect">
            <a:avLst/>
          </a:prstGeom>
        </p:spPr>
      </p:pic>
      <p:sp>
        <p:nvSpPr>
          <p:cNvPr id="26" name="text-313"/>
          <p:cNvSpPr txBox="1"/>
          <p:nvPr/>
        </p:nvSpPr>
        <p:spPr>
          <a:xfrm>
            <a:off x="5394960" y="4050792"/>
            <a:ext cx="2331720" cy="685800"/>
          </a:xfrm>
          <a:prstGeom prst="rect">
            <a:avLst/>
          </a:prstGeom>
          <a:noFill/>
          <a:ln/>
        </p:spPr>
        <p:txBody>
          <a:bodyPr wrap="square" lIns="0" tIns="0" rIns="0" bIns="0" rtlCol="0" anchor="ctr"/>
          <a:lstStyle/>
          <a:p>
            <a:pPr marL="0" indent="0">
              <a:buNone/>
            </a:pPr>
            <a:r>
              <a:rPr lang="en-US" sz="1700" b="1" dirty="0">
                <a:solidFill>
                  <a:schemeClr val="tx1"/>
                </a:solidFill>
              </a:rPr>
              <a:t>Do the Think questions</a:t>
            </a:r>
            <a:endParaRPr lang="en-US" sz="1700" dirty="0"/>
          </a:p>
        </p:txBody>
      </p:sp>
      <p:sp>
        <p:nvSpPr>
          <p:cNvPr id="27" name="text-314"/>
          <p:cNvSpPr txBox="1"/>
          <p:nvPr/>
        </p:nvSpPr>
        <p:spPr>
          <a:xfrm>
            <a:off x="4572000" y="4846320"/>
            <a:ext cx="3108960" cy="1005840"/>
          </a:xfrm>
          <a:prstGeom prst="rect">
            <a:avLst/>
          </a:prstGeom>
          <a:noFill/>
          <a:ln/>
        </p:spPr>
        <p:txBody>
          <a:bodyPr wrap="square" lIns="0" tIns="0" rIns="0" bIns="0" rtlCol="0" anchor="t"/>
          <a:lstStyle/>
          <a:p>
            <a:pPr marL="0" indent="0">
              <a:buNone/>
            </a:pPr>
            <a:r>
              <a:rPr lang="en-US" sz="1500" dirty="0">
                <a:solidFill>
                  <a:schemeClr val="tx1"/>
                </a:solidFill>
              </a:rPr>
              <a:t>Discuss them with your neighbour. They're the point of the workshop.</a:t>
            </a:r>
            <a:endParaRPr lang="en-US" sz="1500" dirty="0"/>
          </a:p>
        </p:txBody>
      </p:sp>
      <p:sp>
        <p:nvSpPr>
          <p:cNvPr id="28" name="card-315"/>
          <p:cNvSpPr/>
          <p:nvPr/>
        </p:nvSpPr>
        <p:spPr>
          <a:xfrm>
            <a:off x="8138160" y="3794760"/>
            <a:ext cx="3520440" cy="2148840"/>
          </a:xfrm>
          <a:prstGeom prst="roundRect">
            <a:avLst>
              <a:gd name="adj" fmla="val 5106"/>
            </a:avLst>
          </a:prstGeom>
          <a:solidFill>
            <a:schemeClr val="bg2"/>
          </a:solidFill>
          <a:ln w="12700">
            <a:solidFill>
              <a:schemeClr val="bg2"/>
            </a:solidFill>
            <a:prstDash val="solid"/>
          </a:ln>
        </p:spPr>
        <p:txBody>
          <a:bodyPr/>
          <a:lstStyle/>
          <a:p>
            <a:endParaRPr lang="en-GB"/>
          </a:p>
        </p:txBody>
      </p:sp>
      <p:sp>
        <p:nvSpPr>
          <p:cNvPr id="29" name="icon-circle-316"/>
          <p:cNvSpPr/>
          <p:nvPr/>
        </p:nvSpPr>
        <p:spPr>
          <a:xfrm>
            <a:off x="8366760" y="4023360"/>
            <a:ext cx="685800" cy="685800"/>
          </a:xfrm>
          <a:prstGeom prst="ellipse">
            <a:avLst/>
          </a:prstGeom>
          <a:solidFill>
            <a:schemeClr val="accent2"/>
          </a:solidFill>
          <a:ln w="12700">
            <a:solidFill>
              <a:schemeClr val="accent2"/>
            </a:solidFill>
            <a:prstDash val="solid"/>
          </a:ln>
        </p:spPr>
        <p:txBody>
          <a:bodyPr/>
          <a:lstStyle/>
          <a:p>
            <a:endParaRPr lang="en-GB"/>
          </a:p>
        </p:txBody>
      </p:sp>
      <p:pic>
        <p:nvPicPr>
          <p:cNvPr id="30" name="icon-317" descr="Search icon"/>
          <p:cNvPicPr>
            <a:picLocks noChangeAspect="1"/>
          </p:cNvPicPr>
          <p:nvPr/>
        </p:nvPicPr>
        <p:blipFill>
          <a:blip r:embed="rId8"/>
          <a:stretch>
            <a:fillRect/>
          </a:stretch>
        </p:blipFill>
        <p:spPr>
          <a:xfrm>
            <a:off x="8551926" y="4208526"/>
            <a:ext cx="315468" cy="315468"/>
          </a:xfrm>
          <a:prstGeom prst="rect">
            <a:avLst/>
          </a:prstGeom>
        </p:spPr>
      </p:pic>
      <p:sp>
        <p:nvSpPr>
          <p:cNvPr id="31" name="text-318"/>
          <p:cNvSpPr txBox="1"/>
          <p:nvPr/>
        </p:nvSpPr>
        <p:spPr>
          <a:xfrm>
            <a:off x="9189720" y="4050792"/>
            <a:ext cx="2331720" cy="685800"/>
          </a:xfrm>
          <a:prstGeom prst="rect">
            <a:avLst/>
          </a:prstGeom>
          <a:noFill/>
          <a:ln/>
        </p:spPr>
        <p:txBody>
          <a:bodyPr wrap="square" lIns="0" tIns="0" rIns="0" bIns="0" rtlCol="0" anchor="ctr"/>
          <a:lstStyle/>
          <a:p>
            <a:pPr marL="0" indent="0">
              <a:buNone/>
            </a:pPr>
            <a:r>
              <a:rPr lang="en-US" sz="1700" b="1" dirty="0">
                <a:solidFill>
                  <a:schemeClr val="tx1"/>
                </a:solidFill>
              </a:rPr>
              <a:t>Finished early?</a:t>
            </a:r>
            <a:endParaRPr lang="en-US" sz="1700" dirty="0"/>
          </a:p>
        </p:txBody>
      </p:sp>
      <p:sp>
        <p:nvSpPr>
          <p:cNvPr id="32" name="text-319"/>
          <p:cNvSpPr txBox="1"/>
          <p:nvPr/>
        </p:nvSpPr>
        <p:spPr>
          <a:xfrm>
            <a:off x="8366760" y="4846320"/>
            <a:ext cx="3108960" cy="1005840"/>
          </a:xfrm>
          <a:prstGeom prst="rect">
            <a:avLst/>
          </a:prstGeom>
          <a:noFill/>
          <a:ln/>
        </p:spPr>
        <p:txBody>
          <a:bodyPr wrap="square" lIns="0" tIns="0" rIns="0" bIns="0" rtlCol="0" anchor="t"/>
          <a:lstStyle/>
          <a:p>
            <a:pPr marL="0" indent="0">
              <a:buNone/>
            </a:pPr>
            <a:r>
              <a:rPr lang="en-US" sz="1500" dirty="0">
                <a:solidFill>
                  <a:schemeClr val="tx1"/>
                </a:solidFill>
              </a:rPr>
              <a:t>Try "What's next": more images, other learning rates, the flatten head.</a:t>
            </a:r>
            <a:endParaRPr lang="en-US" sz="15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6949440" cy="1737360"/>
          </a:xfrm>
          <a:prstGeom prst="rect">
            <a:avLst/>
          </a:prstGeom>
          <a:noFill/>
          <a:ln/>
        </p:spPr>
        <p:txBody>
          <a:bodyPr wrap="square" rtlCol="0" anchor="b"/>
          <a:lstStyle/>
          <a:p>
            <a:pPr marL="0" indent="0" algn="l">
              <a:buNone/>
            </a:pPr>
            <a:r>
              <a:rPr lang="en-US" sz="4800" b="1" dirty="0">
                <a:solidFill>
                  <a:schemeClr val="bg1"/>
                </a:solidFill>
                <a:latin typeface="Cambria" pitchFamily="34" charset="0"/>
                <a:ea typeface="Cambria" pitchFamily="34" charset="-122"/>
                <a:cs typeface="Cambria" pitchFamily="34" charset="-120"/>
              </a:rPr>
              <a:t>Now go find Wally!</a:t>
            </a:r>
            <a:endParaRPr lang="en-US" sz="4800" dirty="0"/>
          </a:p>
        </p:txBody>
      </p:sp>
      <p:sp>
        <p:nvSpPr>
          <p:cNvPr id="3" name="Text 0"/>
          <p:cNvSpPr>
            <a:spLocks noGrp="1"/>
          </p:cNvSpPr>
          <p:nvPr>
            <p:ph type="body" idx="101" hasCustomPrompt="1"/>
          </p:nvPr>
        </p:nvSpPr>
        <p:spPr>
          <a:xfrm>
            <a:off x="731520" y="3886200"/>
            <a:ext cx="6766560" cy="1097280"/>
          </a:xfrm>
          <a:prstGeom prst="rect">
            <a:avLst/>
          </a:prstGeom>
          <a:noFill/>
          <a:ln/>
        </p:spPr>
        <p:txBody>
          <a:bodyPr wrap="square" rtlCol="0" anchor="t"/>
          <a:lstStyle/>
          <a:p>
            <a:pPr marL="0" indent="0" algn="l">
              <a:buNone/>
            </a:pPr>
            <a:r>
              <a:rPr lang="en-US" sz="2000" dirty="0">
                <a:solidFill>
                  <a:schemeClr val="bg2"/>
                </a:solidFill>
              </a:rPr>
              <a:t>Questions? Then open the notebook and start at Step 0.</a:t>
            </a:r>
            <a:endParaRPr lang="en-US" sz="2000" dirty="0"/>
          </a:p>
        </p:txBody>
      </p:sp>
      <p:pic>
        <p:nvPicPr>
          <p:cNvPr id="4" name="image-320" descr="A test picture with the model's heatmap on Wally"/>
          <p:cNvPicPr>
            <a:picLocks noChangeAspect="1"/>
          </p:cNvPicPr>
          <p:nvPr/>
        </p:nvPicPr>
        <p:blipFill>
          <a:blip r:embed="rId3"/>
          <a:stretch>
            <a:fillRect/>
          </a:stretch>
        </p:blipFill>
        <p:spPr>
          <a:xfrm>
            <a:off x="8138160" y="1285315"/>
            <a:ext cx="3474720" cy="3464409"/>
          </a:xfrm>
          <a:prstGeom prst="rect">
            <a:avLst/>
          </a:prstGeom>
        </p:spPr>
      </p:pic>
      <p:sp>
        <p:nvSpPr>
          <p:cNvPr id="5" name="text-321"/>
          <p:cNvSpPr txBox="1"/>
          <p:nvPr/>
        </p:nvSpPr>
        <p:spPr>
          <a:xfrm>
            <a:off x="8138160" y="4892040"/>
            <a:ext cx="3474720" cy="548640"/>
          </a:xfrm>
          <a:prstGeom prst="rect">
            <a:avLst/>
          </a:prstGeom>
          <a:noFill/>
          <a:ln/>
        </p:spPr>
        <p:txBody>
          <a:bodyPr wrap="square" lIns="0" tIns="0" rIns="0" bIns="0" rtlCol="0" anchor="t"/>
          <a:lstStyle/>
          <a:p>
            <a:pPr marL="0" indent="0">
              <a:buNone/>
            </a:pPr>
            <a:r>
              <a:rPr lang="en-US" sz="1200" i="1" dirty="0">
                <a:solidFill>
                  <a:schemeClr val="bg2"/>
                </a:solidFill>
              </a:rPr>
              <a:t>The model looking at a picture it has never seen.</a:t>
            </a:r>
            <a:endParaRPr lang="en-US" sz="1200" dirty="0"/>
          </a:p>
        </p:txBody>
      </p:sp>
    </p:spTree>
  </p:cSld>
  <p:clrMapOvr>
    <a:masterClrMapping/>
  </p:clrMapOvr>
</p:sld>
</file>

<file path=ppt/theme/theme1.xml><?xml version="1.0" encoding="utf-8"?>
<a:theme xmlns:a="http://schemas.openxmlformats.org/drawingml/2006/main" name="Find Wally">
  <a:themeElements>
    <a:clrScheme name="Find Wally">
      <a:dk1>
        <a:srgbClr val="1B2A4A"/>
      </a:dk1>
      <a:lt1>
        <a:srgbClr val="FFFFFF"/>
      </a:lt1>
      <a:dk2>
        <a:srgbClr val="0F1A30"/>
      </a:dk2>
      <a:lt2>
        <a:srgbClr val="EEF2F8"/>
      </a:lt2>
      <a:accent1>
        <a:srgbClr val="D62828"/>
      </a:accent1>
      <a:accent2>
        <a:srgbClr val="2E6FB7"/>
      </a:accent2>
      <a:accent3>
        <a:srgbClr val="2A9D5C"/>
      </a:accent3>
      <a:accent4>
        <a:srgbClr val="F2B705"/>
      </a:accent4>
      <a:accent5>
        <a:srgbClr val="8A94A6"/>
      </a:accent5>
      <a:accent6>
        <a:srgbClr val="FBE3E3"/>
      </a:accent6>
      <a:hlink>
        <a:srgbClr val="2E6FB7"/>
      </a:hlink>
      <a:folHlink>
        <a:srgbClr val="6C4AB6"/>
      </a:folHlink>
    </a:clrScheme>
    <a:fontScheme name="Find Wall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3780</Words>
  <Application>Microsoft Macintosh PowerPoint</Application>
  <PresentationFormat>Widescreen</PresentationFormat>
  <Paragraphs>303</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Cambria</vt:lpstr>
      <vt:lpstr>Courier New</vt:lpstr>
      <vt:lpstr>Find Wally</vt:lpstr>
      <vt:lpstr> Can you find Wally? Sem 1 Workshop 5</vt:lpstr>
      <vt:lpstr>A Quick Intro to Today’s Activity</vt:lpstr>
      <vt:lpstr>The goal: one picture in, one box out</vt:lpstr>
      <vt:lpstr>The notebook in 7 steps</vt:lpstr>
      <vt:lpstr>Step 1: we make our own training pictures</vt:lpstr>
      <vt:lpstr>Boxes and image coordinates</vt:lpstr>
      <vt:lpstr>Step 2: pictures become tensors, served in batches</vt:lpstr>
      <vt:lpstr>How does a CNN see Wally?</vt:lpstr>
      <vt:lpstr>Convolution: slide, multiply, add</vt:lpstr>
      <vt:lpstr>Horizontal and vertical edge detectors on Wally</vt:lpstr>
      <vt:lpstr>Padding: keeping Wally at the edge in view</vt:lpstr>
      <vt:lpstr>Many filters, many channels</vt:lpstr>
      <vt:lpstr>ReLU and max pooling</vt:lpstr>
      <vt:lpstr>One layer of a conv network, worked through</vt:lpstr>
      <vt:lpstr>Stack 4 blocks: from pixels to a map of descriptions</vt:lpstr>
      <vt:lpstr>Classification vs localisation</vt:lpstr>
      <vt:lpstr>What's new in today's notebook</vt:lpstr>
      <vt:lpstr>The heatmap head: "which square is Wally in?"</vt:lpstr>
      <vt:lpstr>Step 5: the training loop, 320 times over</vt:lpstr>
      <vt:lpstr>Step 6: scoring boxes with IoU</vt:lpstr>
      <vt:lpstr>What you should get by the end</vt:lpstr>
      <vt:lpstr>Before you start</vt:lpstr>
      <vt:lpstr>Now go find Wally!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you find Wally? CNNs for finding things in pictures</dc:title>
  <dc:subject>PptxGenJS Presentation</dc:subject>
  <dc:creator>Zeki</dc:creator>
  <cp:lastModifiedBy>Zeki Kam</cp:lastModifiedBy>
  <cp:revision>2</cp:revision>
  <dcterms:created xsi:type="dcterms:W3CDTF">2026-10-12T15:01:42Z</dcterms:created>
  <dcterms:modified xsi:type="dcterms:W3CDTF">2026-10-12T16:08:08Z</dcterms:modified>
</cp:coreProperties>
</file>